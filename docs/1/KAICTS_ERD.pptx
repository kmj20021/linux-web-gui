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761"/>
                </a:solidFill>
                <a:latin typeface="맑은 고딕"/>
              </a:rPr>
              <a:t>데이터베이스 ERD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맑은 고딕"/>
              </a:rPr>
              <a:t>Linux Web GUI · SQLite + SQLAlchemy · backend/core/models.py 기준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25880"/>
          <a:ext cx="3520439" cy="42611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78584"/>
                <a:gridCol w="1056132"/>
                <a:gridCol w="985723"/>
              </a:tblGrid>
              <a:tr h="420624">
                <a:tc gridSpan="3"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monitor_snapshots</a:t>
                      </a:r>
                    </a:p>
                    <a:p>
                      <a:pPr algn="ctr"/>
                      <a:r>
                        <a:rPr sz="850" i="1">
                          <a:solidFill>
                            <a:srgbClr val="C9D2EE"/>
                          </a:solidFill>
                          <a:latin typeface="맑은 고딕"/>
                        </a:rPr>
                        <a:t>1분 주기 시스템 메트릭 스냅샷</a:t>
                      </a:r>
                    </a:p>
                  </a:txBody>
                  <a:tcPr anchor="ctr" marT="18288" marB="18288"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컬럼</a:t>
                      </a: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제약</a:t>
                      </a: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9B4819"/>
                          </a:solidFill>
                          <a:latin typeface="맑은 고딕"/>
                        </a:rPr>
                        <a:t>🔑 id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PK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cpu_total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FLOAT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cpu_per_core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JSON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core_count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load_avg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JSON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mem_total_gb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FLOAT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mem_used_gb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FLOAT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mem_free_gb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FLOAT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mem_buffers_gb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FLOAT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mem_cached_gb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FLOAT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mem_usage_pct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FLOAT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top_processes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JSON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recorded_at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DATETIME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NULL·IDX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12080" y="1325880"/>
          <a:ext cx="3886200" cy="26151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32204"/>
                <a:gridCol w="1165860"/>
                <a:gridCol w="1088136"/>
              </a:tblGrid>
              <a:tr h="420624">
                <a:tc gridSpan="3"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web_users</a:t>
                      </a:r>
                    </a:p>
                    <a:p>
                      <a:pPr algn="ctr"/>
                      <a:r>
                        <a:rPr sz="850" i="1">
                          <a:solidFill>
                            <a:srgbClr val="C9D2EE"/>
                          </a:solidFill>
                          <a:latin typeface="맑은 고딕"/>
                        </a:rPr>
                        <a:t>웹 사용자 계정 (admin / viewer)</a:t>
                      </a:r>
                    </a:p>
                  </a:txBody>
                  <a:tcPr anchor="ctr" marT="18288" marB="18288"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컬럼</a:t>
                      </a: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제약</a:t>
                      </a: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9B4819"/>
                          </a:solidFill>
                          <a:latin typeface="맑은 고딕"/>
                        </a:rPr>
                        <a:t>🔑 id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PK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★ login_id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VARCHAR(64)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UNIQUE·IDX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hashed_password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VARCHAR(255)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role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VARCHAR(16)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DEF 'viewer'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is_active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BOOLEAN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DEF true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created_at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DATETIME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DEF now()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created_by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VARCHAR(64)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212080" y="4370832"/>
          <a:ext cx="3886200" cy="20665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32204"/>
                <a:gridCol w="1165860"/>
                <a:gridCol w="1088136"/>
              </a:tblGrid>
              <a:tr h="420624">
                <a:tc gridSpan="3"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login_logs</a:t>
                      </a:r>
                    </a:p>
                    <a:p>
                      <a:pPr algn="ctr"/>
                      <a:r>
                        <a:rPr sz="850" i="1">
                          <a:solidFill>
                            <a:srgbClr val="C9D2EE"/>
                          </a:solidFill>
                          <a:latin typeface="맑은 고딕"/>
                        </a:rPr>
                        <a:t>로그인 감사 로그</a:t>
                      </a:r>
                    </a:p>
                  </a:txBody>
                  <a:tcPr anchor="ctr" marT="18288" marB="18288">
                    <a:solidFill>
                      <a:srgbClr val="1E2761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컬럼</a:t>
                      </a: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제약</a:t>
                      </a:r>
                    </a:p>
                  </a:txBody>
                  <a:tcPr marL="54864" marR="36576" marT="9144" marB="9144" anchor="ctr">
                    <a:solidFill>
                      <a:srgbClr val="9B481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9B4819"/>
                          </a:solidFill>
                          <a:latin typeface="맑은 고딕"/>
                        </a:rPr>
                        <a:t>🔑 id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INTEGER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PK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🔗 login_id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VARCHAR(64)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NULL·IDX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role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VARCHAR(16)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ip_address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VARCHAR(64)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NULL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</a:rPr>
                        <a:t>created_at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555555"/>
                          </a:solidFill>
                          <a:latin typeface="맑은 고딕"/>
                        </a:rPr>
                        <a:t>DATETIME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555555"/>
                          </a:solidFill>
                          <a:latin typeface="맑은 고딕"/>
                        </a:rPr>
                        <a:t>NOT NULL·IDX</a:t>
                      </a:r>
                    </a:p>
                  </a:txBody>
                  <a:tcPr marL="54864" marR="36576" marT="9144" marB="9144" anchor="ctr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7155180" y="3959351"/>
            <a:ext cx="0" cy="393193"/>
          </a:xfrm>
          <a:prstGeom prst="line">
            <a:avLst/>
          </a:prstGeom>
          <a:ln w="22225">
            <a:solidFill>
              <a:srgbClr val="9B481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292340" y="3991356"/>
            <a:ext cx="20116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B4819"/>
                </a:solidFill>
                <a:latin typeface="맑은 고딕"/>
              </a:rPr>
              <a:t>1 : N  (login_id)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008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55555"/>
                </a:solidFill>
                <a:latin typeface="맑은 고딕"/>
              </a:rPr>
              <a:t>🔑 PK    ★ UNIQUE    🔗 FK(논리)    ┄┄ 점선 = 물리적 FK 제약 없는 논리적 관계 (login_id 기준)</a:t>
            </a:r>
          </a:p>
          <a:p>
            <a:r>
              <a:rPr sz="900">
                <a:solidFill>
                  <a:srgbClr val="555555"/>
                </a:solidFill>
                <a:latin typeface="맑은 고딕"/>
              </a:rPr>
              <a:t>※ web_users.created_by → web_users.login_id (자기참조: 계정 생성 admin, 자가가입 시 NULL)   ·   monitor_snapshots 는 독립 테이블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