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7"/>
  </p:notesMasterIdLst>
  <p:sldIdLst>
    <p:sldId id="256" r:id="rId2"/>
    <p:sldId id="266" r:id="rId3"/>
    <p:sldId id="267" r:id="rId4"/>
    <p:sldId id="268" r:id="rId5"/>
    <p:sldId id="257" r:id="rId6"/>
    <p:sldId id="279" r:id="rId7"/>
    <p:sldId id="271" r:id="rId8"/>
    <p:sldId id="274" r:id="rId9"/>
    <p:sldId id="272" r:id="rId10"/>
    <p:sldId id="275" r:id="rId11"/>
    <p:sldId id="276" r:id="rId12"/>
    <p:sldId id="277" r:id="rId13"/>
    <p:sldId id="278" r:id="rId14"/>
    <p:sldId id="270" r:id="rId15"/>
    <p:sldId id="265" r:id="rId16"/>
  </p:sldIdLst>
  <p:sldSz cx="18288000" cy="10287000"/>
  <p:notesSz cx="6858000" cy="9144000"/>
  <p:embeddedFontLst>
    <p:embeddedFont>
      <p:font typeface="옛간판" panose="020B0604020202020204" charset="-127"/>
      <p:regular r:id="rId18"/>
    </p:embeddedFont>
    <p:embeddedFont>
      <p:font typeface="옛간판 Bold" panose="020B0604020202020204" charset="-127"/>
      <p:regular r:id="rId19"/>
    </p:embeddedFont>
    <p:embeddedFont>
      <p:font typeface="Consolas" panose="020B0609020204030204" pitchFamily="49" charset="0"/>
      <p:regular r:id="rId20"/>
      <p:bold r:id="rId21"/>
      <p:italic r:id="rId22"/>
      <p:boldItalic r:id="rId23"/>
    </p:embeddedFont>
    <p:embeddedFont>
      <p:font typeface="Georgia" panose="02040502050405020303" pitchFamily="18" charset="0"/>
      <p:regular r:id="rId24"/>
      <p:bold r:id="rId25"/>
      <p:italic r:id="rId26"/>
      <p:boldItalic r:id="rId27"/>
    </p:embeddedFont>
    <p:embeddedFont>
      <p:font typeface="맑은 고딕" panose="020B0503020000020004" pitchFamily="34" charset="-127"/>
      <p:regular r:id="rId28"/>
      <p:bold r:id="rId2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6EC"/>
    <a:srgbClr val="1E2761"/>
    <a:srgbClr val="1F286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744" autoAdjust="0"/>
    <p:restoredTop sz="94622" autoAdjust="0"/>
  </p:normalViewPr>
  <p:slideViewPr>
    <p:cSldViewPr>
      <p:cViewPr varScale="1">
        <p:scale>
          <a:sx n="48" d="100"/>
          <a:sy n="48" d="100"/>
        </p:scale>
        <p:origin x="29" y="125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font" Target="fonts/font10.fntdata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9A92E3-8455-4BD9-9BFC-C89E246995CA}" type="datetimeFigureOut">
              <a:rPr lang="ko-KR" altLang="en-US" smtClean="0"/>
              <a:t>2026-06-15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BECB06-B350-443F-A2F3-F351FC33167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51813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BECB06-B350-443F-A2F3-F351FC33167B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03308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BECB06-B350-443F-A2F3-F351FC33167B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820351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5D409C-E3DA-EF4F-A777-ABB59491A6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75D15CC-E5B7-9698-575F-F65C37BD8C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E948FA4-8F63-D2C1-5713-D0AB62A703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100BD38-E09D-EDBE-3E29-6D733577AE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BECB06-B350-443F-A2F3-F351FC33167B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28851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BECB06-B350-443F-A2F3-F351FC33167B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3720596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BECB06-B350-443F-A2F3-F351FC33167B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8583538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BECB06-B350-443F-A2F3-F351FC33167B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077699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037925-9115-8BB7-A514-DD4D1FEA9B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5C76C89-60B4-08D2-3A20-5E4F6B50D9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1E9C3CE-F320-3259-50B2-19D3999FFD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F41F6C1-22E2-BFC5-8A23-365A51C9AC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BECB06-B350-443F-A2F3-F351FC33167B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905409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499C49-DF38-8C3B-18FE-9C2838A07B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136FEC4-F9E2-6367-3D21-3945E5F532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38B32D0-2F4E-ED70-EC2D-9F98F8E190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3575C75-A12D-523E-E050-CD83A37251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BECB06-B350-443F-A2F3-F351FC33167B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408699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A25F25-0A71-2EF3-A6A0-F213632E00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3870B6D-9A57-E528-F9C4-929DF52985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A7852D1-9653-C049-8AA0-A52A42D82C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EB44D48-F097-B730-82DF-509656FE39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BECB06-B350-443F-A2F3-F351FC33167B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027819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AE2E80-33CA-96B7-5A7B-DC6E5443AD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A88007C-40D6-23AC-0AC0-66079C426F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84A51E8-9BC8-FAE4-03A9-F1FD043AEF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23B1DB5-9790-5DF6-539C-32ABF9D885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BECB06-B350-443F-A2F3-F351FC33167B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021729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D35EAC-193F-769D-3545-BEDDE09A37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B19D527-BEF5-6A9B-7F4E-5B23AD052C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64C193F-15EB-4643-5A47-3188F9B4AB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78C2AD3-97A7-ACE6-71BA-D98DFCF273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BECB06-B350-443F-A2F3-F351FC33167B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719002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2B368A-35EA-728E-ED62-73490C8B9F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4D0223B-FE3E-FF6D-2BA9-2FCBA178C1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52BDEB0-49B7-CB77-7FB5-FAD8FC603D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6A25301-1257-EDFB-27C2-CD7C7EF4EA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BECB06-B350-443F-A2F3-F351FC33167B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326794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B8D289-94FA-FCF8-BF98-4DFA460B19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A2713E9-4C3C-9944-4B46-30C94793D7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6D2D3C5-0AC7-B06D-D496-9E177F7AF1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5915130-10FB-48A1-5280-DD09F52849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BECB06-B350-443F-A2F3-F351FC33167B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43877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1.svg"/><Relationship Id="rId7" Type="http://schemas.openxmlformats.org/officeDocument/2006/relationships/image" Target="../media/image6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.sv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jpg"/><Relationship Id="rId5" Type="http://schemas.openxmlformats.org/officeDocument/2006/relationships/image" Target="../media/image17.jp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3" Type="http://schemas.openxmlformats.org/officeDocument/2006/relationships/image" Target="../media/image1.sv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microsoft.com/office/2007/relationships/hdphoto" Target="../media/hdphoto1.wdp"/><Relationship Id="rId5" Type="http://schemas.openxmlformats.org/officeDocument/2006/relationships/image" Target="../media/image20.png"/><Relationship Id="rId4" Type="http://schemas.openxmlformats.org/officeDocument/2006/relationships/image" Target="../media/image19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1.sv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10" Type="http://schemas.openxmlformats.org/officeDocument/2006/relationships/image" Target="../media/image28.png"/><Relationship Id="rId4" Type="http://schemas.openxmlformats.org/officeDocument/2006/relationships/image" Target="../media/image22.png"/><Relationship Id="rId9" Type="http://schemas.openxmlformats.org/officeDocument/2006/relationships/image" Target="../media/image2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jpg"/><Relationship Id="rId5" Type="http://schemas.openxmlformats.org/officeDocument/2006/relationships/image" Target="../media/image30.jpg"/><Relationship Id="rId4" Type="http://schemas.openxmlformats.org/officeDocument/2006/relationships/image" Target="../media/image29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://52.79.126.164/" TargetMode="Externa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32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19200" y="1219200"/>
            <a:ext cx="16230600" cy="8229600"/>
            <a:chOff x="0" y="0"/>
            <a:chExt cx="104316230" cy="52892737"/>
          </a:xfrm>
        </p:grpSpPr>
        <p:sp>
          <p:nvSpPr>
            <p:cNvPr id="3" name="Freeform 3"/>
            <p:cNvSpPr/>
            <p:nvPr/>
          </p:nvSpPr>
          <p:spPr>
            <a:xfrm>
              <a:off x="72390" y="72390"/>
              <a:ext cx="104171455" cy="52747958"/>
            </a:xfrm>
            <a:custGeom>
              <a:avLst/>
              <a:gdLst/>
              <a:ahLst/>
              <a:cxnLst/>
              <a:rect l="l" t="t" r="r" b="b"/>
              <a:pathLst>
                <a:path w="104171455" h="52747958">
                  <a:moveTo>
                    <a:pt x="0" y="0"/>
                  </a:moveTo>
                  <a:lnTo>
                    <a:pt x="104171455" y="0"/>
                  </a:lnTo>
                  <a:lnTo>
                    <a:pt x="104171455" y="52747958"/>
                  </a:lnTo>
                  <a:lnTo>
                    <a:pt x="0" y="5274795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Freeform 4"/>
            <p:cNvSpPr/>
            <p:nvPr/>
          </p:nvSpPr>
          <p:spPr>
            <a:xfrm>
              <a:off x="0" y="0"/>
              <a:ext cx="104316225" cy="52892734"/>
            </a:xfrm>
            <a:custGeom>
              <a:avLst/>
              <a:gdLst/>
              <a:ahLst/>
              <a:cxnLst/>
              <a:rect l="l" t="t" r="r" b="b"/>
              <a:pathLst>
                <a:path w="104316225" h="52892734">
                  <a:moveTo>
                    <a:pt x="104171452" y="52747956"/>
                  </a:moveTo>
                  <a:lnTo>
                    <a:pt x="104316225" y="52747956"/>
                  </a:lnTo>
                  <a:lnTo>
                    <a:pt x="104316225" y="52892734"/>
                  </a:lnTo>
                  <a:lnTo>
                    <a:pt x="104171452" y="52892734"/>
                  </a:lnTo>
                  <a:lnTo>
                    <a:pt x="104171452" y="52747956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52747956"/>
                  </a:lnTo>
                  <a:lnTo>
                    <a:pt x="0" y="52747956"/>
                  </a:lnTo>
                  <a:lnTo>
                    <a:pt x="0" y="144780"/>
                  </a:lnTo>
                  <a:close/>
                  <a:moveTo>
                    <a:pt x="0" y="52747956"/>
                  </a:moveTo>
                  <a:lnTo>
                    <a:pt x="144780" y="52747956"/>
                  </a:lnTo>
                  <a:lnTo>
                    <a:pt x="144780" y="52892734"/>
                  </a:lnTo>
                  <a:lnTo>
                    <a:pt x="0" y="52892734"/>
                  </a:lnTo>
                  <a:lnTo>
                    <a:pt x="0" y="52747956"/>
                  </a:lnTo>
                  <a:close/>
                  <a:moveTo>
                    <a:pt x="104171452" y="144780"/>
                  </a:moveTo>
                  <a:lnTo>
                    <a:pt x="104316225" y="144780"/>
                  </a:lnTo>
                  <a:lnTo>
                    <a:pt x="104316225" y="52747956"/>
                  </a:lnTo>
                  <a:lnTo>
                    <a:pt x="104171452" y="52747956"/>
                  </a:lnTo>
                  <a:lnTo>
                    <a:pt x="104171452" y="144780"/>
                  </a:lnTo>
                  <a:close/>
                  <a:moveTo>
                    <a:pt x="144780" y="52747956"/>
                  </a:moveTo>
                  <a:lnTo>
                    <a:pt x="104171452" y="52747956"/>
                  </a:lnTo>
                  <a:lnTo>
                    <a:pt x="104171452" y="52892734"/>
                  </a:lnTo>
                  <a:lnTo>
                    <a:pt x="144780" y="52892734"/>
                  </a:lnTo>
                  <a:lnTo>
                    <a:pt x="144780" y="52747956"/>
                  </a:lnTo>
                  <a:close/>
                  <a:moveTo>
                    <a:pt x="104171452" y="0"/>
                  </a:moveTo>
                  <a:lnTo>
                    <a:pt x="104316225" y="0"/>
                  </a:lnTo>
                  <a:lnTo>
                    <a:pt x="104316225" y="144780"/>
                  </a:lnTo>
                  <a:lnTo>
                    <a:pt x="104171452" y="144780"/>
                  </a:lnTo>
                  <a:lnTo>
                    <a:pt x="104171452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104171452" y="0"/>
                  </a:lnTo>
                  <a:lnTo>
                    <a:pt x="104171452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28700" y="1028700"/>
            <a:ext cx="16230600" cy="8229600"/>
            <a:chOff x="0" y="0"/>
            <a:chExt cx="104316230" cy="52892737"/>
          </a:xfrm>
        </p:grpSpPr>
        <p:sp>
          <p:nvSpPr>
            <p:cNvPr id="6" name="Freeform 6"/>
            <p:cNvSpPr/>
            <p:nvPr/>
          </p:nvSpPr>
          <p:spPr>
            <a:xfrm>
              <a:off x="72390" y="72390"/>
              <a:ext cx="104171455" cy="52747958"/>
            </a:xfrm>
            <a:custGeom>
              <a:avLst/>
              <a:gdLst/>
              <a:ahLst/>
              <a:cxnLst/>
              <a:rect l="l" t="t" r="r" b="b"/>
              <a:pathLst>
                <a:path w="104171455" h="52747958">
                  <a:moveTo>
                    <a:pt x="0" y="0"/>
                  </a:moveTo>
                  <a:lnTo>
                    <a:pt x="104171455" y="0"/>
                  </a:lnTo>
                  <a:lnTo>
                    <a:pt x="104171455" y="52747958"/>
                  </a:lnTo>
                  <a:lnTo>
                    <a:pt x="0" y="5274795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7" name="Freeform 7"/>
            <p:cNvSpPr/>
            <p:nvPr/>
          </p:nvSpPr>
          <p:spPr>
            <a:xfrm>
              <a:off x="0" y="0"/>
              <a:ext cx="104316225" cy="52892734"/>
            </a:xfrm>
            <a:custGeom>
              <a:avLst/>
              <a:gdLst/>
              <a:ahLst/>
              <a:cxnLst/>
              <a:rect l="l" t="t" r="r" b="b"/>
              <a:pathLst>
                <a:path w="104316225" h="52892734">
                  <a:moveTo>
                    <a:pt x="104171452" y="52747956"/>
                  </a:moveTo>
                  <a:lnTo>
                    <a:pt x="104316225" y="52747956"/>
                  </a:lnTo>
                  <a:lnTo>
                    <a:pt x="104316225" y="52892734"/>
                  </a:lnTo>
                  <a:lnTo>
                    <a:pt x="104171452" y="52892734"/>
                  </a:lnTo>
                  <a:lnTo>
                    <a:pt x="104171452" y="52747956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52747956"/>
                  </a:lnTo>
                  <a:lnTo>
                    <a:pt x="0" y="52747956"/>
                  </a:lnTo>
                  <a:lnTo>
                    <a:pt x="0" y="144780"/>
                  </a:lnTo>
                  <a:close/>
                  <a:moveTo>
                    <a:pt x="0" y="52747956"/>
                  </a:moveTo>
                  <a:lnTo>
                    <a:pt x="144780" y="52747956"/>
                  </a:lnTo>
                  <a:lnTo>
                    <a:pt x="144780" y="52892734"/>
                  </a:lnTo>
                  <a:lnTo>
                    <a:pt x="0" y="52892734"/>
                  </a:lnTo>
                  <a:lnTo>
                    <a:pt x="0" y="52747956"/>
                  </a:lnTo>
                  <a:close/>
                  <a:moveTo>
                    <a:pt x="104171452" y="144780"/>
                  </a:moveTo>
                  <a:lnTo>
                    <a:pt x="104316225" y="144780"/>
                  </a:lnTo>
                  <a:lnTo>
                    <a:pt x="104316225" y="52747956"/>
                  </a:lnTo>
                  <a:lnTo>
                    <a:pt x="104171452" y="52747956"/>
                  </a:lnTo>
                  <a:lnTo>
                    <a:pt x="104171452" y="144780"/>
                  </a:lnTo>
                  <a:close/>
                  <a:moveTo>
                    <a:pt x="144780" y="52747956"/>
                  </a:moveTo>
                  <a:lnTo>
                    <a:pt x="104171452" y="52747956"/>
                  </a:lnTo>
                  <a:lnTo>
                    <a:pt x="104171452" y="52892734"/>
                  </a:lnTo>
                  <a:lnTo>
                    <a:pt x="144780" y="52892734"/>
                  </a:lnTo>
                  <a:lnTo>
                    <a:pt x="144780" y="52747956"/>
                  </a:lnTo>
                  <a:close/>
                  <a:moveTo>
                    <a:pt x="104171452" y="0"/>
                  </a:moveTo>
                  <a:lnTo>
                    <a:pt x="104316225" y="0"/>
                  </a:lnTo>
                  <a:lnTo>
                    <a:pt x="104316225" y="144780"/>
                  </a:lnTo>
                  <a:lnTo>
                    <a:pt x="104171452" y="144780"/>
                  </a:lnTo>
                  <a:lnTo>
                    <a:pt x="104171452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104171452" y="0"/>
                  </a:lnTo>
                  <a:lnTo>
                    <a:pt x="104171452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2138477" y="3356929"/>
            <a:ext cx="14392046" cy="27771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 algn="ctr">
              <a:lnSpc>
                <a:spcPts val="10715"/>
              </a:lnSpc>
            </a:pPr>
            <a:r>
              <a:rPr lang="en-US" altLang="ko-KR" sz="10715" dirty="0">
                <a:solidFill>
                  <a:srgbClr val="282A29"/>
                </a:solidFill>
                <a:latin typeface="옛간판 Bold"/>
                <a:ea typeface="옛간판 Bold"/>
                <a:cs typeface="옛간판 Bold"/>
                <a:sym typeface="옛간판 Bold"/>
              </a:rPr>
              <a:t>AWS </a:t>
            </a:r>
            <a:r>
              <a:rPr lang="ko-KR" altLang="en-US" sz="10715" dirty="0">
                <a:solidFill>
                  <a:srgbClr val="282A29"/>
                </a:solidFill>
                <a:latin typeface="옛간판 Bold"/>
                <a:ea typeface="옛간판 Bold"/>
                <a:cs typeface="옛간판 Bold"/>
                <a:sym typeface="옛간판 Bold"/>
              </a:rPr>
              <a:t>기반 시각화 </a:t>
            </a:r>
            <a:r>
              <a:rPr lang="en-US" altLang="ko-KR" sz="10715" dirty="0">
                <a:solidFill>
                  <a:srgbClr val="282A29"/>
                </a:solidFill>
                <a:latin typeface="옛간판 Bold"/>
                <a:ea typeface="옛간판 Bold"/>
                <a:cs typeface="옛간판 Bold"/>
                <a:sym typeface="옛간판 Bold"/>
              </a:rPr>
              <a:t>GUI </a:t>
            </a:r>
            <a:r>
              <a:rPr lang="ko-KR" altLang="en-US" sz="10715" dirty="0">
                <a:solidFill>
                  <a:srgbClr val="282A29"/>
                </a:solidFill>
                <a:latin typeface="옛간판 Bold"/>
                <a:ea typeface="옛간판 Bold"/>
                <a:cs typeface="옛간판 Bold"/>
                <a:sym typeface="옛간판 Bold"/>
              </a:rPr>
              <a:t>교육 시스템</a:t>
            </a:r>
            <a:endParaRPr lang="en-US" altLang="ko-KR" sz="10715" dirty="0">
              <a:solidFill>
                <a:srgbClr val="282A29"/>
              </a:solidFill>
              <a:latin typeface="옛간판 Bold"/>
              <a:ea typeface="옛간판 Bold"/>
              <a:cs typeface="옛간판 Bold"/>
              <a:sym typeface="옛간판 Bold"/>
            </a:endParaRPr>
          </a:p>
        </p:txBody>
      </p:sp>
      <p:sp>
        <p:nvSpPr>
          <p:cNvPr id="11" name="TextBox 7">
            <a:extLst>
              <a:ext uri="{FF2B5EF4-FFF2-40B4-BE49-F238E27FC236}">
                <a16:creationId xmlns:a16="http://schemas.microsoft.com/office/drawing/2014/main" id="{2D24AE56-A16A-E4EB-7CA8-E0FEE011DE71}"/>
              </a:ext>
            </a:extLst>
          </p:cNvPr>
          <p:cNvSpPr txBox="1"/>
          <p:nvPr/>
        </p:nvSpPr>
        <p:spPr>
          <a:xfrm>
            <a:off x="2743200" y="2324100"/>
            <a:ext cx="11056570" cy="7604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038"/>
              </a:lnSpc>
            </a:pPr>
            <a:r>
              <a:rPr lang="ko-KR" altLang="en-US" sz="2800" dirty="0">
                <a:solidFill>
                  <a:srgbClr val="282A29"/>
                </a:solidFill>
                <a:latin typeface="옛간판"/>
                <a:ea typeface="옛간판"/>
                <a:cs typeface="옛간판"/>
                <a:sym typeface="옛간판"/>
              </a:rPr>
              <a:t>리눅스 학습 진입 장벽 완화를 위한</a:t>
            </a:r>
            <a:endParaRPr lang="en-US" sz="2800" dirty="0">
              <a:solidFill>
                <a:srgbClr val="282A29"/>
              </a:solidFill>
              <a:latin typeface="옛간판"/>
              <a:ea typeface="옛간판"/>
              <a:cs typeface="옛간판"/>
              <a:sym typeface="옛간판"/>
            </a:endParaRPr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9CB9FCF4-3D32-49DE-3678-3CF636D04DA7}"/>
              </a:ext>
            </a:extLst>
          </p:cNvPr>
          <p:cNvGrpSpPr/>
          <p:nvPr/>
        </p:nvGrpSpPr>
        <p:grpSpPr>
          <a:xfrm>
            <a:off x="13632230" y="7576691"/>
            <a:ext cx="5189170" cy="1148209"/>
            <a:chOff x="12108230" y="7576691"/>
            <a:chExt cx="5189170" cy="1148209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F2F3CC21-5809-2063-0414-85C4044A5F0B}"/>
                </a:ext>
              </a:extLst>
            </p:cNvPr>
            <p:cNvSpPr txBox="1"/>
            <p:nvPr/>
          </p:nvSpPr>
          <p:spPr>
            <a:xfrm>
              <a:off x="12189307" y="7576691"/>
              <a:ext cx="4650893" cy="53860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0" indent="0">
                <a:lnSpc>
                  <a:spcPts val="4163"/>
                </a:lnSpc>
              </a:pPr>
              <a:r>
                <a:rPr lang="ko-KR" altLang="en-US" sz="3500" dirty="0">
                  <a:solidFill>
                    <a:srgbClr val="9B4819"/>
                  </a:solidFill>
                  <a:latin typeface="옛간판"/>
                  <a:ea typeface="옛간판"/>
                  <a:cs typeface="옛간판"/>
                  <a:sym typeface="옛간판"/>
                </a:rPr>
                <a:t>김민제</a:t>
              </a:r>
              <a:endParaRPr lang="en-US" sz="3500" dirty="0">
                <a:solidFill>
                  <a:srgbClr val="9B4819"/>
                </a:solidFill>
                <a:latin typeface="옛간판"/>
                <a:ea typeface="옛간판"/>
                <a:cs typeface="옛간판"/>
                <a:sym typeface="옛간판"/>
              </a:endParaRPr>
            </a:p>
          </p:txBody>
        </p:sp>
        <p:sp>
          <p:nvSpPr>
            <p:cNvPr id="17" name="TextBox 7">
              <a:extLst>
                <a:ext uri="{FF2B5EF4-FFF2-40B4-BE49-F238E27FC236}">
                  <a16:creationId xmlns:a16="http://schemas.microsoft.com/office/drawing/2014/main" id="{8EAFC0AF-8583-7467-C676-D9502752BE78}"/>
                </a:ext>
              </a:extLst>
            </p:cNvPr>
            <p:cNvSpPr txBox="1"/>
            <p:nvPr/>
          </p:nvSpPr>
          <p:spPr>
            <a:xfrm>
              <a:off x="12108230" y="7964499"/>
              <a:ext cx="5189170" cy="76040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0" indent="0" algn="l">
                <a:lnSpc>
                  <a:spcPts val="7038"/>
                </a:lnSpc>
              </a:pPr>
              <a:r>
                <a:rPr lang="en-US" altLang="ko-KR" sz="2500" dirty="0">
                  <a:solidFill>
                    <a:srgbClr val="282A29"/>
                  </a:solidFill>
                  <a:latin typeface="옛간판"/>
                  <a:ea typeface="옛간판"/>
                  <a:cs typeface="옛간판"/>
                  <a:sym typeface="옛간판"/>
                </a:rPr>
                <a:t>2024146027 3-A</a:t>
              </a:r>
              <a:endParaRPr lang="en-US" sz="2500" dirty="0">
                <a:solidFill>
                  <a:srgbClr val="282A29"/>
                </a:solidFill>
                <a:latin typeface="옛간판"/>
                <a:ea typeface="옛간판"/>
                <a:cs typeface="옛간판"/>
                <a:sym typeface="옛간판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581C57-8369-5F95-EC17-8A91110152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78F95FA9-270F-5564-7C96-6E859E0E3FEC}"/>
              </a:ext>
            </a:extLst>
          </p:cNvPr>
          <p:cNvGrpSpPr/>
          <p:nvPr/>
        </p:nvGrpSpPr>
        <p:grpSpPr>
          <a:xfrm>
            <a:off x="331640" y="334505"/>
            <a:ext cx="17705529" cy="9706532"/>
            <a:chOff x="0" y="0"/>
            <a:chExt cx="115923466" cy="63551609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2C16C000-CC71-DA6D-78D9-5748D6F955BC}"/>
                </a:ext>
              </a:extLst>
            </p:cNvPr>
            <p:cNvSpPr/>
            <p:nvPr/>
          </p:nvSpPr>
          <p:spPr>
            <a:xfrm>
              <a:off x="72390" y="72390"/>
              <a:ext cx="115778684" cy="63406830"/>
            </a:xfrm>
            <a:custGeom>
              <a:avLst/>
              <a:gdLst/>
              <a:ahLst/>
              <a:cxnLst/>
              <a:rect l="l" t="t" r="r" b="b"/>
              <a:pathLst>
                <a:path w="115778684" h="63406830">
                  <a:moveTo>
                    <a:pt x="0" y="0"/>
                  </a:moveTo>
                  <a:lnTo>
                    <a:pt x="115778684" y="0"/>
                  </a:lnTo>
                  <a:lnTo>
                    <a:pt x="115778684" y="63406830"/>
                  </a:lnTo>
                  <a:lnTo>
                    <a:pt x="0" y="634068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81A89E80-EEF7-AC59-6C0B-6C4D12DFE102}"/>
                </a:ext>
              </a:extLst>
            </p:cNvPr>
            <p:cNvSpPr/>
            <p:nvPr/>
          </p:nvSpPr>
          <p:spPr>
            <a:xfrm>
              <a:off x="0" y="0"/>
              <a:ext cx="115923467" cy="63551606"/>
            </a:xfrm>
            <a:custGeom>
              <a:avLst/>
              <a:gdLst/>
              <a:ahLst/>
              <a:cxnLst/>
              <a:rect l="l" t="t" r="r" b="b"/>
              <a:pathLst>
                <a:path w="115923467" h="63551606">
                  <a:moveTo>
                    <a:pt x="115778682" y="63406827"/>
                  </a:moveTo>
                  <a:lnTo>
                    <a:pt x="115923467" y="63406827"/>
                  </a:lnTo>
                  <a:lnTo>
                    <a:pt x="115923467" y="63551606"/>
                  </a:lnTo>
                  <a:lnTo>
                    <a:pt x="115778682" y="63551606"/>
                  </a:lnTo>
                  <a:lnTo>
                    <a:pt x="115778682" y="63406827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63406827"/>
                  </a:lnTo>
                  <a:lnTo>
                    <a:pt x="0" y="63406827"/>
                  </a:lnTo>
                  <a:lnTo>
                    <a:pt x="0" y="144780"/>
                  </a:lnTo>
                  <a:close/>
                  <a:moveTo>
                    <a:pt x="0" y="63406827"/>
                  </a:moveTo>
                  <a:lnTo>
                    <a:pt x="144780" y="63406827"/>
                  </a:lnTo>
                  <a:lnTo>
                    <a:pt x="144780" y="63551606"/>
                  </a:lnTo>
                  <a:lnTo>
                    <a:pt x="0" y="63551606"/>
                  </a:lnTo>
                  <a:lnTo>
                    <a:pt x="0" y="63406827"/>
                  </a:lnTo>
                  <a:close/>
                  <a:moveTo>
                    <a:pt x="115778682" y="144780"/>
                  </a:moveTo>
                  <a:lnTo>
                    <a:pt x="115923467" y="144780"/>
                  </a:lnTo>
                  <a:lnTo>
                    <a:pt x="115923467" y="63406827"/>
                  </a:lnTo>
                  <a:lnTo>
                    <a:pt x="115778682" y="63406827"/>
                  </a:lnTo>
                  <a:lnTo>
                    <a:pt x="115778682" y="144780"/>
                  </a:lnTo>
                  <a:close/>
                  <a:moveTo>
                    <a:pt x="144780" y="63406827"/>
                  </a:moveTo>
                  <a:lnTo>
                    <a:pt x="115778682" y="63406827"/>
                  </a:lnTo>
                  <a:lnTo>
                    <a:pt x="115778682" y="63551606"/>
                  </a:lnTo>
                  <a:lnTo>
                    <a:pt x="144780" y="63551606"/>
                  </a:lnTo>
                  <a:lnTo>
                    <a:pt x="144780" y="63406827"/>
                  </a:lnTo>
                  <a:close/>
                  <a:moveTo>
                    <a:pt x="115778682" y="0"/>
                  </a:moveTo>
                  <a:lnTo>
                    <a:pt x="115923467" y="0"/>
                  </a:lnTo>
                  <a:lnTo>
                    <a:pt x="115923467" y="144780"/>
                  </a:lnTo>
                  <a:lnTo>
                    <a:pt x="115778682" y="144780"/>
                  </a:lnTo>
                  <a:lnTo>
                    <a:pt x="115778682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115778682" y="0"/>
                  </a:lnTo>
                  <a:lnTo>
                    <a:pt x="115778682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5" name="AutoShape 5">
            <a:extLst>
              <a:ext uri="{FF2B5EF4-FFF2-40B4-BE49-F238E27FC236}">
                <a16:creationId xmlns:a16="http://schemas.microsoft.com/office/drawing/2014/main" id="{C57915C7-1AB8-2205-4E23-5BB8A6631CDF}"/>
              </a:ext>
            </a:extLst>
          </p:cNvPr>
          <p:cNvSpPr/>
          <p:nvPr/>
        </p:nvSpPr>
        <p:spPr>
          <a:xfrm flipV="1">
            <a:off x="331640" y="1028700"/>
            <a:ext cx="17705529" cy="23813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D76B6397-D70F-04FA-2F83-A9ECF3E1702C}"/>
              </a:ext>
            </a:extLst>
          </p:cNvPr>
          <p:cNvSpPr txBox="1"/>
          <p:nvPr/>
        </p:nvSpPr>
        <p:spPr>
          <a:xfrm>
            <a:off x="834537" y="1569335"/>
            <a:ext cx="11056570" cy="8976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038"/>
              </a:lnSpc>
            </a:pPr>
            <a:r>
              <a:rPr lang="ko-KR" altLang="en-US" sz="7038" dirty="0">
                <a:solidFill>
                  <a:srgbClr val="282A29"/>
                </a:solidFill>
                <a:latin typeface="옛간판"/>
                <a:ea typeface="옛간판"/>
                <a:cs typeface="옛간판"/>
                <a:sym typeface="옛간판"/>
              </a:rPr>
              <a:t>구현 배경</a:t>
            </a:r>
            <a:endParaRPr lang="en-US" sz="7038" dirty="0">
              <a:solidFill>
                <a:srgbClr val="282A29"/>
              </a:solidFill>
              <a:latin typeface="옛간판"/>
              <a:ea typeface="옛간판"/>
              <a:cs typeface="옛간판"/>
              <a:sym typeface="옛간판"/>
            </a:endParaRPr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4C1CE5E5-591C-F51E-4C1A-C85562C4499B}"/>
              </a:ext>
            </a:extLst>
          </p:cNvPr>
          <p:cNvSpPr/>
          <p:nvPr/>
        </p:nvSpPr>
        <p:spPr>
          <a:xfrm>
            <a:off x="834537" y="638681"/>
            <a:ext cx="605228" cy="122146"/>
          </a:xfrm>
          <a:custGeom>
            <a:avLst/>
            <a:gdLst/>
            <a:ahLst/>
            <a:cxnLst/>
            <a:rect l="l" t="t" r="r" b="b"/>
            <a:pathLst>
              <a:path w="605228" h="122146">
                <a:moveTo>
                  <a:pt x="0" y="0"/>
                </a:moveTo>
                <a:lnTo>
                  <a:pt x="605228" y="0"/>
                </a:lnTo>
                <a:lnTo>
                  <a:pt x="605228" y="122146"/>
                </a:lnTo>
                <a:lnTo>
                  <a:pt x="0" y="12214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8" name="Freeform 14">
            <a:extLst>
              <a:ext uri="{FF2B5EF4-FFF2-40B4-BE49-F238E27FC236}">
                <a16:creationId xmlns:a16="http://schemas.microsoft.com/office/drawing/2014/main" id="{C514F256-227C-6582-498C-36DE8DA4138F}"/>
              </a:ext>
            </a:extLst>
          </p:cNvPr>
          <p:cNvSpPr/>
          <p:nvPr/>
        </p:nvSpPr>
        <p:spPr>
          <a:xfrm>
            <a:off x="6150280" y="3863121"/>
            <a:ext cx="5987440" cy="6069526"/>
          </a:xfrm>
          <a:custGeom>
            <a:avLst/>
            <a:gdLst/>
            <a:ahLst/>
            <a:cxnLst/>
            <a:rect l="l" t="t" r="r" b="b"/>
            <a:pathLst>
              <a:path w="3769776" h="3790451">
                <a:moveTo>
                  <a:pt x="0" y="0"/>
                </a:moveTo>
                <a:lnTo>
                  <a:pt x="3769776" y="0"/>
                </a:lnTo>
                <a:lnTo>
                  <a:pt x="3769776" y="3790451"/>
                </a:lnTo>
                <a:lnTo>
                  <a:pt x="0" y="379045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44359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3E6CDE-65B3-CCC4-FEFD-596D494E71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25498273-56FB-7CF9-A1E6-280194DA56AE}"/>
              </a:ext>
            </a:extLst>
          </p:cNvPr>
          <p:cNvGrpSpPr/>
          <p:nvPr/>
        </p:nvGrpSpPr>
        <p:grpSpPr>
          <a:xfrm>
            <a:off x="331640" y="334505"/>
            <a:ext cx="17705529" cy="9706532"/>
            <a:chOff x="0" y="0"/>
            <a:chExt cx="115923467" cy="63551606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28624344-538F-A9BB-454E-8F779F97DCB7}"/>
                </a:ext>
              </a:extLst>
            </p:cNvPr>
            <p:cNvSpPr/>
            <p:nvPr/>
          </p:nvSpPr>
          <p:spPr>
            <a:xfrm>
              <a:off x="72387" y="72387"/>
              <a:ext cx="115778685" cy="63406828"/>
            </a:xfrm>
            <a:custGeom>
              <a:avLst/>
              <a:gdLst/>
              <a:ahLst/>
              <a:cxnLst/>
              <a:rect l="l" t="t" r="r" b="b"/>
              <a:pathLst>
                <a:path w="115778684" h="63406830">
                  <a:moveTo>
                    <a:pt x="0" y="0"/>
                  </a:moveTo>
                  <a:lnTo>
                    <a:pt x="115778684" y="0"/>
                  </a:lnTo>
                  <a:lnTo>
                    <a:pt x="115778684" y="63406830"/>
                  </a:lnTo>
                  <a:lnTo>
                    <a:pt x="0" y="634068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DA8061B5-1B53-8AF5-F74E-AEB1072F67F4}"/>
                </a:ext>
              </a:extLst>
            </p:cNvPr>
            <p:cNvSpPr/>
            <p:nvPr/>
          </p:nvSpPr>
          <p:spPr>
            <a:xfrm>
              <a:off x="0" y="0"/>
              <a:ext cx="115923467" cy="63551606"/>
            </a:xfrm>
            <a:custGeom>
              <a:avLst/>
              <a:gdLst/>
              <a:ahLst/>
              <a:cxnLst/>
              <a:rect l="l" t="t" r="r" b="b"/>
              <a:pathLst>
                <a:path w="115923467" h="63551606">
                  <a:moveTo>
                    <a:pt x="115778682" y="63406827"/>
                  </a:moveTo>
                  <a:lnTo>
                    <a:pt x="115923467" y="63406827"/>
                  </a:lnTo>
                  <a:lnTo>
                    <a:pt x="115923467" y="63551606"/>
                  </a:lnTo>
                  <a:lnTo>
                    <a:pt x="115778682" y="63551606"/>
                  </a:lnTo>
                  <a:lnTo>
                    <a:pt x="115778682" y="63406827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63406827"/>
                  </a:lnTo>
                  <a:lnTo>
                    <a:pt x="0" y="63406827"/>
                  </a:lnTo>
                  <a:lnTo>
                    <a:pt x="0" y="144780"/>
                  </a:lnTo>
                  <a:close/>
                  <a:moveTo>
                    <a:pt x="0" y="63406827"/>
                  </a:moveTo>
                  <a:lnTo>
                    <a:pt x="144780" y="63406827"/>
                  </a:lnTo>
                  <a:lnTo>
                    <a:pt x="144780" y="63551606"/>
                  </a:lnTo>
                  <a:lnTo>
                    <a:pt x="0" y="63551606"/>
                  </a:lnTo>
                  <a:lnTo>
                    <a:pt x="0" y="63406827"/>
                  </a:lnTo>
                  <a:close/>
                  <a:moveTo>
                    <a:pt x="115778682" y="144780"/>
                  </a:moveTo>
                  <a:lnTo>
                    <a:pt x="115923467" y="144780"/>
                  </a:lnTo>
                  <a:lnTo>
                    <a:pt x="115923467" y="63406827"/>
                  </a:lnTo>
                  <a:lnTo>
                    <a:pt x="115778682" y="63406827"/>
                  </a:lnTo>
                  <a:lnTo>
                    <a:pt x="115778682" y="144780"/>
                  </a:lnTo>
                  <a:close/>
                  <a:moveTo>
                    <a:pt x="144780" y="63406827"/>
                  </a:moveTo>
                  <a:lnTo>
                    <a:pt x="115778682" y="63406827"/>
                  </a:lnTo>
                  <a:lnTo>
                    <a:pt x="115778682" y="63551606"/>
                  </a:lnTo>
                  <a:lnTo>
                    <a:pt x="144780" y="63551606"/>
                  </a:lnTo>
                  <a:lnTo>
                    <a:pt x="144780" y="63406827"/>
                  </a:lnTo>
                  <a:close/>
                  <a:moveTo>
                    <a:pt x="115778682" y="0"/>
                  </a:moveTo>
                  <a:lnTo>
                    <a:pt x="115923467" y="0"/>
                  </a:lnTo>
                  <a:lnTo>
                    <a:pt x="115923467" y="144780"/>
                  </a:lnTo>
                  <a:lnTo>
                    <a:pt x="115778682" y="144780"/>
                  </a:lnTo>
                  <a:lnTo>
                    <a:pt x="115778682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115778682" y="0"/>
                  </a:lnTo>
                  <a:lnTo>
                    <a:pt x="115778682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5" name="AutoShape 5">
            <a:extLst>
              <a:ext uri="{FF2B5EF4-FFF2-40B4-BE49-F238E27FC236}">
                <a16:creationId xmlns:a16="http://schemas.microsoft.com/office/drawing/2014/main" id="{1A9B1A51-A51E-715E-C45C-67B5F51796A6}"/>
              </a:ext>
            </a:extLst>
          </p:cNvPr>
          <p:cNvSpPr/>
          <p:nvPr/>
        </p:nvSpPr>
        <p:spPr>
          <a:xfrm flipV="1">
            <a:off x="331640" y="1028700"/>
            <a:ext cx="17705529" cy="23813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CAC8E052-B04F-6D89-5B6F-B09436B193F9}"/>
              </a:ext>
            </a:extLst>
          </p:cNvPr>
          <p:cNvSpPr txBox="1"/>
          <p:nvPr/>
        </p:nvSpPr>
        <p:spPr>
          <a:xfrm>
            <a:off x="834537" y="1569335"/>
            <a:ext cx="11056570" cy="8976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038"/>
              </a:lnSpc>
            </a:pPr>
            <a:r>
              <a:rPr lang="ko-KR" altLang="en-US" sz="7038" dirty="0">
                <a:solidFill>
                  <a:srgbClr val="282A29"/>
                </a:solidFill>
                <a:latin typeface="옛간판"/>
                <a:ea typeface="옛간판"/>
                <a:cs typeface="옛간판"/>
                <a:sym typeface="옛간판"/>
              </a:rPr>
              <a:t>문제 정의</a:t>
            </a:r>
            <a:endParaRPr lang="en-US" sz="7038" dirty="0">
              <a:solidFill>
                <a:srgbClr val="282A29"/>
              </a:solidFill>
              <a:latin typeface="옛간판"/>
              <a:ea typeface="옛간판"/>
              <a:cs typeface="옛간판"/>
              <a:sym typeface="옛간판"/>
            </a:endParaRPr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D703BC5D-680F-A2C9-323B-0BE5C05A60C5}"/>
              </a:ext>
            </a:extLst>
          </p:cNvPr>
          <p:cNvSpPr/>
          <p:nvPr/>
        </p:nvSpPr>
        <p:spPr>
          <a:xfrm>
            <a:off x="834537" y="638681"/>
            <a:ext cx="605228" cy="122146"/>
          </a:xfrm>
          <a:custGeom>
            <a:avLst/>
            <a:gdLst/>
            <a:ahLst/>
            <a:cxnLst/>
            <a:rect l="l" t="t" r="r" b="b"/>
            <a:pathLst>
              <a:path w="605228" h="122146">
                <a:moveTo>
                  <a:pt x="0" y="0"/>
                </a:moveTo>
                <a:lnTo>
                  <a:pt x="605228" y="0"/>
                </a:lnTo>
                <a:lnTo>
                  <a:pt x="605228" y="122146"/>
                </a:lnTo>
                <a:lnTo>
                  <a:pt x="0" y="12214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pic>
        <p:nvPicPr>
          <p:cNvPr id="11" name="그래픽 10">
            <a:extLst>
              <a:ext uri="{FF2B5EF4-FFF2-40B4-BE49-F238E27FC236}">
                <a16:creationId xmlns:a16="http://schemas.microsoft.com/office/drawing/2014/main" id="{BEAAC7DA-63A1-8B1D-3EE7-2C6EE2FEE27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349233" y="2508699"/>
            <a:ext cx="1414504" cy="1414504"/>
          </a:xfrm>
          <a:prstGeom prst="rect">
            <a:avLst/>
          </a:prstGeom>
        </p:spPr>
      </p:pic>
      <p:pic>
        <p:nvPicPr>
          <p:cNvPr id="13" name="그래픽 12">
            <a:extLst>
              <a:ext uri="{FF2B5EF4-FFF2-40B4-BE49-F238E27FC236}">
                <a16:creationId xmlns:a16="http://schemas.microsoft.com/office/drawing/2014/main" id="{7EA14A56-1C01-184D-B650-3A26F8B6160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952099" y="5829300"/>
            <a:ext cx="1800000" cy="1800000"/>
          </a:xfrm>
          <a:prstGeom prst="rect">
            <a:avLst/>
          </a:prstGeom>
        </p:spPr>
      </p:pic>
      <p:pic>
        <p:nvPicPr>
          <p:cNvPr id="15" name="그래픽 14">
            <a:extLst>
              <a:ext uri="{FF2B5EF4-FFF2-40B4-BE49-F238E27FC236}">
                <a16:creationId xmlns:a16="http://schemas.microsoft.com/office/drawing/2014/main" id="{24E4422A-AA19-D248-A8BC-EB7872B53B8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635901" y="5829300"/>
            <a:ext cx="1800000" cy="1800000"/>
          </a:xfrm>
          <a:prstGeom prst="rect">
            <a:avLst/>
          </a:prstGeom>
        </p:spPr>
      </p:pic>
      <p:pic>
        <p:nvPicPr>
          <p:cNvPr id="17" name="그래픽 16">
            <a:extLst>
              <a:ext uri="{FF2B5EF4-FFF2-40B4-BE49-F238E27FC236}">
                <a16:creationId xmlns:a16="http://schemas.microsoft.com/office/drawing/2014/main" id="{46007B2E-491C-87C2-D413-9FE20E32719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517446" y="2508699"/>
            <a:ext cx="1800000" cy="1800000"/>
          </a:xfrm>
          <a:prstGeom prst="rect">
            <a:avLst/>
          </a:prstGeom>
        </p:spPr>
      </p:pic>
      <p:pic>
        <p:nvPicPr>
          <p:cNvPr id="19" name="그래픽 18">
            <a:extLst>
              <a:ext uri="{FF2B5EF4-FFF2-40B4-BE49-F238E27FC236}">
                <a16:creationId xmlns:a16="http://schemas.microsoft.com/office/drawing/2014/main" id="{59F33639-CFC1-8992-B7E1-205C07843DE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041652" y="3923203"/>
            <a:ext cx="5034709" cy="5034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56313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5D07F9-87D2-5074-7E4E-AC98544CD4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EDE5D378-74DC-855B-0479-D075959BE712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331640" y="334505"/>
            <a:ext cx="17705529" cy="9706532"/>
            <a:chOff x="0" y="0"/>
            <a:chExt cx="115923466" cy="63551609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33C3149A-57F0-9D2A-BB07-D4636EC9F6A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72390" y="72390"/>
              <a:ext cx="115778684" cy="63406830"/>
            </a:xfrm>
            <a:custGeom>
              <a:avLst/>
              <a:gdLst/>
              <a:ahLst/>
              <a:cxnLst/>
              <a:rect l="l" t="t" r="r" b="b"/>
              <a:pathLst>
                <a:path w="115778684" h="63406830">
                  <a:moveTo>
                    <a:pt x="0" y="0"/>
                  </a:moveTo>
                  <a:lnTo>
                    <a:pt x="115778684" y="0"/>
                  </a:lnTo>
                  <a:lnTo>
                    <a:pt x="115778684" y="63406830"/>
                  </a:lnTo>
                  <a:lnTo>
                    <a:pt x="0" y="634068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52083CC8-6944-8085-037D-D3CA21E029E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0"/>
              <a:ext cx="115923467" cy="63551606"/>
            </a:xfrm>
            <a:custGeom>
              <a:avLst/>
              <a:gdLst/>
              <a:ahLst/>
              <a:cxnLst/>
              <a:rect l="l" t="t" r="r" b="b"/>
              <a:pathLst>
                <a:path w="115923467" h="63551606">
                  <a:moveTo>
                    <a:pt x="115778682" y="63406827"/>
                  </a:moveTo>
                  <a:lnTo>
                    <a:pt x="115923467" y="63406827"/>
                  </a:lnTo>
                  <a:lnTo>
                    <a:pt x="115923467" y="63551606"/>
                  </a:lnTo>
                  <a:lnTo>
                    <a:pt x="115778682" y="63551606"/>
                  </a:lnTo>
                  <a:lnTo>
                    <a:pt x="115778682" y="63406827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63406827"/>
                  </a:lnTo>
                  <a:lnTo>
                    <a:pt x="0" y="63406827"/>
                  </a:lnTo>
                  <a:lnTo>
                    <a:pt x="0" y="144780"/>
                  </a:lnTo>
                  <a:close/>
                  <a:moveTo>
                    <a:pt x="0" y="63406827"/>
                  </a:moveTo>
                  <a:lnTo>
                    <a:pt x="144780" y="63406827"/>
                  </a:lnTo>
                  <a:lnTo>
                    <a:pt x="144780" y="63551606"/>
                  </a:lnTo>
                  <a:lnTo>
                    <a:pt x="0" y="63551606"/>
                  </a:lnTo>
                  <a:lnTo>
                    <a:pt x="0" y="63406827"/>
                  </a:lnTo>
                  <a:close/>
                  <a:moveTo>
                    <a:pt x="115778682" y="144780"/>
                  </a:moveTo>
                  <a:lnTo>
                    <a:pt x="115923467" y="144780"/>
                  </a:lnTo>
                  <a:lnTo>
                    <a:pt x="115923467" y="63406827"/>
                  </a:lnTo>
                  <a:lnTo>
                    <a:pt x="115778682" y="63406827"/>
                  </a:lnTo>
                  <a:lnTo>
                    <a:pt x="115778682" y="144780"/>
                  </a:lnTo>
                  <a:close/>
                  <a:moveTo>
                    <a:pt x="144780" y="63406827"/>
                  </a:moveTo>
                  <a:lnTo>
                    <a:pt x="115778682" y="63406827"/>
                  </a:lnTo>
                  <a:lnTo>
                    <a:pt x="115778682" y="63551606"/>
                  </a:lnTo>
                  <a:lnTo>
                    <a:pt x="144780" y="63551606"/>
                  </a:lnTo>
                  <a:lnTo>
                    <a:pt x="144780" y="63406827"/>
                  </a:lnTo>
                  <a:close/>
                  <a:moveTo>
                    <a:pt x="115778682" y="0"/>
                  </a:moveTo>
                  <a:lnTo>
                    <a:pt x="115923467" y="0"/>
                  </a:lnTo>
                  <a:lnTo>
                    <a:pt x="115923467" y="144780"/>
                  </a:lnTo>
                  <a:lnTo>
                    <a:pt x="115778682" y="144780"/>
                  </a:lnTo>
                  <a:lnTo>
                    <a:pt x="115778682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115778682" y="0"/>
                  </a:lnTo>
                  <a:lnTo>
                    <a:pt x="115778682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5" name="AutoShape 5">
            <a:extLst>
              <a:ext uri="{FF2B5EF4-FFF2-40B4-BE49-F238E27FC236}">
                <a16:creationId xmlns:a16="http://schemas.microsoft.com/office/drawing/2014/main" id="{2A9E32D4-41B5-FCE2-487B-D5AB3FBB08A8}"/>
              </a:ext>
            </a:extLst>
          </p:cNvPr>
          <p:cNvSpPr/>
          <p:nvPr/>
        </p:nvSpPr>
        <p:spPr>
          <a:xfrm flipV="1">
            <a:off x="331640" y="1028700"/>
            <a:ext cx="17705529" cy="23813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FD1748A6-5B79-FFDD-98B0-55DE387558AA}"/>
              </a:ext>
            </a:extLst>
          </p:cNvPr>
          <p:cNvSpPr/>
          <p:nvPr/>
        </p:nvSpPr>
        <p:spPr>
          <a:xfrm>
            <a:off x="834537" y="638681"/>
            <a:ext cx="605228" cy="122146"/>
          </a:xfrm>
          <a:custGeom>
            <a:avLst/>
            <a:gdLst/>
            <a:ahLst/>
            <a:cxnLst/>
            <a:rect l="l" t="t" r="r" b="b"/>
            <a:pathLst>
              <a:path w="605228" h="122146">
                <a:moveTo>
                  <a:pt x="0" y="0"/>
                </a:moveTo>
                <a:lnTo>
                  <a:pt x="605228" y="0"/>
                </a:lnTo>
                <a:lnTo>
                  <a:pt x="605228" y="122146"/>
                </a:lnTo>
                <a:lnTo>
                  <a:pt x="0" y="12214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0" name="TextBox 6">
            <a:extLst>
              <a:ext uri="{FF2B5EF4-FFF2-40B4-BE49-F238E27FC236}">
                <a16:creationId xmlns:a16="http://schemas.microsoft.com/office/drawing/2014/main" id="{66DC5915-05B3-A398-0835-BF05E13B3CD6}"/>
              </a:ext>
            </a:extLst>
          </p:cNvPr>
          <p:cNvSpPr txBox="1"/>
          <p:nvPr/>
        </p:nvSpPr>
        <p:spPr>
          <a:xfrm>
            <a:off x="834537" y="1569335"/>
            <a:ext cx="11056570" cy="8976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038"/>
              </a:lnSpc>
            </a:pPr>
            <a:r>
              <a:rPr lang="ko-KR" altLang="en-US" sz="7038" dirty="0">
                <a:solidFill>
                  <a:srgbClr val="282A29"/>
                </a:solidFill>
                <a:latin typeface="옛간판"/>
                <a:ea typeface="옛간판"/>
                <a:cs typeface="옛간판"/>
                <a:sym typeface="옛간판"/>
              </a:rPr>
              <a:t>구현 목표</a:t>
            </a:r>
            <a:endParaRPr lang="en-US" sz="7038" dirty="0">
              <a:solidFill>
                <a:srgbClr val="282A29"/>
              </a:solidFill>
              <a:latin typeface="옛간판"/>
              <a:ea typeface="옛간판"/>
              <a:cs typeface="옛간판"/>
              <a:sym typeface="옛간판"/>
            </a:endParaRPr>
          </a:p>
        </p:txBody>
      </p: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F51B6124-4B98-0A1C-ECB2-0835BD10C6CD}"/>
              </a:ext>
            </a:extLst>
          </p:cNvPr>
          <p:cNvGrpSpPr/>
          <p:nvPr/>
        </p:nvGrpSpPr>
        <p:grpSpPr>
          <a:xfrm>
            <a:off x="12158339" y="3924300"/>
            <a:ext cx="5367661" cy="4424152"/>
            <a:chOff x="7955280" y="2926080"/>
            <a:chExt cx="3749040" cy="3383280"/>
          </a:xfrm>
        </p:grpSpPr>
        <p:sp>
          <p:nvSpPr>
            <p:cNvPr id="37" name="Shape 20">
              <a:extLst>
                <a:ext uri="{FF2B5EF4-FFF2-40B4-BE49-F238E27FC236}">
                  <a16:creationId xmlns:a16="http://schemas.microsoft.com/office/drawing/2014/main" id="{16362E05-BB50-FEC0-5403-4A1ABF3253FC}"/>
                </a:ext>
              </a:extLst>
            </p:cNvPr>
            <p:cNvSpPr/>
            <p:nvPr/>
          </p:nvSpPr>
          <p:spPr>
            <a:xfrm>
              <a:off x="7955280" y="2926080"/>
              <a:ext cx="3749040" cy="338328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5DBE5"/>
              </a:solidFill>
              <a:prstDash val="solid"/>
            </a:ln>
            <a:effectLst>
              <a:outerShdw blurRad="127000" dist="38100" dir="54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8" name="Shape 21">
              <a:extLst>
                <a:ext uri="{FF2B5EF4-FFF2-40B4-BE49-F238E27FC236}">
                  <a16:creationId xmlns:a16="http://schemas.microsoft.com/office/drawing/2014/main" id="{DEACA200-34C8-0435-7E80-08166F7A7EA1}"/>
                </a:ext>
              </a:extLst>
            </p:cNvPr>
            <p:cNvSpPr/>
            <p:nvPr/>
          </p:nvSpPr>
          <p:spPr>
            <a:xfrm>
              <a:off x="7955280" y="2926080"/>
              <a:ext cx="3749040" cy="73152"/>
            </a:xfrm>
            <a:prstGeom prst="rect">
              <a:avLst/>
            </a:prstGeom>
            <a:solidFill>
              <a:srgbClr val="1E2761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9" name="Text 22">
              <a:extLst>
                <a:ext uri="{FF2B5EF4-FFF2-40B4-BE49-F238E27FC236}">
                  <a16:creationId xmlns:a16="http://schemas.microsoft.com/office/drawing/2014/main" id="{3A2BD754-EC95-1399-59A9-9C2008BD2805}"/>
                </a:ext>
              </a:extLst>
            </p:cNvPr>
            <p:cNvSpPr/>
            <p:nvPr/>
          </p:nvSpPr>
          <p:spPr>
            <a:xfrm>
              <a:off x="8229600" y="3108960"/>
              <a:ext cx="1371600" cy="7315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6000" b="1" dirty="0">
                  <a:latin typeface="Georgia" pitchFamily="34" charset="0"/>
                  <a:ea typeface="Georgia" pitchFamily="34" charset="-122"/>
                  <a:cs typeface="Georgia" pitchFamily="34" charset="-120"/>
                </a:rPr>
                <a:t>03</a:t>
              </a:r>
              <a:endParaRPr lang="en-US" sz="6000" dirty="0"/>
            </a:p>
          </p:txBody>
        </p:sp>
        <p:pic>
          <p:nvPicPr>
            <p:cNvPr id="40" name="Image 2" descr="preencoded.png">
              <a:extLst>
                <a:ext uri="{FF2B5EF4-FFF2-40B4-BE49-F238E27FC236}">
                  <a16:creationId xmlns:a16="http://schemas.microsoft.com/office/drawing/2014/main" id="{3C588D21-3C59-5C85-EBB7-B02C0615F99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179281" y="2981687"/>
              <a:ext cx="960297" cy="960298"/>
            </a:xfrm>
            <a:prstGeom prst="rect">
              <a:avLst/>
            </a:prstGeom>
          </p:spPr>
        </p:pic>
        <p:sp>
          <p:nvSpPr>
            <p:cNvPr id="41" name="Text 23">
              <a:extLst>
                <a:ext uri="{FF2B5EF4-FFF2-40B4-BE49-F238E27FC236}">
                  <a16:creationId xmlns:a16="http://schemas.microsoft.com/office/drawing/2014/main" id="{C5EE8CAF-CA75-D086-9B85-E8CF1EC398A3}"/>
                </a:ext>
              </a:extLst>
            </p:cNvPr>
            <p:cNvSpPr/>
            <p:nvPr/>
          </p:nvSpPr>
          <p:spPr>
            <a:xfrm>
              <a:off x="8229600" y="4391869"/>
              <a:ext cx="329184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700" b="1" dirty="0" err="1">
                  <a:solidFill>
                    <a:srgbClr val="1E2761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클라우드</a:t>
              </a:r>
              <a:r>
                <a:rPr lang="en-US" sz="2700" b="1" dirty="0">
                  <a:solidFill>
                    <a:srgbClr val="1E2761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 </a:t>
              </a:r>
              <a:r>
                <a:rPr lang="en-US" sz="2700" b="1" dirty="0" err="1">
                  <a:solidFill>
                    <a:srgbClr val="1E2761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기반</a:t>
              </a:r>
              <a:r>
                <a:rPr lang="en-US" sz="2700" b="1" dirty="0">
                  <a:solidFill>
                    <a:srgbClr val="1E2761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 </a:t>
              </a:r>
              <a:r>
                <a:rPr lang="en-US" sz="2700" b="1" dirty="0" err="1">
                  <a:solidFill>
                    <a:srgbClr val="1E2761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접근성</a:t>
              </a:r>
              <a:endParaRPr lang="en-US" sz="2700" dirty="0"/>
            </a:p>
          </p:txBody>
        </p:sp>
        <p:sp>
          <p:nvSpPr>
            <p:cNvPr id="43" name="Shape 25">
              <a:extLst>
                <a:ext uri="{FF2B5EF4-FFF2-40B4-BE49-F238E27FC236}">
                  <a16:creationId xmlns:a16="http://schemas.microsoft.com/office/drawing/2014/main" id="{4F8303EE-9A2A-5D83-34A0-59B8A6A53542}"/>
                </a:ext>
              </a:extLst>
            </p:cNvPr>
            <p:cNvSpPr/>
            <p:nvPr/>
          </p:nvSpPr>
          <p:spPr>
            <a:xfrm>
              <a:off x="8229600" y="5074920"/>
              <a:ext cx="457200" cy="18288"/>
            </a:xfrm>
            <a:prstGeom prst="rect">
              <a:avLst/>
            </a:prstGeom>
            <a:solidFill>
              <a:srgbClr val="D5DBE5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4" name="Text 26">
              <a:extLst>
                <a:ext uri="{FF2B5EF4-FFF2-40B4-BE49-F238E27FC236}">
                  <a16:creationId xmlns:a16="http://schemas.microsoft.com/office/drawing/2014/main" id="{0FCD8ADF-C2AB-623D-F133-E7D751622A60}"/>
                </a:ext>
              </a:extLst>
            </p:cNvPr>
            <p:cNvSpPr/>
            <p:nvPr/>
          </p:nvSpPr>
          <p:spPr>
            <a:xfrm>
              <a:off x="8229600" y="5212080"/>
              <a:ext cx="3291840" cy="10058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spcAft>
                  <a:spcPts val="400"/>
                </a:spcAft>
                <a:buNone/>
              </a:pPr>
              <a:r>
                <a:rPr lang="en-US" sz="2200" dirty="0">
                  <a:solidFill>
                    <a:srgbClr val="1A1A2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AWS EC2 활용으로 환경 구성 부담 제거, 발표장 네트워크 제약 해소</a:t>
              </a:r>
              <a:endParaRPr lang="en-US" sz="2200" dirty="0"/>
            </a:p>
          </p:txBody>
        </p:sp>
      </p:grpSp>
      <p:grpSp>
        <p:nvGrpSpPr>
          <p:cNvPr id="45" name="그룹 44">
            <a:extLst>
              <a:ext uri="{FF2B5EF4-FFF2-40B4-BE49-F238E27FC236}">
                <a16:creationId xmlns:a16="http://schemas.microsoft.com/office/drawing/2014/main" id="{5011FA26-FEC3-B8A2-BC51-DDDF0B9C2555}"/>
              </a:ext>
            </a:extLst>
          </p:cNvPr>
          <p:cNvGrpSpPr/>
          <p:nvPr/>
        </p:nvGrpSpPr>
        <p:grpSpPr>
          <a:xfrm>
            <a:off x="6397920" y="3924300"/>
            <a:ext cx="5367663" cy="4378861"/>
            <a:chOff x="4206239" y="2926080"/>
            <a:chExt cx="3749041" cy="3383280"/>
          </a:xfrm>
        </p:grpSpPr>
        <p:sp>
          <p:nvSpPr>
            <p:cNvPr id="46" name="Shape 13">
              <a:extLst>
                <a:ext uri="{FF2B5EF4-FFF2-40B4-BE49-F238E27FC236}">
                  <a16:creationId xmlns:a16="http://schemas.microsoft.com/office/drawing/2014/main" id="{C17CFEB7-CD2C-EACA-5AF7-2BB020E87756}"/>
                </a:ext>
              </a:extLst>
            </p:cNvPr>
            <p:cNvSpPr/>
            <p:nvPr/>
          </p:nvSpPr>
          <p:spPr>
            <a:xfrm>
              <a:off x="4206239" y="2926080"/>
              <a:ext cx="3749040" cy="338328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5DBE5"/>
              </a:solidFill>
              <a:prstDash val="solid"/>
            </a:ln>
            <a:effectLst>
              <a:outerShdw blurRad="127000" dist="38100" dir="54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47" name="Shape 14">
              <a:extLst>
                <a:ext uri="{FF2B5EF4-FFF2-40B4-BE49-F238E27FC236}">
                  <a16:creationId xmlns:a16="http://schemas.microsoft.com/office/drawing/2014/main" id="{E60655E6-A58A-0C1C-72EE-D8CD8AEF6AFF}"/>
                </a:ext>
              </a:extLst>
            </p:cNvPr>
            <p:cNvSpPr/>
            <p:nvPr/>
          </p:nvSpPr>
          <p:spPr>
            <a:xfrm>
              <a:off x="4206240" y="2926080"/>
              <a:ext cx="3749040" cy="73152"/>
            </a:xfrm>
            <a:prstGeom prst="rect">
              <a:avLst/>
            </a:prstGeom>
            <a:solidFill>
              <a:srgbClr val="1E2761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8" name="Text 15">
              <a:extLst>
                <a:ext uri="{FF2B5EF4-FFF2-40B4-BE49-F238E27FC236}">
                  <a16:creationId xmlns:a16="http://schemas.microsoft.com/office/drawing/2014/main" id="{EC83BC78-D791-11AD-03F7-5874D2103828}"/>
                </a:ext>
              </a:extLst>
            </p:cNvPr>
            <p:cNvSpPr/>
            <p:nvPr/>
          </p:nvSpPr>
          <p:spPr>
            <a:xfrm>
              <a:off x="4480560" y="3108960"/>
              <a:ext cx="1371600" cy="7315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6000" b="1" dirty="0">
                  <a:latin typeface="Georgia" pitchFamily="34" charset="0"/>
                  <a:ea typeface="Georgia" pitchFamily="34" charset="-122"/>
                  <a:cs typeface="Georgia" pitchFamily="34" charset="-120"/>
                </a:rPr>
                <a:t>02</a:t>
              </a:r>
              <a:endParaRPr lang="en-US" sz="6000" dirty="0"/>
            </a:p>
          </p:txBody>
        </p:sp>
        <p:pic>
          <p:nvPicPr>
            <p:cNvPr id="49" name="Image 1" descr="preencoded.png">
              <a:extLst>
                <a:ext uri="{FF2B5EF4-FFF2-40B4-BE49-F238E27FC236}">
                  <a16:creationId xmlns:a16="http://schemas.microsoft.com/office/drawing/2014/main" id="{38D947E9-2058-835A-B2FE-2135E57B89D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492239" y="3108960"/>
              <a:ext cx="822960" cy="822960"/>
            </a:xfrm>
            <a:prstGeom prst="rect">
              <a:avLst/>
            </a:prstGeom>
          </p:spPr>
        </p:pic>
        <p:sp>
          <p:nvSpPr>
            <p:cNvPr id="50" name="Text 16">
              <a:extLst>
                <a:ext uri="{FF2B5EF4-FFF2-40B4-BE49-F238E27FC236}">
                  <a16:creationId xmlns:a16="http://schemas.microsoft.com/office/drawing/2014/main" id="{9461F912-658D-81C9-0637-98EF862D66F6}"/>
                </a:ext>
              </a:extLst>
            </p:cNvPr>
            <p:cNvSpPr/>
            <p:nvPr/>
          </p:nvSpPr>
          <p:spPr>
            <a:xfrm>
              <a:off x="4480560" y="4411759"/>
              <a:ext cx="329184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700" b="1" dirty="0">
                  <a:solidFill>
                    <a:srgbClr val="1E2761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CLI-GUI </a:t>
              </a:r>
              <a:r>
                <a:rPr lang="en-US" sz="2700" b="1" dirty="0" err="1">
                  <a:solidFill>
                    <a:srgbClr val="1E2761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매핑</a:t>
              </a:r>
              <a:endParaRPr lang="en-US" sz="2700" dirty="0"/>
            </a:p>
          </p:txBody>
        </p:sp>
        <p:sp>
          <p:nvSpPr>
            <p:cNvPr id="52" name="Shape 18">
              <a:extLst>
                <a:ext uri="{FF2B5EF4-FFF2-40B4-BE49-F238E27FC236}">
                  <a16:creationId xmlns:a16="http://schemas.microsoft.com/office/drawing/2014/main" id="{75C4E6B4-F4DD-B232-11B2-F33B49A465C3}"/>
                </a:ext>
              </a:extLst>
            </p:cNvPr>
            <p:cNvSpPr/>
            <p:nvPr/>
          </p:nvSpPr>
          <p:spPr>
            <a:xfrm>
              <a:off x="4480560" y="5074920"/>
              <a:ext cx="457200" cy="18288"/>
            </a:xfrm>
            <a:prstGeom prst="rect">
              <a:avLst/>
            </a:prstGeom>
            <a:solidFill>
              <a:srgbClr val="D5DBE5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3" name="Text 19">
              <a:extLst>
                <a:ext uri="{FF2B5EF4-FFF2-40B4-BE49-F238E27FC236}">
                  <a16:creationId xmlns:a16="http://schemas.microsoft.com/office/drawing/2014/main" id="{B5FCC141-5876-94F8-F17F-0C701FFC55BE}"/>
                </a:ext>
              </a:extLst>
            </p:cNvPr>
            <p:cNvSpPr/>
            <p:nvPr/>
          </p:nvSpPr>
          <p:spPr>
            <a:xfrm>
              <a:off x="4480560" y="5212080"/>
              <a:ext cx="3291840" cy="10058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spcAft>
                  <a:spcPts val="400"/>
                </a:spcAft>
                <a:buNone/>
              </a:pPr>
              <a:r>
                <a:rPr lang="en-US" sz="2200" dirty="0">
                  <a:solidFill>
                    <a:srgbClr val="1A1A2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CLI </a:t>
              </a:r>
              <a:r>
                <a:rPr lang="ko-KR" altLang="en-US" sz="2200" dirty="0">
                  <a:solidFill>
                    <a:srgbClr val="1A1A2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기반의 기능 실습 및 학습 과정을</a:t>
              </a:r>
              <a:r>
                <a:rPr lang="en-US" sz="2200" dirty="0">
                  <a:solidFill>
                    <a:srgbClr val="1A1A2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GUI </a:t>
              </a:r>
              <a:r>
                <a:rPr lang="ko-KR" altLang="en-US" sz="2200" dirty="0">
                  <a:solidFill>
                    <a:srgbClr val="1A1A2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인터페이스로 전환하여 학습 편의성 제공</a:t>
              </a:r>
              <a:endParaRPr lang="en-US" sz="2200" dirty="0"/>
            </a:p>
          </p:txBody>
        </p:sp>
      </p:grpSp>
      <p:grpSp>
        <p:nvGrpSpPr>
          <p:cNvPr id="62" name="그룹 61">
            <a:extLst>
              <a:ext uri="{FF2B5EF4-FFF2-40B4-BE49-F238E27FC236}">
                <a16:creationId xmlns:a16="http://schemas.microsoft.com/office/drawing/2014/main" id="{A2DC12A4-C133-136B-40BD-D29F30D8FE85}"/>
              </a:ext>
            </a:extLst>
          </p:cNvPr>
          <p:cNvGrpSpPr/>
          <p:nvPr/>
        </p:nvGrpSpPr>
        <p:grpSpPr>
          <a:xfrm>
            <a:off x="756542" y="3924300"/>
            <a:ext cx="4998684" cy="4378861"/>
            <a:chOff x="457200" y="2926080"/>
            <a:chExt cx="3749040" cy="3383280"/>
          </a:xfrm>
        </p:grpSpPr>
        <p:sp>
          <p:nvSpPr>
            <p:cNvPr id="63" name="Shape 6">
              <a:extLst>
                <a:ext uri="{FF2B5EF4-FFF2-40B4-BE49-F238E27FC236}">
                  <a16:creationId xmlns:a16="http://schemas.microsoft.com/office/drawing/2014/main" id="{0A53A934-6818-5A8E-A14B-11F152D53D13}"/>
                </a:ext>
              </a:extLst>
            </p:cNvPr>
            <p:cNvSpPr/>
            <p:nvPr/>
          </p:nvSpPr>
          <p:spPr>
            <a:xfrm>
              <a:off x="457200" y="2926080"/>
              <a:ext cx="3749040" cy="338328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5DBE5"/>
              </a:solidFill>
              <a:prstDash val="solid"/>
            </a:ln>
            <a:effectLst>
              <a:outerShdw blurRad="127000" dist="38100" dir="54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64" name="Shape 7">
              <a:extLst>
                <a:ext uri="{FF2B5EF4-FFF2-40B4-BE49-F238E27FC236}">
                  <a16:creationId xmlns:a16="http://schemas.microsoft.com/office/drawing/2014/main" id="{CCE2DA55-CF1A-B2FA-CA8C-0AC763E79265}"/>
                </a:ext>
              </a:extLst>
            </p:cNvPr>
            <p:cNvSpPr/>
            <p:nvPr/>
          </p:nvSpPr>
          <p:spPr>
            <a:xfrm>
              <a:off x="457200" y="2926080"/>
              <a:ext cx="3749040" cy="73152"/>
            </a:xfrm>
            <a:prstGeom prst="rect">
              <a:avLst/>
            </a:prstGeom>
            <a:solidFill>
              <a:srgbClr val="1E2761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5" name="Text 8">
              <a:extLst>
                <a:ext uri="{FF2B5EF4-FFF2-40B4-BE49-F238E27FC236}">
                  <a16:creationId xmlns:a16="http://schemas.microsoft.com/office/drawing/2014/main" id="{9740BE6A-71ED-604F-E890-BCA54C3C96B8}"/>
                </a:ext>
              </a:extLst>
            </p:cNvPr>
            <p:cNvSpPr/>
            <p:nvPr/>
          </p:nvSpPr>
          <p:spPr>
            <a:xfrm>
              <a:off x="731520" y="3108960"/>
              <a:ext cx="1371600" cy="7315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6000" b="1" dirty="0">
                  <a:latin typeface="Georgia" pitchFamily="34" charset="0"/>
                  <a:ea typeface="Georgia" pitchFamily="34" charset="-122"/>
                  <a:cs typeface="Georgia" pitchFamily="34" charset="-120"/>
                </a:rPr>
                <a:t>01</a:t>
              </a:r>
              <a:endParaRPr lang="en-US" sz="6000" dirty="0"/>
            </a:p>
          </p:txBody>
        </p:sp>
        <p:pic>
          <p:nvPicPr>
            <p:cNvPr id="66" name="Image 0" descr="preencoded.png">
              <a:extLst>
                <a:ext uri="{FF2B5EF4-FFF2-40B4-BE49-F238E27FC236}">
                  <a16:creationId xmlns:a16="http://schemas.microsoft.com/office/drawing/2014/main" id="{745B466D-C8C2-A13E-506B-83D20CE70D0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743200" y="3184692"/>
              <a:ext cx="822960" cy="822960"/>
            </a:xfrm>
            <a:prstGeom prst="rect">
              <a:avLst/>
            </a:prstGeom>
          </p:spPr>
        </p:pic>
        <p:sp>
          <p:nvSpPr>
            <p:cNvPr id="67" name="Text 9">
              <a:extLst>
                <a:ext uri="{FF2B5EF4-FFF2-40B4-BE49-F238E27FC236}">
                  <a16:creationId xmlns:a16="http://schemas.microsoft.com/office/drawing/2014/main" id="{16FD1C79-C477-4C88-C8EE-BCA02347AE39}"/>
                </a:ext>
              </a:extLst>
            </p:cNvPr>
            <p:cNvSpPr/>
            <p:nvPr/>
          </p:nvSpPr>
          <p:spPr>
            <a:xfrm>
              <a:off x="731520" y="4411759"/>
              <a:ext cx="329184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700" b="1" dirty="0" err="1">
                  <a:solidFill>
                    <a:srgbClr val="1E2761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학습</a:t>
              </a:r>
              <a:r>
                <a:rPr lang="en-US" sz="2700" b="1" dirty="0">
                  <a:solidFill>
                    <a:srgbClr val="1E2761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 </a:t>
              </a:r>
              <a:r>
                <a:rPr lang="en-US" sz="2700" b="1" dirty="0" err="1">
                  <a:solidFill>
                    <a:srgbClr val="1E2761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곡선의</a:t>
              </a:r>
              <a:r>
                <a:rPr lang="en-US" sz="2700" b="1" dirty="0">
                  <a:solidFill>
                    <a:srgbClr val="1E2761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 </a:t>
              </a:r>
              <a:r>
                <a:rPr lang="en-US" sz="2700" b="1" dirty="0" err="1">
                  <a:solidFill>
                    <a:srgbClr val="1E2761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완화</a:t>
              </a:r>
              <a:endParaRPr lang="en-US" sz="2700" dirty="0"/>
            </a:p>
          </p:txBody>
        </p:sp>
        <p:sp>
          <p:nvSpPr>
            <p:cNvPr id="69" name="Shape 11">
              <a:extLst>
                <a:ext uri="{FF2B5EF4-FFF2-40B4-BE49-F238E27FC236}">
                  <a16:creationId xmlns:a16="http://schemas.microsoft.com/office/drawing/2014/main" id="{7AE3F58A-7826-2277-6157-B9E92BE8226C}"/>
                </a:ext>
              </a:extLst>
            </p:cNvPr>
            <p:cNvSpPr/>
            <p:nvPr/>
          </p:nvSpPr>
          <p:spPr>
            <a:xfrm>
              <a:off x="731520" y="5074920"/>
              <a:ext cx="457200" cy="18288"/>
            </a:xfrm>
            <a:prstGeom prst="rect">
              <a:avLst/>
            </a:prstGeom>
            <a:solidFill>
              <a:srgbClr val="D5DBE5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0" name="Text 12">
              <a:extLst>
                <a:ext uri="{FF2B5EF4-FFF2-40B4-BE49-F238E27FC236}">
                  <a16:creationId xmlns:a16="http://schemas.microsoft.com/office/drawing/2014/main" id="{286A0A2E-B87C-B368-8564-9F97639B4308}"/>
                </a:ext>
              </a:extLst>
            </p:cNvPr>
            <p:cNvSpPr/>
            <p:nvPr/>
          </p:nvSpPr>
          <p:spPr>
            <a:xfrm>
              <a:off x="731520" y="5212080"/>
              <a:ext cx="3291840" cy="10058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spcAft>
                  <a:spcPts val="400"/>
                </a:spcAft>
                <a:buNone/>
              </a:pPr>
              <a:r>
                <a:rPr lang="en-US" sz="2200" dirty="0" err="1">
                  <a:solidFill>
                    <a:srgbClr val="1A1A2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초보</a:t>
              </a:r>
              <a:r>
                <a:rPr lang="en-US" sz="2200" dirty="0">
                  <a:solidFill>
                    <a:srgbClr val="1A1A2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2200" dirty="0" err="1">
                  <a:solidFill>
                    <a:srgbClr val="1A1A2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학습자의</a:t>
              </a:r>
              <a:r>
                <a:rPr lang="en-US" sz="2200" dirty="0">
                  <a:solidFill>
                    <a:srgbClr val="1A1A2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2200" dirty="0" err="1">
                  <a:solidFill>
                    <a:srgbClr val="1A1A2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인지</a:t>
              </a:r>
              <a:r>
                <a:rPr lang="en-US" sz="2200" dirty="0">
                  <a:solidFill>
                    <a:srgbClr val="1A1A2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2200" dirty="0" err="1">
                  <a:solidFill>
                    <a:srgbClr val="1A1A2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부담</a:t>
              </a:r>
              <a:r>
                <a:rPr lang="en-US" sz="2200" dirty="0">
                  <a:solidFill>
                    <a:srgbClr val="1A1A2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2200" dirty="0" err="1">
                  <a:solidFill>
                    <a:srgbClr val="1A1A2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경감을</a:t>
              </a:r>
              <a:r>
                <a:rPr lang="en-US" sz="2200" dirty="0">
                  <a:solidFill>
                    <a:srgbClr val="1A1A2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2200" dirty="0" err="1">
                  <a:solidFill>
                    <a:srgbClr val="1A1A2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통한</a:t>
              </a:r>
              <a:r>
                <a:rPr lang="en-US" sz="2200" dirty="0">
                  <a:solidFill>
                    <a:srgbClr val="1A1A2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2200" dirty="0" err="1">
                  <a:solidFill>
                    <a:srgbClr val="1A1A2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교육적</a:t>
              </a:r>
              <a:r>
                <a:rPr lang="en-US" sz="2200" dirty="0">
                  <a:solidFill>
                    <a:srgbClr val="1A1A2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2200" dirty="0" err="1">
                  <a:solidFill>
                    <a:srgbClr val="1A1A2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효용성</a:t>
              </a:r>
              <a:r>
                <a:rPr lang="en-US" sz="2200" dirty="0">
                  <a:solidFill>
                    <a:srgbClr val="1A1A2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2200" dirty="0" err="1">
                  <a:solidFill>
                    <a:srgbClr val="1A1A2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제고</a:t>
              </a:r>
              <a:endParaRPr lang="en-US" sz="2200" dirty="0"/>
            </a:p>
          </p:txBody>
        </p:sp>
      </p:grpSp>
    </p:spTree>
    <p:extLst>
      <p:ext uri="{BB962C8B-B14F-4D97-AF65-F5344CB8AC3E}">
        <p14:creationId xmlns:p14="http://schemas.microsoft.com/office/powerpoint/2010/main" val="42329488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2">
            <a:extLst>
              <a:ext uri="{FF2B5EF4-FFF2-40B4-BE49-F238E27FC236}">
                <a16:creationId xmlns:a16="http://schemas.microsoft.com/office/drawing/2014/main" id="{EEA2DEDE-807E-7261-F6FF-F0700C3AAC95}"/>
              </a:ext>
            </a:extLst>
          </p:cNvPr>
          <p:cNvGrpSpPr/>
          <p:nvPr/>
        </p:nvGrpSpPr>
        <p:grpSpPr>
          <a:xfrm>
            <a:off x="331640" y="334505"/>
            <a:ext cx="17705529" cy="9706532"/>
            <a:chOff x="0" y="0"/>
            <a:chExt cx="115923467" cy="63551606"/>
          </a:xfrm>
        </p:grpSpPr>
        <p:sp>
          <p:nvSpPr>
            <p:cNvPr id="15" name="Freeform 3">
              <a:extLst>
                <a:ext uri="{FF2B5EF4-FFF2-40B4-BE49-F238E27FC236}">
                  <a16:creationId xmlns:a16="http://schemas.microsoft.com/office/drawing/2014/main" id="{01C321F8-CE48-8D6A-17D3-A28906D647E4}"/>
                </a:ext>
              </a:extLst>
            </p:cNvPr>
            <p:cNvSpPr/>
            <p:nvPr/>
          </p:nvSpPr>
          <p:spPr>
            <a:xfrm>
              <a:off x="72387" y="72386"/>
              <a:ext cx="115778686" cy="63406826"/>
            </a:xfrm>
            <a:custGeom>
              <a:avLst/>
              <a:gdLst/>
              <a:ahLst/>
              <a:cxnLst/>
              <a:rect l="l" t="t" r="r" b="b"/>
              <a:pathLst>
                <a:path w="115778684" h="63406830">
                  <a:moveTo>
                    <a:pt x="0" y="0"/>
                  </a:moveTo>
                  <a:lnTo>
                    <a:pt x="115778684" y="0"/>
                  </a:lnTo>
                  <a:lnTo>
                    <a:pt x="115778684" y="63406830"/>
                  </a:lnTo>
                  <a:lnTo>
                    <a:pt x="0" y="634068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6" name="Freeform 4">
              <a:extLst>
                <a:ext uri="{FF2B5EF4-FFF2-40B4-BE49-F238E27FC236}">
                  <a16:creationId xmlns:a16="http://schemas.microsoft.com/office/drawing/2014/main" id="{1F4F435D-B3C0-CE30-E042-813E620D1C2A}"/>
                </a:ext>
              </a:extLst>
            </p:cNvPr>
            <p:cNvSpPr/>
            <p:nvPr/>
          </p:nvSpPr>
          <p:spPr>
            <a:xfrm>
              <a:off x="0" y="0"/>
              <a:ext cx="115923467" cy="63551606"/>
            </a:xfrm>
            <a:custGeom>
              <a:avLst/>
              <a:gdLst/>
              <a:ahLst/>
              <a:cxnLst/>
              <a:rect l="l" t="t" r="r" b="b"/>
              <a:pathLst>
                <a:path w="115923467" h="63551606">
                  <a:moveTo>
                    <a:pt x="115778682" y="63406827"/>
                  </a:moveTo>
                  <a:lnTo>
                    <a:pt x="115923467" y="63406827"/>
                  </a:lnTo>
                  <a:lnTo>
                    <a:pt x="115923467" y="63551606"/>
                  </a:lnTo>
                  <a:lnTo>
                    <a:pt x="115778682" y="63551606"/>
                  </a:lnTo>
                  <a:lnTo>
                    <a:pt x="115778682" y="63406827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63406827"/>
                  </a:lnTo>
                  <a:lnTo>
                    <a:pt x="0" y="63406827"/>
                  </a:lnTo>
                  <a:lnTo>
                    <a:pt x="0" y="144780"/>
                  </a:lnTo>
                  <a:close/>
                  <a:moveTo>
                    <a:pt x="0" y="63406827"/>
                  </a:moveTo>
                  <a:lnTo>
                    <a:pt x="144780" y="63406827"/>
                  </a:lnTo>
                  <a:lnTo>
                    <a:pt x="144780" y="63551606"/>
                  </a:lnTo>
                  <a:lnTo>
                    <a:pt x="0" y="63551606"/>
                  </a:lnTo>
                  <a:lnTo>
                    <a:pt x="0" y="63406827"/>
                  </a:lnTo>
                  <a:close/>
                  <a:moveTo>
                    <a:pt x="115778682" y="144780"/>
                  </a:moveTo>
                  <a:lnTo>
                    <a:pt x="115923467" y="144780"/>
                  </a:lnTo>
                  <a:lnTo>
                    <a:pt x="115923467" y="63406827"/>
                  </a:lnTo>
                  <a:lnTo>
                    <a:pt x="115778682" y="63406827"/>
                  </a:lnTo>
                  <a:lnTo>
                    <a:pt x="115778682" y="144780"/>
                  </a:lnTo>
                  <a:close/>
                  <a:moveTo>
                    <a:pt x="144780" y="63406827"/>
                  </a:moveTo>
                  <a:lnTo>
                    <a:pt x="115778682" y="63406827"/>
                  </a:lnTo>
                  <a:lnTo>
                    <a:pt x="115778682" y="63551606"/>
                  </a:lnTo>
                  <a:lnTo>
                    <a:pt x="144780" y="63551606"/>
                  </a:lnTo>
                  <a:lnTo>
                    <a:pt x="144780" y="63406827"/>
                  </a:lnTo>
                  <a:close/>
                  <a:moveTo>
                    <a:pt x="115778682" y="0"/>
                  </a:moveTo>
                  <a:lnTo>
                    <a:pt x="115923467" y="0"/>
                  </a:lnTo>
                  <a:lnTo>
                    <a:pt x="115923467" y="144780"/>
                  </a:lnTo>
                  <a:lnTo>
                    <a:pt x="115778682" y="144780"/>
                  </a:lnTo>
                  <a:lnTo>
                    <a:pt x="115778682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115778682" y="0"/>
                  </a:lnTo>
                  <a:lnTo>
                    <a:pt x="115778682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55" name="Group 5">
            <a:extLst>
              <a:ext uri="{FF2B5EF4-FFF2-40B4-BE49-F238E27FC236}">
                <a16:creationId xmlns:a16="http://schemas.microsoft.com/office/drawing/2014/main" id="{21476618-0D3F-BF65-A952-9681B25F02CD}"/>
              </a:ext>
            </a:extLst>
          </p:cNvPr>
          <p:cNvGrpSpPr/>
          <p:nvPr/>
        </p:nvGrpSpPr>
        <p:grpSpPr>
          <a:xfrm>
            <a:off x="6869722" y="2776542"/>
            <a:ext cx="10786545" cy="6612475"/>
            <a:chOff x="0" y="0"/>
            <a:chExt cx="104316230" cy="52892737"/>
          </a:xfrm>
        </p:grpSpPr>
        <p:sp>
          <p:nvSpPr>
            <p:cNvPr id="56" name="Freeform 6">
              <a:extLst>
                <a:ext uri="{FF2B5EF4-FFF2-40B4-BE49-F238E27FC236}">
                  <a16:creationId xmlns:a16="http://schemas.microsoft.com/office/drawing/2014/main" id="{14070340-C17E-5DAF-7247-96FFB14914D8}"/>
                </a:ext>
              </a:extLst>
            </p:cNvPr>
            <p:cNvSpPr/>
            <p:nvPr/>
          </p:nvSpPr>
          <p:spPr>
            <a:xfrm>
              <a:off x="72390" y="72390"/>
              <a:ext cx="104171455" cy="52747958"/>
            </a:xfrm>
            <a:custGeom>
              <a:avLst/>
              <a:gdLst/>
              <a:ahLst/>
              <a:cxnLst/>
              <a:rect l="l" t="t" r="r" b="b"/>
              <a:pathLst>
                <a:path w="104171455" h="52747958">
                  <a:moveTo>
                    <a:pt x="0" y="0"/>
                  </a:moveTo>
                  <a:lnTo>
                    <a:pt x="104171455" y="0"/>
                  </a:lnTo>
                  <a:lnTo>
                    <a:pt x="104171455" y="52747958"/>
                  </a:lnTo>
                  <a:lnTo>
                    <a:pt x="0" y="5274795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7" name="Freeform 7">
              <a:extLst>
                <a:ext uri="{FF2B5EF4-FFF2-40B4-BE49-F238E27FC236}">
                  <a16:creationId xmlns:a16="http://schemas.microsoft.com/office/drawing/2014/main" id="{59250F0A-F377-311C-443F-EC2213E4EED5}"/>
                </a:ext>
              </a:extLst>
            </p:cNvPr>
            <p:cNvSpPr/>
            <p:nvPr/>
          </p:nvSpPr>
          <p:spPr>
            <a:xfrm>
              <a:off x="0" y="0"/>
              <a:ext cx="104316225" cy="52892734"/>
            </a:xfrm>
            <a:custGeom>
              <a:avLst/>
              <a:gdLst/>
              <a:ahLst/>
              <a:cxnLst/>
              <a:rect l="l" t="t" r="r" b="b"/>
              <a:pathLst>
                <a:path w="104316225" h="52892734">
                  <a:moveTo>
                    <a:pt x="104171452" y="52747956"/>
                  </a:moveTo>
                  <a:lnTo>
                    <a:pt x="104316225" y="52747956"/>
                  </a:lnTo>
                  <a:lnTo>
                    <a:pt x="104316225" y="52892734"/>
                  </a:lnTo>
                  <a:lnTo>
                    <a:pt x="104171452" y="52892734"/>
                  </a:lnTo>
                  <a:lnTo>
                    <a:pt x="104171452" y="52747956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52747956"/>
                  </a:lnTo>
                  <a:lnTo>
                    <a:pt x="0" y="52747956"/>
                  </a:lnTo>
                  <a:lnTo>
                    <a:pt x="0" y="144780"/>
                  </a:lnTo>
                  <a:close/>
                  <a:moveTo>
                    <a:pt x="0" y="52747956"/>
                  </a:moveTo>
                  <a:lnTo>
                    <a:pt x="144780" y="52747956"/>
                  </a:lnTo>
                  <a:lnTo>
                    <a:pt x="144780" y="52892734"/>
                  </a:lnTo>
                  <a:lnTo>
                    <a:pt x="0" y="52892734"/>
                  </a:lnTo>
                  <a:lnTo>
                    <a:pt x="0" y="52747956"/>
                  </a:lnTo>
                  <a:close/>
                  <a:moveTo>
                    <a:pt x="104171452" y="144780"/>
                  </a:moveTo>
                  <a:lnTo>
                    <a:pt x="104316225" y="144780"/>
                  </a:lnTo>
                  <a:lnTo>
                    <a:pt x="104316225" y="52747956"/>
                  </a:lnTo>
                  <a:lnTo>
                    <a:pt x="104171452" y="52747956"/>
                  </a:lnTo>
                  <a:lnTo>
                    <a:pt x="104171452" y="144780"/>
                  </a:lnTo>
                  <a:close/>
                  <a:moveTo>
                    <a:pt x="144780" y="52747956"/>
                  </a:moveTo>
                  <a:lnTo>
                    <a:pt x="104171452" y="52747956"/>
                  </a:lnTo>
                  <a:lnTo>
                    <a:pt x="104171452" y="52892734"/>
                  </a:lnTo>
                  <a:lnTo>
                    <a:pt x="144780" y="52892734"/>
                  </a:lnTo>
                  <a:lnTo>
                    <a:pt x="144780" y="52747956"/>
                  </a:lnTo>
                  <a:close/>
                  <a:moveTo>
                    <a:pt x="104171452" y="0"/>
                  </a:moveTo>
                  <a:lnTo>
                    <a:pt x="104316225" y="0"/>
                  </a:lnTo>
                  <a:lnTo>
                    <a:pt x="104316225" y="144780"/>
                  </a:lnTo>
                  <a:lnTo>
                    <a:pt x="104171452" y="144780"/>
                  </a:lnTo>
                  <a:lnTo>
                    <a:pt x="104171452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104171452" y="0"/>
                  </a:lnTo>
                  <a:lnTo>
                    <a:pt x="104171452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17" name="AutoShape 5">
            <a:extLst>
              <a:ext uri="{FF2B5EF4-FFF2-40B4-BE49-F238E27FC236}">
                <a16:creationId xmlns:a16="http://schemas.microsoft.com/office/drawing/2014/main" id="{6E34A30A-2A2C-5DDB-F239-79B806858E7C}"/>
              </a:ext>
            </a:extLst>
          </p:cNvPr>
          <p:cNvSpPr/>
          <p:nvPr/>
        </p:nvSpPr>
        <p:spPr>
          <a:xfrm flipV="1">
            <a:off x="331640" y="1028700"/>
            <a:ext cx="17705529" cy="23813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Freeform 6">
            <a:extLst>
              <a:ext uri="{FF2B5EF4-FFF2-40B4-BE49-F238E27FC236}">
                <a16:creationId xmlns:a16="http://schemas.microsoft.com/office/drawing/2014/main" id="{1DDEFDBF-3D56-4F8B-44A5-E7CDDEE4CEAE}"/>
              </a:ext>
            </a:extLst>
          </p:cNvPr>
          <p:cNvSpPr/>
          <p:nvPr/>
        </p:nvSpPr>
        <p:spPr>
          <a:xfrm>
            <a:off x="834537" y="638681"/>
            <a:ext cx="605228" cy="122146"/>
          </a:xfrm>
          <a:custGeom>
            <a:avLst/>
            <a:gdLst/>
            <a:ahLst/>
            <a:cxnLst/>
            <a:rect l="l" t="t" r="r" b="b"/>
            <a:pathLst>
              <a:path w="605228" h="122146">
                <a:moveTo>
                  <a:pt x="0" y="0"/>
                </a:moveTo>
                <a:lnTo>
                  <a:pt x="605228" y="0"/>
                </a:lnTo>
                <a:lnTo>
                  <a:pt x="605228" y="122146"/>
                </a:lnTo>
                <a:lnTo>
                  <a:pt x="0" y="12214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47" name="TextBox 6">
            <a:extLst>
              <a:ext uri="{FF2B5EF4-FFF2-40B4-BE49-F238E27FC236}">
                <a16:creationId xmlns:a16="http://schemas.microsoft.com/office/drawing/2014/main" id="{214016E2-B781-AFC7-A79C-6ADD0F46F2AE}"/>
              </a:ext>
            </a:extLst>
          </p:cNvPr>
          <p:cNvSpPr txBox="1"/>
          <p:nvPr/>
        </p:nvSpPr>
        <p:spPr>
          <a:xfrm>
            <a:off x="834537" y="1569335"/>
            <a:ext cx="11056570" cy="8976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038"/>
              </a:lnSpc>
            </a:pPr>
            <a:r>
              <a:rPr lang="ko-KR" altLang="en-US" sz="7038" dirty="0">
                <a:solidFill>
                  <a:srgbClr val="282A29"/>
                </a:solidFill>
                <a:latin typeface="옛간판"/>
                <a:ea typeface="옛간판"/>
                <a:cs typeface="옛간판"/>
                <a:sym typeface="옛간판"/>
              </a:rPr>
              <a:t>시스템 아키텍처</a:t>
            </a:r>
            <a:endParaRPr lang="en-US" sz="7038" dirty="0">
              <a:solidFill>
                <a:srgbClr val="282A29"/>
              </a:solidFill>
              <a:latin typeface="옛간판"/>
              <a:ea typeface="옛간판"/>
              <a:cs typeface="옛간판"/>
              <a:sym typeface="옛간판"/>
            </a:endParaRP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E3BC544B-5FB1-B640-59AA-00603DDB81EB}"/>
              </a:ext>
            </a:extLst>
          </p:cNvPr>
          <p:cNvGrpSpPr/>
          <p:nvPr/>
        </p:nvGrpSpPr>
        <p:grpSpPr>
          <a:xfrm>
            <a:off x="7391400" y="3137429"/>
            <a:ext cx="9525000" cy="5892271"/>
            <a:chOff x="457200" y="1828800"/>
            <a:chExt cx="6858000" cy="4297680"/>
          </a:xfrm>
        </p:grpSpPr>
        <p:sp>
          <p:nvSpPr>
            <p:cNvPr id="3" name="Shape 4">
              <a:extLst>
                <a:ext uri="{FF2B5EF4-FFF2-40B4-BE49-F238E27FC236}">
                  <a16:creationId xmlns:a16="http://schemas.microsoft.com/office/drawing/2014/main" id="{94BDE557-3270-37C8-9FED-66FE596F7F42}"/>
                </a:ext>
              </a:extLst>
            </p:cNvPr>
            <p:cNvSpPr/>
            <p:nvPr/>
          </p:nvSpPr>
          <p:spPr>
            <a:xfrm>
              <a:off x="457200" y="1828800"/>
              <a:ext cx="6858000" cy="82296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5DBE5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Shape 5">
              <a:extLst>
                <a:ext uri="{FF2B5EF4-FFF2-40B4-BE49-F238E27FC236}">
                  <a16:creationId xmlns:a16="http://schemas.microsoft.com/office/drawing/2014/main" id="{C2858C68-3095-FF00-96D9-ABCFAA8B31DA}"/>
                </a:ext>
              </a:extLst>
            </p:cNvPr>
            <p:cNvSpPr/>
            <p:nvPr/>
          </p:nvSpPr>
          <p:spPr>
            <a:xfrm>
              <a:off x="457200" y="1828800"/>
              <a:ext cx="137160" cy="822960"/>
            </a:xfrm>
            <a:prstGeom prst="rect">
              <a:avLst/>
            </a:prstGeom>
            <a:solidFill>
              <a:srgbClr val="1E2761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" name="Shape 6">
              <a:extLst>
                <a:ext uri="{FF2B5EF4-FFF2-40B4-BE49-F238E27FC236}">
                  <a16:creationId xmlns:a16="http://schemas.microsoft.com/office/drawing/2014/main" id="{194AD518-6336-E70B-340F-EB814E868D24}"/>
                </a:ext>
              </a:extLst>
            </p:cNvPr>
            <p:cNvSpPr/>
            <p:nvPr/>
          </p:nvSpPr>
          <p:spPr>
            <a:xfrm>
              <a:off x="777240" y="1965960"/>
              <a:ext cx="548640" cy="548640"/>
            </a:xfrm>
            <a:prstGeom prst="rect">
              <a:avLst/>
            </a:prstGeom>
            <a:solidFill>
              <a:srgbClr val="E8F0FE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6" name="Image 0" descr="preencoded.png">
              <a:extLst>
                <a:ext uri="{FF2B5EF4-FFF2-40B4-BE49-F238E27FC236}">
                  <a16:creationId xmlns:a16="http://schemas.microsoft.com/office/drawing/2014/main" id="{161D0394-FDD4-1876-B5FA-6C822B580B9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68680" y="2057400"/>
              <a:ext cx="365760" cy="365760"/>
            </a:xfrm>
            <a:prstGeom prst="rect">
              <a:avLst/>
            </a:prstGeom>
          </p:spPr>
        </p:pic>
        <p:sp>
          <p:nvSpPr>
            <p:cNvPr id="7" name="Text 7">
              <a:extLst>
                <a:ext uri="{FF2B5EF4-FFF2-40B4-BE49-F238E27FC236}">
                  <a16:creationId xmlns:a16="http://schemas.microsoft.com/office/drawing/2014/main" id="{F68D7240-A846-876A-972F-9986CAB94B77}"/>
                </a:ext>
              </a:extLst>
            </p:cNvPr>
            <p:cNvSpPr/>
            <p:nvPr/>
          </p:nvSpPr>
          <p:spPr>
            <a:xfrm>
              <a:off x="1463040" y="1938528"/>
              <a:ext cx="365760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400" b="1" kern="0" spc="300" dirty="0">
                  <a:solidFill>
                    <a:srgbClr val="1E2761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CLIENT</a:t>
              </a:r>
              <a:endParaRPr lang="en-US" sz="2400" dirty="0"/>
            </a:p>
          </p:txBody>
        </p:sp>
        <p:sp>
          <p:nvSpPr>
            <p:cNvPr id="8" name="Text 8">
              <a:extLst>
                <a:ext uri="{FF2B5EF4-FFF2-40B4-BE49-F238E27FC236}">
                  <a16:creationId xmlns:a16="http://schemas.microsoft.com/office/drawing/2014/main" id="{73A513EA-C221-408C-877F-28BAA3978C01}"/>
                </a:ext>
              </a:extLst>
            </p:cNvPr>
            <p:cNvSpPr/>
            <p:nvPr/>
          </p:nvSpPr>
          <p:spPr>
            <a:xfrm>
              <a:off x="1463040" y="2286000"/>
              <a:ext cx="576072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100" dirty="0">
                  <a:solidFill>
                    <a:srgbClr val="5A647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React 18 · Recharts 3 · WebSocket</a:t>
              </a:r>
              <a:endParaRPr lang="en-US" sz="2100" dirty="0"/>
            </a:p>
          </p:txBody>
        </p:sp>
        <p:sp>
          <p:nvSpPr>
            <p:cNvPr id="9" name="Shape 9">
              <a:extLst>
                <a:ext uri="{FF2B5EF4-FFF2-40B4-BE49-F238E27FC236}">
                  <a16:creationId xmlns:a16="http://schemas.microsoft.com/office/drawing/2014/main" id="{6F0C964B-0892-E466-148C-EED52E6A555D}"/>
                </a:ext>
              </a:extLst>
            </p:cNvPr>
            <p:cNvSpPr/>
            <p:nvPr/>
          </p:nvSpPr>
          <p:spPr>
            <a:xfrm>
              <a:off x="3749040" y="2679192"/>
              <a:ext cx="91440" cy="45720"/>
            </a:xfrm>
            <a:prstGeom prst="rect">
              <a:avLst/>
            </a:prstGeom>
            <a:solidFill>
              <a:srgbClr val="5A6478">
                <a:alpha val="40000"/>
              </a:srgbClr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0" name="Shape 10">
              <a:extLst>
                <a:ext uri="{FF2B5EF4-FFF2-40B4-BE49-F238E27FC236}">
                  <a16:creationId xmlns:a16="http://schemas.microsoft.com/office/drawing/2014/main" id="{9ADCEA73-DBFF-DDC8-33FC-E2182698862D}"/>
                </a:ext>
              </a:extLst>
            </p:cNvPr>
            <p:cNvSpPr/>
            <p:nvPr/>
          </p:nvSpPr>
          <p:spPr>
            <a:xfrm>
              <a:off x="457200" y="2697480"/>
              <a:ext cx="6858000" cy="82296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5DBE5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1" name="Shape 11">
              <a:extLst>
                <a:ext uri="{FF2B5EF4-FFF2-40B4-BE49-F238E27FC236}">
                  <a16:creationId xmlns:a16="http://schemas.microsoft.com/office/drawing/2014/main" id="{17C47D29-D502-CFDD-2CBB-B0CE6E3DC85E}"/>
                </a:ext>
              </a:extLst>
            </p:cNvPr>
            <p:cNvSpPr/>
            <p:nvPr/>
          </p:nvSpPr>
          <p:spPr>
            <a:xfrm>
              <a:off x="457200" y="2697480"/>
              <a:ext cx="137160" cy="822960"/>
            </a:xfrm>
            <a:prstGeom prst="rect">
              <a:avLst/>
            </a:prstGeom>
            <a:solidFill>
              <a:srgbClr val="1E2761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2" name="Shape 12">
              <a:extLst>
                <a:ext uri="{FF2B5EF4-FFF2-40B4-BE49-F238E27FC236}">
                  <a16:creationId xmlns:a16="http://schemas.microsoft.com/office/drawing/2014/main" id="{66B42E34-CF08-0849-8736-61984D3F7610}"/>
                </a:ext>
              </a:extLst>
            </p:cNvPr>
            <p:cNvSpPr/>
            <p:nvPr/>
          </p:nvSpPr>
          <p:spPr>
            <a:xfrm>
              <a:off x="777240" y="2834640"/>
              <a:ext cx="548640" cy="548640"/>
            </a:xfrm>
            <a:prstGeom prst="rect">
              <a:avLst/>
            </a:prstGeom>
            <a:solidFill>
              <a:srgbClr val="E8F0FE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13" name="Image 1" descr="preencoded.png">
              <a:extLst>
                <a:ext uri="{FF2B5EF4-FFF2-40B4-BE49-F238E27FC236}">
                  <a16:creationId xmlns:a16="http://schemas.microsoft.com/office/drawing/2014/main" id="{B76E8008-BA91-6A8E-3F5C-D7E08ED4C74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68680" y="2926080"/>
              <a:ext cx="365760" cy="365760"/>
            </a:xfrm>
            <a:prstGeom prst="rect">
              <a:avLst/>
            </a:prstGeom>
          </p:spPr>
        </p:pic>
        <p:sp>
          <p:nvSpPr>
            <p:cNvPr id="19" name="Text 13">
              <a:extLst>
                <a:ext uri="{FF2B5EF4-FFF2-40B4-BE49-F238E27FC236}">
                  <a16:creationId xmlns:a16="http://schemas.microsoft.com/office/drawing/2014/main" id="{D7D93AA8-7D41-41F4-CC44-047FEF9B9DF8}"/>
                </a:ext>
              </a:extLst>
            </p:cNvPr>
            <p:cNvSpPr/>
            <p:nvPr/>
          </p:nvSpPr>
          <p:spPr>
            <a:xfrm>
              <a:off x="1463040" y="2807208"/>
              <a:ext cx="365760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400" b="1" kern="0" spc="300" dirty="0">
                  <a:solidFill>
                    <a:srgbClr val="1E2761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API GATEWAY</a:t>
              </a:r>
              <a:endParaRPr lang="en-US" sz="2400" dirty="0"/>
            </a:p>
          </p:txBody>
        </p:sp>
        <p:sp>
          <p:nvSpPr>
            <p:cNvPr id="20" name="Text 14">
              <a:extLst>
                <a:ext uri="{FF2B5EF4-FFF2-40B4-BE49-F238E27FC236}">
                  <a16:creationId xmlns:a16="http://schemas.microsoft.com/office/drawing/2014/main" id="{E9196730-B104-1EC9-FEB5-2379327E2735}"/>
                </a:ext>
              </a:extLst>
            </p:cNvPr>
            <p:cNvSpPr/>
            <p:nvPr/>
          </p:nvSpPr>
          <p:spPr>
            <a:xfrm>
              <a:off x="1463040" y="3154680"/>
              <a:ext cx="576072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100" dirty="0">
                  <a:solidFill>
                    <a:srgbClr val="5A647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Nginx 1.24 · TLS · Rate Limit</a:t>
              </a:r>
              <a:endParaRPr lang="en-US" sz="2100" dirty="0"/>
            </a:p>
          </p:txBody>
        </p:sp>
        <p:sp>
          <p:nvSpPr>
            <p:cNvPr id="21" name="Shape 15">
              <a:extLst>
                <a:ext uri="{FF2B5EF4-FFF2-40B4-BE49-F238E27FC236}">
                  <a16:creationId xmlns:a16="http://schemas.microsoft.com/office/drawing/2014/main" id="{4D8E9516-1C4F-5BE7-CBA4-FCFA75FB9109}"/>
                </a:ext>
              </a:extLst>
            </p:cNvPr>
            <p:cNvSpPr/>
            <p:nvPr/>
          </p:nvSpPr>
          <p:spPr>
            <a:xfrm>
              <a:off x="3749040" y="3547872"/>
              <a:ext cx="91440" cy="45720"/>
            </a:xfrm>
            <a:prstGeom prst="rect">
              <a:avLst/>
            </a:prstGeom>
            <a:solidFill>
              <a:srgbClr val="5A6478">
                <a:alpha val="40000"/>
              </a:srgbClr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2" name="Shape 16">
              <a:extLst>
                <a:ext uri="{FF2B5EF4-FFF2-40B4-BE49-F238E27FC236}">
                  <a16:creationId xmlns:a16="http://schemas.microsoft.com/office/drawing/2014/main" id="{E02520F3-463E-1BC9-6698-495EA7476591}"/>
                </a:ext>
              </a:extLst>
            </p:cNvPr>
            <p:cNvSpPr/>
            <p:nvPr/>
          </p:nvSpPr>
          <p:spPr>
            <a:xfrm>
              <a:off x="457200" y="3566160"/>
              <a:ext cx="6858000" cy="82296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5DBE5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3" name="Shape 17">
              <a:extLst>
                <a:ext uri="{FF2B5EF4-FFF2-40B4-BE49-F238E27FC236}">
                  <a16:creationId xmlns:a16="http://schemas.microsoft.com/office/drawing/2014/main" id="{07E7DF18-CB33-EA06-DECB-E41C0D6624BE}"/>
                </a:ext>
              </a:extLst>
            </p:cNvPr>
            <p:cNvSpPr/>
            <p:nvPr/>
          </p:nvSpPr>
          <p:spPr>
            <a:xfrm>
              <a:off x="457200" y="3566160"/>
              <a:ext cx="137160" cy="822960"/>
            </a:xfrm>
            <a:prstGeom prst="rect">
              <a:avLst/>
            </a:prstGeom>
            <a:solidFill>
              <a:srgbClr val="1E2761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4" name="Shape 18">
              <a:extLst>
                <a:ext uri="{FF2B5EF4-FFF2-40B4-BE49-F238E27FC236}">
                  <a16:creationId xmlns:a16="http://schemas.microsoft.com/office/drawing/2014/main" id="{D13DB1F8-899B-69FA-EC1E-57681FEB94FB}"/>
                </a:ext>
              </a:extLst>
            </p:cNvPr>
            <p:cNvSpPr/>
            <p:nvPr/>
          </p:nvSpPr>
          <p:spPr>
            <a:xfrm>
              <a:off x="777240" y="3703320"/>
              <a:ext cx="548640" cy="548640"/>
            </a:xfrm>
            <a:prstGeom prst="rect">
              <a:avLst/>
            </a:prstGeom>
            <a:solidFill>
              <a:srgbClr val="E8F0FE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25" name="Image 2" descr="preencoded.png">
              <a:extLst>
                <a:ext uri="{FF2B5EF4-FFF2-40B4-BE49-F238E27FC236}">
                  <a16:creationId xmlns:a16="http://schemas.microsoft.com/office/drawing/2014/main" id="{5E2D3982-7625-B79D-0C09-5D9BCF50977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68680" y="3794760"/>
              <a:ext cx="365760" cy="365760"/>
            </a:xfrm>
            <a:prstGeom prst="rect">
              <a:avLst/>
            </a:prstGeom>
          </p:spPr>
        </p:pic>
        <p:sp>
          <p:nvSpPr>
            <p:cNvPr id="26" name="Text 19">
              <a:extLst>
                <a:ext uri="{FF2B5EF4-FFF2-40B4-BE49-F238E27FC236}">
                  <a16:creationId xmlns:a16="http://schemas.microsoft.com/office/drawing/2014/main" id="{964AD4CF-D033-1B9B-E1AD-6E47BEC9C993}"/>
                </a:ext>
              </a:extLst>
            </p:cNvPr>
            <p:cNvSpPr/>
            <p:nvPr/>
          </p:nvSpPr>
          <p:spPr>
            <a:xfrm>
              <a:off x="1463040" y="3675888"/>
              <a:ext cx="365760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400" b="1" kern="0" spc="300" dirty="0">
                  <a:solidFill>
                    <a:srgbClr val="1E2761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BACKEND</a:t>
              </a:r>
              <a:endParaRPr lang="en-US" sz="2400" dirty="0"/>
            </a:p>
          </p:txBody>
        </p:sp>
        <p:sp>
          <p:nvSpPr>
            <p:cNvPr id="27" name="Text 20">
              <a:extLst>
                <a:ext uri="{FF2B5EF4-FFF2-40B4-BE49-F238E27FC236}">
                  <a16:creationId xmlns:a16="http://schemas.microsoft.com/office/drawing/2014/main" id="{2EB04134-41C8-9E15-084D-18BCEC85FF31}"/>
                </a:ext>
              </a:extLst>
            </p:cNvPr>
            <p:cNvSpPr/>
            <p:nvPr/>
          </p:nvSpPr>
          <p:spPr>
            <a:xfrm>
              <a:off x="1463040" y="4023360"/>
              <a:ext cx="576072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100" dirty="0">
                  <a:solidFill>
                    <a:srgbClr val="5A647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FastAPI · Uvicorn · Routers · JWT</a:t>
              </a:r>
              <a:endParaRPr lang="en-US" sz="2100" dirty="0"/>
            </a:p>
          </p:txBody>
        </p:sp>
        <p:sp>
          <p:nvSpPr>
            <p:cNvPr id="28" name="Shape 21">
              <a:extLst>
                <a:ext uri="{FF2B5EF4-FFF2-40B4-BE49-F238E27FC236}">
                  <a16:creationId xmlns:a16="http://schemas.microsoft.com/office/drawing/2014/main" id="{FEF00CB9-D782-42F0-96ED-6B4F441812FE}"/>
                </a:ext>
              </a:extLst>
            </p:cNvPr>
            <p:cNvSpPr/>
            <p:nvPr/>
          </p:nvSpPr>
          <p:spPr>
            <a:xfrm>
              <a:off x="3749040" y="4416552"/>
              <a:ext cx="91440" cy="45720"/>
            </a:xfrm>
            <a:prstGeom prst="rect">
              <a:avLst/>
            </a:prstGeom>
            <a:solidFill>
              <a:srgbClr val="5A6478">
                <a:alpha val="40000"/>
              </a:srgbClr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9" name="Shape 22">
              <a:extLst>
                <a:ext uri="{FF2B5EF4-FFF2-40B4-BE49-F238E27FC236}">
                  <a16:creationId xmlns:a16="http://schemas.microsoft.com/office/drawing/2014/main" id="{485AEBDB-534B-3FD5-D217-40F747D443F6}"/>
                </a:ext>
              </a:extLst>
            </p:cNvPr>
            <p:cNvSpPr/>
            <p:nvPr/>
          </p:nvSpPr>
          <p:spPr>
            <a:xfrm>
              <a:off x="457200" y="4434840"/>
              <a:ext cx="6858000" cy="82296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5DBE5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0" name="Shape 23">
              <a:extLst>
                <a:ext uri="{FF2B5EF4-FFF2-40B4-BE49-F238E27FC236}">
                  <a16:creationId xmlns:a16="http://schemas.microsoft.com/office/drawing/2014/main" id="{25C3E069-B3EB-EBA5-732A-C3247C9725C5}"/>
                </a:ext>
              </a:extLst>
            </p:cNvPr>
            <p:cNvSpPr/>
            <p:nvPr/>
          </p:nvSpPr>
          <p:spPr>
            <a:xfrm>
              <a:off x="457200" y="4434840"/>
              <a:ext cx="137160" cy="822960"/>
            </a:xfrm>
            <a:prstGeom prst="rect">
              <a:avLst/>
            </a:prstGeom>
            <a:solidFill>
              <a:srgbClr val="1E2761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1" name="Shape 24">
              <a:extLst>
                <a:ext uri="{FF2B5EF4-FFF2-40B4-BE49-F238E27FC236}">
                  <a16:creationId xmlns:a16="http://schemas.microsoft.com/office/drawing/2014/main" id="{42C8D585-5153-C82D-5CF9-A57DDE36D1C8}"/>
                </a:ext>
              </a:extLst>
            </p:cNvPr>
            <p:cNvSpPr/>
            <p:nvPr/>
          </p:nvSpPr>
          <p:spPr>
            <a:xfrm>
              <a:off x="777240" y="4572000"/>
              <a:ext cx="548640" cy="548640"/>
            </a:xfrm>
            <a:prstGeom prst="rect">
              <a:avLst/>
            </a:prstGeom>
            <a:solidFill>
              <a:srgbClr val="E8F0FE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32" name="Image 3" descr="preencoded.png">
              <a:extLst>
                <a:ext uri="{FF2B5EF4-FFF2-40B4-BE49-F238E27FC236}">
                  <a16:creationId xmlns:a16="http://schemas.microsoft.com/office/drawing/2014/main" id="{D7244BBF-AB1C-DA8F-D61D-E9ECD11B931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868680" y="4663440"/>
              <a:ext cx="365760" cy="365760"/>
            </a:xfrm>
            <a:prstGeom prst="rect">
              <a:avLst/>
            </a:prstGeom>
          </p:spPr>
        </p:pic>
        <p:sp>
          <p:nvSpPr>
            <p:cNvPr id="33" name="Text 25">
              <a:extLst>
                <a:ext uri="{FF2B5EF4-FFF2-40B4-BE49-F238E27FC236}">
                  <a16:creationId xmlns:a16="http://schemas.microsoft.com/office/drawing/2014/main" id="{8BBC1C18-F08D-FBE7-3230-F408B5308304}"/>
                </a:ext>
              </a:extLst>
            </p:cNvPr>
            <p:cNvSpPr/>
            <p:nvPr/>
          </p:nvSpPr>
          <p:spPr>
            <a:xfrm>
              <a:off x="1463040" y="4544568"/>
              <a:ext cx="365760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400" b="1" kern="0" spc="300" dirty="0">
                  <a:solidFill>
                    <a:srgbClr val="1E2761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DATA</a:t>
              </a:r>
              <a:endParaRPr lang="en-US" sz="2400" dirty="0"/>
            </a:p>
          </p:txBody>
        </p:sp>
        <p:sp>
          <p:nvSpPr>
            <p:cNvPr id="34" name="Text 26">
              <a:extLst>
                <a:ext uri="{FF2B5EF4-FFF2-40B4-BE49-F238E27FC236}">
                  <a16:creationId xmlns:a16="http://schemas.microsoft.com/office/drawing/2014/main" id="{11058C34-8EAB-87B8-1918-69BDEC1749B6}"/>
                </a:ext>
              </a:extLst>
            </p:cNvPr>
            <p:cNvSpPr/>
            <p:nvPr/>
          </p:nvSpPr>
          <p:spPr>
            <a:xfrm>
              <a:off x="1463040" y="4892040"/>
              <a:ext cx="576072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100" dirty="0">
                  <a:solidFill>
                    <a:srgbClr val="5A647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SQLite · </a:t>
              </a:r>
              <a:r>
                <a:rPr lang="en-US" sz="2100" dirty="0" err="1">
                  <a:solidFill>
                    <a:srgbClr val="5A647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SQLAlchemy</a:t>
              </a:r>
              <a:r>
                <a:rPr lang="en-US" sz="2100" dirty="0">
                  <a:solidFill>
                    <a:srgbClr val="5A647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2100">
                  <a:solidFill>
                    <a:srgbClr val="5A647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·</a:t>
              </a:r>
              <a:r>
                <a:rPr lang="ko-KR" altLang="en-US" sz="2100">
                  <a:solidFill>
                    <a:srgbClr val="5A647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스냅샷</a:t>
              </a:r>
              <a:endParaRPr lang="en-US" sz="2100" dirty="0"/>
            </a:p>
          </p:txBody>
        </p:sp>
        <p:sp>
          <p:nvSpPr>
            <p:cNvPr id="35" name="Shape 27">
              <a:extLst>
                <a:ext uri="{FF2B5EF4-FFF2-40B4-BE49-F238E27FC236}">
                  <a16:creationId xmlns:a16="http://schemas.microsoft.com/office/drawing/2014/main" id="{6382F907-C308-6D4D-D81E-F480688CE938}"/>
                </a:ext>
              </a:extLst>
            </p:cNvPr>
            <p:cNvSpPr/>
            <p:nvPr/>
          </p:nvSpPr>
          <p:spPr>
            <a:xfrm>
              <a:off x="3749040" y="5285232"/>
              <a:ext cx="91440" cy="45720"/>
            </a:xfrm>
            <a:prstGeom prst="rect">
              <a:avLst/>
            </a:prstGeom>
            <a:solidFill>
              <a:srgbClr val="5A6478">
                <a:alpha val="40000"/>
              </a:srgbClr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6" name="Shape 28">
              <a:extLst>
                <a:ext uri="{FF2B5EF4-FFF2-40B4-BE49-F238E27FC236}">
                  <a16:creationId xmlns:a16="http://schemas.microsoft.com/office/drawing/2014/main" id="{29A17502-7B84-0719-22B3-0AE247FD69C8}"/>
                </a:ext>
              </a:extLst>
            </p:cNvPr>
            <p:cNvSpPr/>
            <p:nvPr/>
          </p:nvSpPr>
          <p:spPr>
            <a:xfrm>
              <a:off x="457200" y="5303520"/>
              <a:ext cx="6858000" cy="82296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5DBE5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7" name="Shape 29">
              <a:extLst>
                <a:ext uri="{FF2B5EF4-FFF2-40B4-BE49-F238E27FC236}">
                  <a16:creationId xmlns:a16="http://schemas.microsoft.com/office/drawing/2014/main" id="{3C08EE2E-AD82-8923-9128-40F9CE4C1EC9}"/>
                </a:ext>
              </a:extLst>
            </p:cNvPr>
            <p:cNvSpPr/>
            <p:nvPr/>
          </p:nvSpPr>
          <p:spPr>
            <a:xfrm>
              <a:off x="457200" y="5303520"/>
              <a:ext cx="137160" cy="822960"/>
            </a:xfrm>
            <a:prstGeom prst="rect">
              <a:avLst/>
            </a:prstGeom>
            <a:solidFill>
              <a:srgbClr val="1E2761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8" name="Shape 30">
              <a:extLst>
                <a:ext uri="{FF2B5EF4-FFF2-40B4-BE49-F238E27FC236}">
                  <a16:creationId xmlns:a16="http://schemas.microsoft.com/office/drawing/2014/main" id="{AA8AFDD0-182D-14A9-54AC-E11337848658}"/>
                </a:ext>
              </a:extLst>
            </p:cNvPr>
            <p:cNvSpPr/>
            <p:nvPr/>
          </p:nvSpPr>
          <p:spPr>
            <a:xfrm>
              <a:off x="777240" y="5440680"/>
              <a:ext cx="548640" cy="548640"/>
            </a:xfrm>
            <a:prstGeom prst="rect">
              <a:avLst/>
            </a:prstGeom>
            <a:solidFill>
              <a:srgbClr val="E8F0FE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39" name="Image 4" descr="preencoded.png">
              <a:extLst>
                <a:ext uri="{FF2B5EF4-FFF2-40B4-BE49-F238E27FC236}">
                  <a16:creationId xmlns:a16="http://schemas.microsoft.com/office/drawing/2014/main" id="{1F5C9B2F-9DE7-EDB4-D1B0-05DA3BA4843E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868680" y="5532120"/>
              <a:ext cx="365760" cy="365760"/>
            </a:xfrm>
            <a:prstGeom prst="rect">
              <a:avLst/>
            </a:prstGeom>
          </p:spPr>
        </p:pic>
        <p:sp>
          <p:nvSpPr>
            <p:cNvPr id="40" name="Text 31">
              <a:extLst>
                <a:ext uri="{FF2B5EF4-FFF2-40B4-BE49-F238E27FC236}">
                  <a16:creationId xmlns:a16="http://schemas.microsoft.com/office/drawing/2014/main" id="{93E67227-84EB-B2CE-26AF-5AB347E7A8A2}"/>
                </a:ext>
              </a:extLst>
            </p:cNvPr>
            <p:cNvSpPr/>
            <p:nvPr/>
          </p:nvSpPr>
          <p:spPr>
            <a:xfrm>
              <a:off x="1463040" y="5413248"/>
              <a:ext cx="365760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400" b="1" kern="0" spc="300" dirty="0">
                  <a:solidFill>
                    <a:srgbClr val="1E2761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OS</a:t>
              </a:r>
              <a:endParaRPr lang="en-US" sz="2400" dirty="0"/>
            </a:p>
          </p:txBody>
        </p:sp>
        <p:sp>
          <p:nvSpPr>
            <p:cNvPr id="41" name="Text 32">
              <a:extLst>
                <a:ext uri="{FF2B5EF4-FFF2-40B4-BE49-F238E27FC236}">
                  <a16:creationId xmlns:a16="http://schemas.microsoft.com/office/drawing/2014/main" id="{D46E3E69-CDA2-A259-DE4C-24EB4778A3FA}"/>
                </a:ext>
              </a:extLst>
            </p:cNvPr>
            <p:cNvSpPr/>
            <p:nvPr/>
          </p:nvSpPr>
          <p:spPr>
            <a:xfrm>
              <a:off x="1463040" y="5760720"/>
              <a:ext cx="576072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100" dirty="0">
                  <a:solidFill>
                    <a:srgbClr val="5A647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Ubuntu 22.04 · /proc · /sys · psutil</a:t>
              </a:r>
              <a:endParaRPr lang="en-US" sz="2100" dirty="0"/>
            </a:p>
          </p:txBody>
        </p:sp>
      </p:grpSp>
      <p:grpSp>
        <p:nvGrpSpPr>
          <p:cNvPr id="53" name="그룹 52">
            <a:extLst>
              <a:ext uri="{FF2B5EF4-FFF2-40B4-BE49-F238E27FC236}">
                <a16:creationId xmlns:a16="http://schemas.microsoft.com/office/drawing/2014/main" id="{E7CC0CFB-B53F-0E40-BED1-D16F277A46AA}"/>
              </a:ext>
            </a:extLst>
          </p:cNvPr>
          <p:cNvGrpSpPr/>
          <p:nvPr/>
        </p:nvGrpSpPr>
        <p:grpSpPr>
          <a:xfrm>
            <a:off x="1069104" y="4613690"/>
            <a:ext cx="5264710" cy="1087140"/>
            <a:chOff x="1069104" y="4227097"/>
            <a:chExt cx="5264710" cy="1087140"/>
          </a:xfrm>
        </p:grpSpPr>
        <p:grpSp>
          <p:nvGrpSpPr>
            <p:cNvPr id="44" name="Group 8">
              <a:extLst>
                <a:ext uri="{FF2B5EF4-FFF2-40B4-BE49-F238E27FC236}">
                  <a16:creationId xmlns:a16="http://schemas.microsoft.com/office/drawing/2014/main" id="{5549B7EA-128F-B7E6-5FD2-6316AC03596B}"/>
                </a:ext>
              </a:extLst>
            </p:cNvPr>
            <p:cNvGrpSpPr/>
            <p:nvPr/>
          </p:nvGrpSpPr>
          <p:grpSpPr>
            <a:xfrm>
              <a:off x="1259604" y="4381500"/>
              <a:ext cx="5074210" cy="932737"/>
              <a:chOff x="0" y="0"/>
              <a:chExt cx="32612624" cy="5994823"/>
            </a:xfrm>
          </p:grpSpPr>
          <p:sp>
            <p:nvSpPr>
              <p:cNvPr id="45" name="Freeform 9">
                <a:extLst>
                  <a:ext uri="{FF2B5EF4-FFF2-40B4-BE49-F238E27FC236}">
                    <a16:creationId xmlns:a16="http://schemas.microsoft.com/office/drawing/2014/main" id="{96D93A95-71F5-0F03-8B5D-E27B6461A08E}"/>
                  </a:ext>
                </a:extLst>
              </p:cNvPr>
              <p:cNvSpPr/>
              <p:nvPr/>
            </p:nvSpPr>
            <p:spPr>
              <a:xfrm>
                <a:off x="72390" y="72390"/>
                <a:ext cx="32467844" cy="5850043"/>
              </a:xfrm>
              <a:custGeom>
                <a:avLst/>
                <a:gdLst/>
                <a:ahLst/>
                <a:cxnLst/>
                <a:rect l="l" t="t" r="r" b="b"/>
                <a:pathLst>
                  <a:path w="32467844" h="5850043">
                    <a:moveTo>
                      <a:pt x="0" y="0"/>
                    </a:moveTo>
                    <a:lnTo>
                      <a:pt x="32467844" y="0"/>
                    </a:lnTo>
                    <a:lnTo>
                      <a:pt x="32467844" y="5850043"/>
                    </a:lnTo>
                    <a:lnTo>
                      <a:pt x="0" y="585004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B4819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46" name="Freeform 10">
                <a:extLst>
                  <a:ext uri="{FF2B5EF4-FFF2-40B4-BE49-F238E27FC236}">
                    <a16:creationId xmlns:a16="http://schemas.microsoft.com/office/drawing/2014/main" id="{124CE037-AA28-3AF2-46A3-B0566560AF09}"/>
                  </a:ext>
                </a:extLst>
              </p:cNvPr>
              <p:cNvSpPr/>
              <p:nvPr/>
            </p:nvSpPr>
            <p:spPr>
              <a:xfrm>
                <a:off x="0" y="0"/>
                <a:ext cx="32612623" cy="5994823"/>
              </a:xfrm>
              <a:custGeom>
                <a:avLst/>
                <a:gdLst/>
                <a:ahLst/>
                <a:cxnLst/>
                <a:rect l="l" t="t" r="r" b="b"/>
                <a:pathLst>
                  <a:path w="32612623" h="5994823">
                    <a:moveTo>
                      <a:pt x="32467845" y="5850043"/>
                    </a:moveTo>
                    <a:lnTo>
                      <a:pt x="32612623" y="5850043"/>
                    </a:lnTo>
                    <a:lnTo>
                      <a:pt x="32612623" y="5994823"/>
                    </a:lnTo>
                    <a:lnTo>
                      <a:pt x="32467845" y="5994823"/>
                    </a:lnTo>
                    <a:lnTo>
                      <a:pt x="32467845" y="5850043"/>
                    </a:lnTo>
                    <a:close/>
                    <a:moveTo>
                      <a:pt x="0" y="144780"/>
                    </a:moveTo>
                    <a:lnTo>
                      <a:pt x="144780" y="144780"/>
                    </a:lnTo>
                    <a:lnTo>
                      <a:pt x="144780" y="5850043"/>
                    </a:lnTo>
                    <a:lnTo>
                      <a:pt x="0" y="5850043"/>
                    </a:lnTo>
                    <a:lnTo>
                      <a:pt x="0" y="144780"/>
                    </a:lnTo>
                    <a:close/>
                    <a:moveTo>
                      <a:pt x="0" y="5850043"/>
                    </a:moveTo>
                    <a:lnTo>
                      <a:pt x="144780" y="5850043"/>
                    </a:lnTo>
                    <a:lnTo>
                      <a:pt x="144780" y="5994823"/>
                    </a:lnTo>
                    <a:lnTo>
                      <a:pt x="0" y="5994823"/>
                    </a:lnTo>
                    <a:lnTo>
                      <a:pt x="0" y="5850043"/>
                    </a:lnTo>
                    <a:close/>
                    <a:moveTo>
                      <a:pt x="32467845" y="144780"/>
                    </a:moveTo>
                    <a:lnTo>
                      <a:pt x="32612623" y="144780"/>
                    </a:lnTo>
                    <a:lnTo>
                      <a:pt x="32612623" y="5850043"/>
                    </a:lnTo>
                    <a:lnTo>
                      <a:pt x="32467845" y="5850043"/>
                    </a:lnTo>
                    <a:lnTo>
                      <a:pt x="32467845" y="144780"/>
                    </a:lnTo>
                    <a:close/>
                    <a:moveTo>
                      <a:pt x="144780" y="5850043"/>
                    </a:moveTo>
                    <a:lnTo>
                      <a:pt x="32467845" y="5850043"/>
                    </a:lnTo>
                    <a:lnTo>
                      <a:pt x="32467845" y="5994823"/>
                    </a:lnTo>
                    <a:lnTo>
                      <a:pt x="144780" y="5994823"/>
                    </a:lnTo>
                    <a:lnTo>
                      <a:pt x="144780" y="5850043"/>
                    </a:lnTo>
                    <a:close/>
                    <a:moveTo>
                      <a:pt x="32467845" y="0"/>
                    </a:moveTo>
                    <a:lnTo>
                      <a:pt x="32612623" y="0"/>
                    </a:lnTo>
                    <a:lnTo>
                      <a:pt x="32612623" y="144780"/>
                    </a:lnTo>
                    <a:lnTo>
                      <a:pt x="32467845" y="144780"/>
                    </a:lnTo>
                    <a:lnTo>
                      <a:pt x="32467845" y="0"/>
                    </a:lnTo>
                    <a:close/>
                    <a:moveTo>
                      <a:pt x="0" y="0"/>
                    </a:moveTo>
                    <a:lnTo>
                      <a:pt x="144780" y="0"/>
                    </a:lnTo>
                    <a:lnTo>
                      <a:pt x="144780" y="144780"/>
                    </a:lnTo>
                    <a:lnTo>
                      <a:pt x="0" y="144780"/>
                    </a:lnTo>
                    <a:lnTo>
                      <a:pt x="0" y="0"/>
                    </a:lnTo>
                    <a:close/>
                    <a:moveTo>
                      <a:pt x="144780" y="0"/>
                    </a:moveTo>
                    <a:lnTo>
                      <a:pt x="32467845" y="0"/>
                    </a:lnTo>
                    <a:lnTo>
                      <a:pt x="32467845" y="144780"/>
                    </a:lnTo>
                    <a:lnTo>
                      <a:pt x="144780" y="144780"/>
                    </a:lnTo>
                    <a:lnTo>
                      <a:pt x="144780" y="0"/>
                    </a:lnTo>
                    <a:close/>
                  </a:path>
                </a:pathLst>
              </a:custGeom>
              <a:solidFill>
                <a:srgbClr val="9B4819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</p:grpSp>
        <p:grpSp>
          <p:nvGrpSpPr>
            <p:cNvPr id="48" name="Group 11">
              <a:extLst>
                <a:ext uri="{FF2B5EF4-FFF2-40B4-BE49-F238E27FC236}">
                  <a16:creationId xmlns:a16="http://schemas.microsoft.com/office/drawing/2014/main" id="{F30B6573-26F6-D410-2DBD-A8B31FEC4386}"/>
                </a:ext>
              </a:extLst>
            </p:cNvPr>
            <p:cNvGrpSpPr/>
            <p:nvPr/>
          </p:nvGrpSpPr>
          <p:grpSpPr>
            <a:xfrm>
              <a:off x="1069104" y="4227097"/>
              <a:ext cx="5074210" cy="940408"/>
              <a:chOff x="0" y="0"/>
              <a:chExt cx="32612624" cy="6044125"/>
            </a:xfrm>
          </p:grpSpPr>
          <p:sp>
            <p:nvSpPr>
              <p:cNvPr id="49" name="Freeform 12">
                <a:extLst>
                  <a:ext uri="{FF2B5EF4-FFF2-40B4-BE49-F238E27FC236}">
                    <a16:creationId xmlns:a16="http://schemas.microsoft.com/office/drawing/2014/main" id="{FD315B80-0C40-70F2-429B-385C49482907}"/>
                  </a:ext>
                </a:extLst>
              </p:cNvPr>
              <p:cNvSpPr/>
              <p:nvPr/>
            </p:nvSpPr>
            <p:spPr>
              <a:xfrm>
                <a:off x="72390" y="72390"/>
                <a:ext cx="32467844" cy="5899346"/>
              </a:xfrm>
              <a:custGeom>
                <a:avLst/>
                <a:gdLst/>
                <a:ahLst/>
                <a:cxnLst/>
                <a:rect l="l" t="t" r="r" b="b"/>
                <a:pathLst>
                  <a:path w="32467844" h="5899346">
                    <a:moveTo>
                      <a:pt x="0" y="0"/>
                    </a:moveTo>
                    <a:lnTo>
                      <a:pt x="32467844" y="0"/>
                    </a:lnTo>
                    <a:lnTo>
                      <a:pt x="32467844" y="5899346"/>
                    </a:lnTo>
                    <a:lnTo>
                      <a:pt x="0" y="589934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0" name="Freeform 13">
                <a:extLst>
                  <a:ext uri="{FF2B5EF4-FFF2-40B4-BE49-F238E27FC236}">
                    <a16:creationId xmlns:a16="http://schemas.microsoft.com/office/drawing/2014/main" id="{D0A58F3C-2E60-7D6B-CDD0-0062D2D855DE}"/>
                  </a:ext>
                </a:extLst>
              </p:cNvPr>
              <p:cNvSpPr/>
              <p:nvPr/>
            </p:nvSpPr>
            <p:spPr>
              <a:xfrm>
                <a:off x="0" y="0"/>
                <a:ext cx="32612623" cy="6044126"/>
              </a:xfrm>
              <a:custGeom>
                <a:avLst/>
                <a:gdLst/>
                <a:ahLst/>
                <a:cxnLst/>
                <a:rect l="l" t="t" r="r" b="b"/>
                <a:pathLst>
                  <a:path w="32612623" h="6044126">
                    <a:moveTo>
                      <a:pt x="32467845" y="5899346"/>
                    </a:moveTo>
                    <a:lnTo>
                      <a:pt x="32612623" y="5899346"/>
                    </a:lnTo>
                    <a:lnTo>
                      <a:pt x="32612623" y="6044126"/>
                    </a:lnTo>
                    <a:lnTo>
                      <a:pt x="32467845" y="6044126"/>
                    </a:lnTo>
                    <a:lnTo>
                      <a:pt x="32467845" y="5899346"/>
                    </a:lnTo>
                    <a:close/>
                    <a:moveTo>
                      <a:pt x="0" y="144780"/>
                    </a:moveTo>
                    <a:lnTo>
                      <a:pt x="144780" y="144780"/>
                    </a:lnTo>
                    <a:lnTo>
                      <a:pt x="144780" y="5899346"/>
                    </a:lnTo>
                    <a:lnTo>
                      <a:pt x="0" y="5899346"/>
                    </a:lnTo>
                    <a:lnTo>
                      <a:pt x="0" y="144780"/>
                    </a:lnTo>
                    <a:close/>
                    <a:moveTo>
                      <a:pt x="0" y="5899346"/>
                    </a:moveTo>
                    <a:lnTo>
                      <a:pt x="144780" y="5899346"/>
                    </a:lnTo>
                    <a:lnTo>
                      <a:pt x="144780" y="6044126"/>
                    </a:lnTo>
                    <a:lnTo>
                      <a:pt x="0" y="6044126"/>
                    </a:lnTo>
                    <a:lnTo>
                      <a:pt x="0" y="5899346"/>
                    </a:lnTo>
                    <a:close/>
                    <a:moveTo>
                      <a:pt x="32467845" y="144780"/>
                    </a:moveTo>
                    <a:lnTo>
                      <a:pt x="32612623" y="144780"/>
                    </a:lnTo>
                    <a:lnTo>
                      <a:pt x="32612623" y="5899346"/>
                    </a:lnTo>
                    <a:lnTo>
                      <a:pt x="32467845" y="5899346"/>
                    </a:lnTo>
                    <a:lnTo>
                      <a:pt x="32467845" y="144780"/>
                    </a:lnTo>
                    <a:close/>
                    <a:moveTo>
                      <a:pt x="144780" y="5899346"/>
                    </a:moveTo>
                    <a:lnTo>
                      <a:pt x="32467845" y="5899346"/>
                    </a:lnTo>
                    <a:lnTo>
                      <a:pt x="32467845" y="6044126"/>
                    </a:lnTo>
                    <a:lnTo>
                      <a:pt x="144780" y="6044126"/>
                    </a:lnTo>
                    <a:lnTo>
                      <a:pt x="144780" y="5899346"/>
                    </a:lnTo>
                    <a:close/>
                    <a:moveTo>
                      <a:pt x="32467845" y="0"/>
                    </a:moveTo>
                    <a:lnTo>
                      <a:pt x="32612623" y="0"/>
                    </a:lnTo>
                    <a:lnTo>
                      <a:pt x="32612623" y="144780"/>
                    </a:lnTo>
                    <a:lnTo>
                      <a:pt x="32467845" y="144780"/>
                    </a:lnTo>
                    <a:lnTo>
                      <a:pt x="32467845" y="0"/>
                    </a:lnTo>
                    <a:close/>
                    <a:moveTo>
                      <a:pt x="0" y="0"/>
                    </a:moveTo>
                    <a:lnTo>
                      <a:pt x="144780" y="0"/>
                    </a:lnTo>
                    <a:lnTo>
                      <a:pt x="144780" y="144780"/>
                    </a:lnTo>
                    <a:lnTo>
                      <a:pt x="0" y="144780"/>
                    </a:lnTo>
                    <a:lnTo>
                      <a:pt x="0" y="0"/>
                    </a:lnTo>
                    <a:close/>
                    <a:moveTo>
                      <a:pt x="144780" y="0"/>
                    </a:moveTo>
                    <a:lnTo>
                      <a:pt x="32467845" y="0"/>
                    </a:lnTo>
                    <a:lnTo>
                      <a:pt x="32467845" y="144780"/>
                    </a:lnTo>
                    <a:lnTo>
                      <a:pt x="144780" y="144780"/>
                    </a:lnTo>
                    <a:lnTo>
                      <a:pt x="144780" y="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</p:grpSp>
        <p:sp>
          <p:nvSpPr>
            <p:cNvPr id="51" name="TextBox 14">
              <a:extLst>
                <a:ext uri="{FF2B5EF4-FFF2-40B4-BE49-F238E27FC236}">
                  <a16:creationId xmlns:a16="http://schemas.microsoft.com/office/drawing/2014/main" id="{A9863CEC-8DA5-83D8-C2A5-DF4EB3584800}"/>
                </a:ext>
              </a:extLst>
            </p:cNvPr>
            <p:cNvSpPr txBox="1"/>
            <p:nvPr/>
          </p:nvSpPr>
          <p:spPr>
            <a:xfrm>
              <a:off x="1340170" y="4452826"/>
              <a:ext cx="4532078" cy="41447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99"/>
                </a:lnSpc>
              </a:pPr>
              <a:r>
                <a:rPr lang="en-US" sz="2499" dirty="0">
                  <a:solidFill>
                    <a:srgbClr val="000000"/>
                  </a:solidFill>
                  <a:latin typeface="옛간판"/>
                  <a:ea typeface="옛간판"/>
                  <a:cs typeface="옛간판"/>
                  <a:sym typeface="옛간판"/>
                </a:rPr>
                <a:t>5-Layer Architecture</a:t>
              </a:r>
            </a:p>
          </p:txBody>
        </p:sp>
      </p:grpSp>
      <p:sp>
        <p:nvSpPr>
          <p:cNvPr id="52" name="TextBox 29">
            <a:extLst>
              <a:ext uri="{FF2B5EF4-FFF2-40B4-BE49-F238E27FC236}">
                <a16:creationId xmlns:a16="http://schemas.microsoft.com/office/drawing/2014/main" id="{4A11730A-85CE-CD5D-9555-D0004A3399E5}"/>
              </a:ext>
            </a:extLst>
          </p:cNvPr>
          <p:cNvSpPr txBox="1"/>
          <p:nvPr/>
        </p:nvSpPr>
        <p:spPr>
          <a:xfrm>
            <a:off x="1605824" y="6178262"/>
            <a:ext cx="4261575" cy="8702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Aft>
                <a:spcPts val="400"/>
              </a:spcAft>
            </a:pPr>
            <a:r>
              <a:rPr lang="ko-KR" altLang="en-US" sz="2600" b="1" dirty="0">
                <a:solidFill>
                  <a:srgbClr val="1A1A2E"/>
                </a:solidFill>
                <a:latin typeface="Calibri" pitchFamily="34" charset="0"/>
                <a:cs typeface="Calibri" pitchFamily="34" charset="-120"/>
                <a:sym typeface="TDTD갬성명조"/>
              </a:rPr>
              <a:t>브라우저에서 </a:t>
            </a:r>
            <a:r>
              <a:rPr lang="en-US" altLang="ko-KR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TDTD갬성명조"/>
              </a:rPr>
              <a:t>OS</a:t>
            </a:r>
            <a:r>
              <a:rPr lang="ko-KR" altLang="en-US" sz="2600" b="1" dirty="0">
                <a:solidFill>
                  <a:srgbClr val="1A1A2E"/>
                </a:solidFill>
                <a:latin typeface="Calibri" pitchFamily="34" charset="0"/>
                <a:cs typeface="Calibri" pitchFamily="34" charset="-120"/>
                <a:sym typeface="TDTD갬성명조"/>
              </a:rPr>
              <a:t>통신까지</a:t>
            </a:r>
            <a:br>
              <a:rPr lang="en-US" altLang="ko-KR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TDTD갬성명조"/>
              </a:rPr>
            </a:br>
            <a:r>
              <a:rPr lang="en-US" altLang="ko-KR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TDTD갬성명조"/>
              </a:rPr>
              <a:t>5</a:t>
            </a:r>
            <a:r>
              <a:rPr lang="ko-KR" altLang="en-US" sz="2600" b="1" dirty="0">
                <a:solidFill>
                  <a:srgbClr val="1A1A2E"/>
                </a:solidFill>
                <a:latin typeface="Calibri" pitchFamily="34" charset="0"/>
                <a:cs typeface="Calibri" pitchFamily="34" charset="-120"/>
                <a:sym typeface="TDTD갬성명조"/>
              </a:rPr>
              <a:t>계층 종단간 통신</a:t>
            </a:r>
            <a:endParaRPr lang="en-US" sz="2600" b="1" dirty="0">
              <a:solidFill>
                <a:srgbClr val="1A1A2E"/>
              </a:solidFill>
              <a:latin typeface="Calibri" pitchFamily="34" charset="0"/>
              <a:ea typeface="Calibri" pitchFamily="34" charset="-122"/>
              <a:cs typeface="Calibri" pitchFamily="34" charset="-120"/>
              <a:sym typeface="TDTD갬성명조"/>
            </a:endParaRPr>
          </a:p>
        </p:txBody>
      </p:sp>
      <p:grpSp>
        <p:nvGrpSpPr>
          <p:cNvPr id="60" name="Group 2">
            <a:extLst>
              <a:ext uri="{FF2B5EF4-FFF2-40B4-BE49-F238E27FC236}">
                <a16:creationId xmlns:a16="http://schemas.microsoft.com/office/drawing/2014/main" id="{29158EF9-06DC-CA44-E93E-2FE7EADA9D1E}"/>
              </a:ext>
            </a:extLst>
          </p:cNvPr>
          <p:cNvGrpSpPr/>
          <p:nvPr/>
        </p:nvGrpSpPr>
        <p:grpSpPr>
          <a:xfrm>
            <a:off x="13892580" y="2281142"/>
            <a:ext cx="3426878" cy="761077"/>
            <a:chOff x="0" y="0"/>
            <a:chExt cx="104316230" cy="52892737"/>
          </a:xfrm>
        </p:grpSpPr>
        <p:sp>
          <p:nvSpPr>
            <p:cNvPr id="64" name="Freeform 3">
              <a:extLst>
                <a:ext uri="{FF2B5EF4-FFF2-40B4-BE49-F238E27FC236}">
                  <a16:creationId xmlns:a16="http://schemas.microsoft.com/office/drawing/2014/main" id="{70678ED0-0B8E-5CF6-4C29-85494CDE0CFF}"/>
                </a:ext>
              </a:extLst>
            </p:cNvPr>
            <p:cNvSpPr/>
            <p:nvPr/>
          </p:nvSpPr>
          <p:spPr>
            <a:xfrm>
              <a:off x="72390" y="72390"/>
              <a:ext cx="104171455" cy="52747958"/>
            </a:xfrm>
            <a:custGeom>
              <a:avLst/>
              <a:gdLst/>
              <a:ahLst/>
              <a:cxnLst/>
              <a:rect l="l" t="t" r="r" b="b"/>
              <a:pathLst>
                <a:path w="104171455" h="52747958">
                  <a:moveTo>
                    <a:pt x="0" y="0"/>
                  </a:moveTo>
                  <a:lnTo>
                    <a:pt x="104171455" y="0"/>
                  </a:lnTo>
                  <a:lnTo>
                    <a:pt x="104171455" y="52747958"/>
                  </a:lnTo>
                  <a:lnTo>
                    <a:pt x="0" y="5274795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5" name="Freeform 4">
              <a:extLst>
                <a:ext uri="{FF2B5EF4-FFF2-40B4-BE49-F238E27FC236}">
                  <a16:creationId xmlns:a16="http://schemas.microsoft.com/office/drawing/2014/main" id="{D10D176B-C780-58ED-B5FA-42C076EEBF47}"/>
                </a:ext>
              </a:extLst>
            </p:cNvPr>
            <p:cNvSpPr/>
            <p:nvPr/>
          </p:nvSpPr>
          <p:spPr>
            <a:xfrm>
              <a:off x="0" y="0"/>
              <a:ext cx="104316225" cy="52892734"/>
            </a:xfrm>
            <a:custGeom>
              <a:avLst/>
              <a:gdLst/>
              <a:ahLst/>
              <a:cxnLst/>
              <a:rect l="l" t="t" r="r" b="b"/>
              <a:pathLst>
                <a:path w="104316225" h="52892734">
                  <a:moveTo>
                    <a:pt x="104171452" y="52747956"/>
                  </a:moveTo>
                  <a:lnTo>
                    <a:pt x="104316225" y="52747956"/>
                  </a:lnTo>
                  <a:lnTo>
                    <a:pt x="104316225" y="52892734"/>
                  </a:lnTo>
                  <a:lnTo>
                    <a:pt x="104171452" y="52892734"/>
                  </a:lnTo>
                  <a:lnTo>
                    <a:pt x="104171452" y="52747956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52747956"/>
                  </a:lnTo>
                  <a:lnTo>
                    <a:pt x="0" y="52747956"/>
                  </a:lnTo>
                  <a:lnTo>
                    <a:pt x="0" y="144780"/>
                  </a:lnTo>
                  <a:close/>
                  <a:moveTo>
                    <a:pt x="0" y="52747956"/>
                  </a:moveTo>
                  <a:lnTo>
                    <a:pt x="144780" y="52747956"/>
                  </a:lnTo>
                  <a:lnTo>
                    <a:pt x="144780" y="52892734"/>
                  </a:lnTo>
                  <a:lnTo>
                    <a:pt x="0" y="52892734"/>
                  </a:lnTo>
                  <a:lnTo>
                    <a:pt x="0" y="52747956"/>
                  </a:lnTo>
                  <a:close/>
                  <a:moveTo>
                    <a:pt x="104171452" y="144780"/>
                  </a:moveTo>
                  <a:lnTo>
                    <a:pt x="104316225" y="144780"/>
                  </a:lnTo>
                  <a:lnTo>
                    <a:pt x="104316225" y="52747956"/>
                  </a:lnTo>
                  <a:lnTo>
                    <a:pt x="104171452" y="52747956"/>
                  </a:lnTo>
                  <a:lnTo>
                    <a:pt x="104171452" y="144780"/>
                  </a:lnTo>
                  <a:close/>
                  <a:moveTo>
                    <a:pt x="144780" y="52747956"/>
                  </a:moveTo>
                  <a:lnTo>
                    <a:pt x="104171452" y="52747956"/>
                  </a:lnTo>
                  <a:lnTo>
                    <a:pt x="104171452" y="52892734"/>
                  </a:lnTo>
                  <a:lnTo>
                    <a:pt x="144780" y="52892734"/>
                  </a:lnTo>
                  <a:lnTo>
                    <a:pt x="144780" y="52747956"/>
                  </a:lnTo>
                  <a:close/>
                  <a:moveTo>
                    <a:pt x="104171452" y="0"/>
                  </a:moveTo>
                  <a:lnTo>
                    <a:pt x="104316225" y="0"/>
                  </a:lnTo>
                  <a:lnTo>
                    <a:pt x="104316225" y="144780"/>
                  </a:lnTo>
                  <a:lnTo>
                    <a:pt x="104171452" y="144780"/>
                  </a:lnTo>
                  <a:lnTo>
                    <a:pt x="104171452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104171452" y="0"/>
                  </a:lnTo>
                  <a:lnTo>
                    <a:pt x="104171452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61" name="Group 5">
            <a:extLst>
              <a:ext uri="{FF2B5EF4-FFF2-40B4-BE49-F238E27FC236}">
                <a16:creationId xmlns:a16="http://schemas.microsoft.com/office/drawing/2014/main" id="{2B3D244B-A60E-9468-D997-064B3ECB5714}"/>
              </a:ext>
            </a:extLst>
          </p:cNvPr>
          <p:cNvGrpSpPr/>
          <p:nvPr/>
        </p:nvGrpSpPr>
        <p:grpSpPr>
          <a:xfrm>
            <a:off x="13852358" y="2264570"/>
            <a:ext cx="3426878" cy="715946"/>
            <a:chOff x="0" y="0"/>
            <a:chExt cx="104316230" cy="52892737"/>
          </a:xfrm>
        </p:grpSpPr>
        <p:sp>
          <p:nvSpPr>
            <p:cNvPr id="62" name="Freeform 6">
              <a:extLst>
                <a:ext uri="{FF2B5EF4-FFF2-40B4-BE49-F238E27FC236}">
                  <a16:creationId xmlns:a16="http://schemas.microsoft.com/office/drawing/2014/main" id="{2797A646-5BD0-8C72-47B9-BB0EA1C5BBD3}"/>
                </a:ext>
              </a:extLst>
            </p:cNvPr>
            <p:cNvSpPr/>
            <p:nvPr/>
          </p:nvSpPr>
          <p:spPr>
            <a:xfrm>
              <a:off x="72390" y="72390"/>
              <a:ext cx="104171455" cy="52747958"/>
            </a:xfrm>
            <a:custGeom>
              <a:avLst/>
              <a:gdLst/>
              <a:ahLst/>
              <a:cxnLst/>
              <a:rect l="l" t="t" r="r" b="b"/>
              <a:pathLst>
                <a:path w="104171455" h="52747958">
                  <a:moveTo>
                    <a:pt x="0" y="0"/>
                  </a:moveTo>
                  <a:lnTo>
                    <a:pt x="104171455" y="0"/>
                  </a:lnTo>
                  <a:lnTo>
                    <a:pt x="104171455" y="52747958"/>
                  </a:lnTo>
                  <a:lnTo>
                    <a:pt x="0" y="5274795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3" name="Freeform 7">
              <a:extLst>
                <a:ext uri="{FF2B5EF4-FFF2-40B4-BE49-F238E27FC236}">
                  <a16:creationId xmlns:a16="http://schemas.microsoft.com/office/drawing/2014/main" id="{BD15DA2C-89DD-A972-B10D-211099E6B135}"/>
                </a:ext>
              </a:extLst>
            </p:cNvPr>
            <p:cNvSpPr/>
            <p:nvPr/>
          </p:nvSpPr>
          <p:spPr>
            <a:xfrm>
              <a:off x="0" y="0"/>
              <a:ext cx="104316225" cy="52892734"/>
            </a:xfrm>
            <a:custGeom>
              <a:avLst/>
              <a:gdLst/>
              <a:ahLst/>
              <a:cxnLst/>
              <a:rect l="l" t="t" r="r" b="b"/>
              <a:pathLst>
                <a:path w="104316225" h="52892734">
                  <a:moveTo>
                    <a:pt x="104171452" y="52747956"/>
                  </a:moveTo>
                  <a:lnTo>
                    <a:pt x="104316225" y="52747956"/>
                  </a:lnTo>
                  <a:lnTo>
                    <a:pt x="104316225" y="52892734"/>
                  </a:lnTo>
                  <a:lnTo>
                    <a:pt x="104171452" y="52892734"/>
                  </a:lnTo>
                  <a:lnTo>
                    <a:pt x="104171452" y="52747956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52747956"/>
                  </a:lnTo>
                  <a:lnTo>
                    <a:pt x="0" y="52747956"/>
                  </a:lnTo>
                  <a:lnTo>
                    <a:pt x="0" y="144780"/>
                  </a:lnTo>
                  <a:close/>
                  <a:moveTo>
                    <a:pt x="0" y="52747956"/>
                  </a:moveTo>
                  <a:lnTo>
                    <a:pt x="144780" y="52747956"/>
                  </a:lnTo>
                  <a:lnTo>
                    <a:pt x="144780" y="52892734"/>
                  </a:lnTo>
                  <a:lnTo>
                    <a:pt x="0" y="52892734"/>
                  </a:lnTo>
                  <a:lnTo>
                    <a:pt x="0" y="52747956"/>
                  </a:lnTo>
                  <a:close/>
                  <a:moveTo>
                    <a:pt x="104171452" y="144780"/>
                  </a:moveTo>
                  <a:lnTo>
                    <a:pt x="104316225" y="144780"/>
                  </a:lnTo>
                  <a:lnTo>
                    <a:pt x="104316225" y="52747956"/>
                  </a:lnTo>
                  <a:lnTo>
                    <a:pt x="104171452" y="52747956"/>
                  </a:lnTo>
                  <a:lnTo>
                    <a:pt x="104171452" y="144780"/>
                  </a:lnTo>
                  <a:close/>
                  <a:moveTo>
                    <a:pt x="144780" y="52747956"/>
                  </a:moveTo>
                  <a:lnTo>
                    <a:pt x="104171452" y="52747956"/>
                  </a:lnTo>
                  <a:lnTo>
                    <a:pt x="104171452" y="52892734"/>
                  </a:lnTo>
                  <a:lnTo>
                    <a:pt x="144780" y="52892734"/>
                  </a:lnTo>
                  <a:lnTo>
                    <a:pt x="144780" y="52747956"/>
                  </a:lnTo>
                  <a:close/>
                  <a:moveTo>
                    <a:pt x="104171452" y="0"/>
                  </a:moveTo>
                  <a:lnTo>
                    <a:pt x="104316225" y="0"/>
                  </a:lnTo>
                  <a:lnTo>
                    <a:pt x="104316225" y="144780"/>
                  </a:lnTo>
                  <a:lnTo>
                    <a:pt x="104171452" y="144780"/>
                  </a:lnTo>
                  <a:lnTo>
                    <a:pt x="104171452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104171452" y="0"/>
                  </a:lnTo>
                  <a:lnTo>
                    <a:pt x="104171452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66" name="TextBox 14">
            <a:extLst>
              <a:ext uri="{FF2B5EF4-FFF2-40B4-BE49-F238E27FC236}">
                <a16:creationId xmlns:a16="http://schemas.microsoft.com/office/drawing/2014/main" id="{3BCE6B94-1371-1336-8591-0E52DFDC8E63}"/>
              </a:ext>
            </a:extLst>
          </p:cNvPr>
          <p:cNvSpPr txBox="1"/>
          <p:nvPr/>
        </p:nvSpPr>
        <p:spPr>
          <a:xfrm>
            <a:off x="14097000" y="2400300"/>
            <a:ext cx="3048000" cy="4144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dirty="0">
                <a:solidFill>
                  <a:srgbClr val="000000"/>
                </a:solidFill>
                <a:latin typeface="옛간판"/>
                <a:ea typeface="옛간판"/>
                <a:cs typeface="옛간판"/>
                <a:sym typeface="옛간판"/>
              </a:rPr>
              <a:t>AWS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A92D83-7D33-B9C1-5038-7BEC2AB0DB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그룹 9">
            <a:extLst>
              <a:ext uri="{FF2B5EF4-FFF2-40B4-BE49-F238E27FC236}">
                <a16:creationId xmlns:a16="http://schemas.microsoft.com/office/drawing/2014/main" id="{4DD67F2A-978B-3D98-3AC2-3D17AB07A727}"/>
              </a:ext>
            </a:extLst>
          </p:cNvPr>
          <p:cNvGrpSpPr/>
          <p:nvPr/>
        </p:nvGrpSpPr>
        <p:grpSpPr>
          <a:xfrm>
            <a:off x="1028700" y="1028700"/>
            <a:ext cx="16421100" cy="8420100"/>
            <a:chOff x="1028700" y="1028700"/>
            <a:chExt cx="16421100" cy="8420100"/>
          </a:xfrm>
        </p:grpSpPr>
        <p:grpSp>
          <p:nvGrpSpPr>
            <p:cNvPr id="2" name="Group 2">
              <a:extLst>
                <a:ext uri="{FF2B5EF4-FFF2-40B4-BE49-F238E27FC236}">
                  <a16:creationId xmlns:a16="http://schemas.microsoft.com/office/drawing/2014/main" id="{209E1D2A-5D55-B393-A393-5B85312F42AD}"/>
                </a:ext>
              </a:extLst>
            </p:cNvPr>
            <p:cNvGrpSpPr/>
            <p:nvPr/>
          </p:nvGrpSpPr>
          <p:grpSpPr>
            <a:xfrm>
              <a:off x="1219200" y="1219200"/>
              <a:ext cx="16230600" cy="8229600"/>
              <a:chOff x="0" y="0"/>
              <a:chExt cx="104316230" cy="52892737"/>
            </a:xfrm>
          </p:grpSpPr>
          <p:sp>
            <p:nvSpPr>
              <p:cNvPr id="3" name="Freeform 3">
                <a:extLst>
                  <a:ext uri="{FF2B5EF4-FFF2-40B4-BE49-F238E27FC236}">
                    <a16:creationId xmlns:a16="http://schemas.microsoft.com/office/drawing/2014/main" id="{61396527-ECEA-BF1A-9540-EF493EF15A4B}"/>
                  </a:ext>
                </a:extLst>
              </p:cNvPr>
              <p:cNvSpPr/>
              <p:nvPr/>
            </p:nvSpPr>
            <p:spPr>
              <a:xfrm>
                <a:off x="72390" y="72390"/>
                <a:ext cx="104171455" cy="52747958"/>
              </a:xfrm>
              <a:custGeom>
                <a:avLst/>
                <a:gdLst/>
                <a:ahLst/>
                <a:cxnLst/>
                <a:rect l="l" t="t" r="r" b="b"/>
                <a:pathLst>
                  <a:path w="104171455" h="52747958">
                    <a:moveTo>
                      <a:pt x="0" y="0"/>
                    </a:moveTo>
                    <a:lnTo>
                      <a:pt x="104171455" y="0"/>
                    </a:lnTo>
                    <a:lnTo>
                      <a:pt x="104171455" y="52747958"/>
                    </a:lnTo>
                    <a:lnTo>
                      <a:pt x="0" y="5274795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4" name="Freeform 4">
                <a:extLst>
                  <a:ext uri="{FF2B5EF4-FFF2-40B4-BE49-F238E27FC236}">
                    <a16:creationId xmlns:a16="http://schemas.microsoft.com/office/drawing/2014/main" id="{D9203273-D078-2CC5-5EC9-4F205679CF99}"/>
                  </a:ext>
                </a:extLst>
              </p:cNvPr>
              <p:cNvSpPr/>
              <p:nvPr/>
            </p:nvSpPr>
            <p:spPr>
              <a:xfrm>
                <a:off x="0" y="0"/>
                <a:ext cx="104316225" cy="52892734"/>
              </a:xfrm>
              <a:custGeom>
                <a:avLst/>
                <a:gdLst/>
                <a:ahLst/>
                <a:cxnLst/>
                <a:rect l="l" t="t" r="r" b="b"/>
                <a:pathLst>
                  <a:path w="104316225" h="52892734">
                    <a:moveTo>
                      <a:pt x="104171452" y="52747956"/>
                    </a:moveTo>
                    <a:lnTo>
                      <a:pt x="104316225" y="52747956"/>
                    </a:lnTo>
                    <a:lnTo>
                      <a:pt x="104316225" y="52892734"/>
                    </a:lnTo>
                    <a:lnTo>
                      <a:pt x="104171452" y="52892734"/>
                    </a:lnTo>
                    <a:lnTo>
                      <a:pt x="104171452" y="52747956"/>
                    </a:lnTo>
                    <a:close/>
                    <a:moveTo>
                      <a:pt x="0" y="144780"/>
                    </a:moveTo>
                    <a:lnTo>
                      <a:pt x="144780" y="144780"/>
                    </a:lnTo>
                    <a:lnTo>
                      <a:pt x="144780" y="52747956"/>
                    </a:lnTo>
                    <a:lnTo>
                      <a:pt x="0" y="52747956"/>
                    </a:lnTo>
                    <a:lnTo>
                      <a:pt x="0" y="144780"/>
                    </a:lnTo>
                    <a:close/>
                    <a:moveTo>
                      <a:pt x="0" y="52747956"/>
                    </a:moveTo>
                    <a:lnTo>
                      <a:pt x="144780" y="52747956"/>
                    </a:lnTo>
                    <a:lnTo>
                      <a:pt x="144780" y="52892734"/>
                    </a:lnTo>
                    <a:lnTo>
                      <a:pt x="0" y="52892734"/>
                    </a:lnTo>
                    <a:lnTo>
                      <a:pt x="0" y="52747956"/>
                    </a:lnTo>
                    <a:close/>
                    <a:moveTo>
                      <a:pt x="104171452" y="144780"/>
                    </a:moveTo>
                    <a:lnTo>
                      <a:pt x="104316225" y="144780"/>
                    </a:lnTo>
                    <a:lnTo>
                      <a:pt x="104316225" y="52747956"/>
                    </a:lnTo>
                    <a:lnTo>
                      <a:pt x="104171452" y="52747956"/>
                    </a:lnTo>
                    <a:lnTo>
                      <a:pt x="104171452" y="144780"/>
                    </a:lnTo>
                    <a:close/>
                    <a:moveTo>
                      <a:pt x="144780" y="52747956"/>
                    </a:moveTo>
                    <a:lnTo>
                      <a:pt x="104171452" y="52747956"/>
                    </a:lnTo>
                    <a:lnTo>
                      <a:pt x="104171452" y="52892734"/>
                    </a:lnTo>
                    <a:lnTo>
                      <a:pt x="144780" y="52892734"/>
                    </a:lnTo>
                    <a:lnTo>
                      <a:pt x="144780" y="52747956"/>
                    </a:lnTo>
                    <a:close/>
                    <a:moveTo>
                      <a:pt x="104171452" y="0"/>
                    </a:moveTo>
                    <a:lnTo>
                      <a:pt x="104316225" y="0"/>
                    </a:lnTo>
                    <a:lnTo>
                      <a:pt x="104316225" y="144780"/>
                    </a:lnTo>
                    <a:lnTo>
                      <a:pt x="104171452" y="144780"/>
                    </a:lnTo>
                    <a:lnTo>
                      <a:pt x="104171452" y="0"/>
                    </a:lnTo>
                    <a:close/>
                    <a:moveTo>
                      <a:pt x="0" y="0"/>
                    </a:moveTo>
                    <a:lnTo>
                      <a:pt x="144780" y="0"/>
                    </a:lnTo>
                    <a:lnTo>
                      <a:pt x="144780" y="144780"/>
                    </a:lnTo>
                    <a:lnTo>
                      <a:pt x="0" y="144780"/>
                    </a:lnTo>
                    <a:lnTo>
                      <a:pt x="0" y="0"/>
                    </a:lnTo>
                    <a:close/>
                    <a:moveTo>
                      <a:pt x="144780" y="0"/>
                    </a:moveTo>
                    <a:lnTo>
                      <a:pt x="104171452" y="0"/>
                    </a:lnTo>
                    <a:lnTo>
                      <a:pt x="104171452" y="144780"/>
                    </a:lnTo>
                    <a:lnTo>
                      <a:pt x="144780" y="144780"/>
                    </a:lnTo>
                    <a:lnTo>
                      <a:pt x="144780" y="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</p:grpSp>
        <p:grpSp>
          <p:nvGrpSpPr>
            <p:cNvPr id="5" name="Group 5">
              <a:extLst>
                <a:ext uri="{FF2B5EF4-FFF2-40B4-BE49-F238E27FC236}">
                  <a16:creationId xmlns:a16="http://schemas.microsoft.com/office/drawing/2014/main" id="{615873B0-5C82-F1B5-2FF1-4FC0342EB9E5}"/>
                </a:ext>
              </a:extLst>
            </p:cNvPr>
            <p:cNvGrpSpPr/>
            <p:nvPr/>
          </p:nvGrpSpPr>
          <p:grpSpPr>
            <a:xfrm>
              <a:off x="1028700" y="1028700"/>
              <a:ext cx="16230600" cy="8229600"/>
              <a:chOff x="0" y="0"/>
              <a:chExt cx="104316230" cy="52892737"/>
            </a:xfrm>
          </p:grpSpPr>
          <p:sp>
            <p:nvSpPr>
              <p:cNvPr id="6" name="Freeform 6">
                <a:extLst>
                  <a:ext uri="{FF2B5EF4-FFF2-40B4-BE49-F238E27FC236}">
                    <a16:creationId xmlns:a16="http://schemas.microsoft.com/office/drawing/2014/main" id="{49297913-B2F5-CB0B-7198-3288B703534C}"/>
                  </a:ext>
                </a:extLst>
              </p:cNvPr>
              <p:cNvSpPr/>
              <p:nvPr/>
            </p:nvSpPr>
            <p:spPr>
              <a:xfrm>
                <a:off x="72390" y="72390"/>
                <a:ext cx="104171455" cy="52747958"/>
              </a:xfrm>
              <a:custGeom>
                <a:avLst/>
                <a:gdLst/>
                <a:ahLst/>
                <a:cxnLst/>
                <a:rect l="l" t="t" r="r" b="b"/>
                <a:pathLst>
                  <a:path w="104171455" h="52747958">
                    <a:moveTo>
                      <a:pt x="0" y="0"/>
                    </a:moveTo>
                    <a:lnTo>
                      <a:pt x="104171455" y="0"/>
                    </a:lnTo>
                    <a:lnTo>
                      <a:pt x="104171455" y="52747958"/>
                    </a:lnTo>
                    <a:lnTo>
                      <a:pt x="0" y="5274795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7" name="Freeform 7">
                <a:extLst>
                  <a:ext uri="{FF2B5EF4-FFF2-40B4-BE49-F238E27FC236}">
                    <a16:creationId xmlns:a16="http://schemas.microsoft.com/office/drawing/2014/main" id="{2039BB42-BD2B-449C-A9ED-761D6DE9A409}"/>
                  </a:ext>
                </a:extLst>
              </p:cNvPr>
              <p:cNvSpPr/>
              <p:nvPr/>
            </p:nvSpPr>
            <p:spPr>
              <a:xfrm>
                <a:off x="0" y="0"/>
                <a:ext cx="104316225" cy="52892734"/>
              </a:xfrm>
              <a:custGeom>
                <a:avLst/>
                <a:gdLst/>
                <a:ahLst/>
                <a:cxnLst/>
                <a:rect l="l" t="t" r="r" b="b"/>
                <a:pathLst>
                  <a:path w="104316225" h="52892734">
                    <a:moveTo>
                      <a:pt x="104171452" y="52747956"/>
                    </a:moveTo>
                    <a:lnTo>
                      <a:pt x="104316225" y="52747956"/>
                    </a:lnTo>
                    <a:lnTo>
                      <a:pt x="104316225" y="52892734"/>
                    </a:lnTo>
                    <a:lnTo>
                      <a:pt x="104171452" y="52892734"/>
                    </a:lnTo>
                    <a:lnTo>
                      <a:pt x="104171452" y="52747956"/>
                    </a:lnTo>
                    <a:close/>
                    <a:moveTo>
                      <a:pt x="0" y="144780"/>
                    </a:moveTo>
                    <a:lnTo>
                      <a:pt x="144780" y="144780"/>
                    </a:lnTo>
                    <a:lnTo>
                      <a:pt x="144780" y="52747956"/>
                    </a:lnTo>
                    <a:lnTo>
                      <a:pt x="0" y="52747956"/>
                    </a:lnTo>
                    <a:lnTo>
                      <a:pt x="0" y="144780"/>
                    </a:lnTo>
                    <a:close/>
                    <a:moveTo>
                      <a:pt x="0" y="52747956"/>
                    </a:moveTo>
                    <a:lnTo>
                      <a:pt x="144780" y="52747956"/>
                    </a:lnTo>
                    <a:lnTo>
                      <a:pt x="144780" y="52892734"/>
                    </a:lnTo>
                    <a:lnTo>
                      <a:pt x="0" y="52892734"/>
                    </a:lnTo>
                    <a:lnTo>
                      <a:pt x="0" y="52747956"/>
                    </a:lnTo>
                    <a:close/>
                    <a:moveTo>
                      <a:pt x="104171452" y="144780"/>
                    </a:moveTo>
                    <a:lnTo>
                      <a:pt x="104316225" y="144780"/>
                    </a:lnTo>
                    <a:lnTo>
                      <a:pt x="104316225" y="52747956"/>
                    </a:lnTo>
                    <a:lnTo>
                      <a:pt x="104171452" y="52747956"/>
                    </a:lnTo>
                    <a:lnTo>
                      <a:pt x="104171452" y="144780"/>
                    </a:lnTo>
                    <a:close/>
                    <a:moveTo>
                      <a:pt x="144780" y="52747956"/>
                    </a:moveTo>
                    <a:lnTo>
                      <a:pt x="104171452" y="52747956"/>
                    </a:lnTo>
                    <a:lnTo>
                      <a:pt x="104171452" y="52892734"/>
                    </a:lnTo>
                    <a:lnTo>
                      <a:pt x="144780" y="52892734"/>
                    </a:lnTo>
                    <a:lnTo>
                      <a:pt x="144780" y="52747956"/>
                    </a:lnTo>
                    <a:close/>
                    <a:moveTo>
                      <a:pt x="104171452" y="0"/>
                    </a:moveTo>
                    <a:lnTo>
                      <a:pt x="104316225" y="0"/>
                    </a:lnTo>
                    <a:lnTo>
                      <a:pt x="104316225" y="144780"/>
                    </a:lnTo>
                    <a:lnTo>
                      <a:pt x="104171452" y="144780"/>
                    </a:lnTo>
                    <a:lnTo>
                      <a:pt x="104171452" y="0"/>
                    </a:lnTo>
                    <a:close/>
                    <a:moveTo>
                      <a:pt x="0" y="0"/>
                    </a:moveTo>
                    <a:lnTo>
                      <a:pt x="144780" y="0"/>
                    </a:lnTo>
                    <a:lnTo>
                      <a:pt x="144780" y="144780"/>
                    </a:lnTo>
                    <a:lnTo>
                      <a:pt x="0" y="144780"/>
                    </a:lnTo>
                    <a:lnTo>
                      <a:pt x="0" y="0"/>
                    </a:lnTo>
                    <a:close/>
                    <a:moveTo>
                      <a:pt x="144780" y="0"/>
                    </a:moveTo>
                    <a:lnTo>
                      <a:pt x="104171452" y="0"/>
                    </a:lnTo>
                    <a:lnTo>
                      <a:pt x="104171452" y="144780"/>
                    </a:lnTo>
                    <a:lnTo>
                      <a:pt x="144780" y="144780"/>
                    </a:lnTo>
                    <a:lnTo>
                      <a:pt x="144780" y="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</p:grpSp>
      </p:grpSp>
      <p:graphicFrame>
        <p:nvGraphicFramePr>
          <p:cNvPr id="18" name="Table 3">
            <a:extLst>
              <a:ext uri="{FF2B5EF4-FFF2-40B4-BE49-F238E27FC236}">
                <a16:creationId xmlns:a16="http://schemas.microsoft.com/office/drawing/2014/main" id="{C8B44118-9267-93FD-D572-6A13EF6F2F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8341697"/>
              </p:ext>
            </p:extLst>
          </p:nvPr>
        </p:nvGraphicFramePr>
        <p:xfrm>
          <a:off x="4027470" y="2966396"/>
          <a:ext cx="4876799" cy="528269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482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655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3967">
                <a:tc gridSpan="3">
                  <a:txBody>
                    <a:bodyPr/>
                    <a:lstStyle/>
                    <a:p>
                      <a:pPr algn="ctr"/>
                      <a:r>
                        <a:rPr sz="1600" b="1" dirty="0" err="1">
                          <a:solidFill>
                            <a:srgbClr val="FFFFFF"/>
                          </a:solidFill>
                          <a:latin typeface="맑은 고딕"/>
                        </a:rPr>
                        <a:t>monitor_snapshots</a:t>
                      </a:r>
                      <a:endParaRPr sz="1600" b="1" dirty="0">
                        <a:solidFill>
                          <a:srgbClr val="FFFFFF"/>
                        </a:solidFill>
                        <a:latin typeface="맑은 고딕"/>
                      </a:endParaRPr>
                    </a:p>
                  </a:txBody>
                  <a:tcPr marT="18288" marB="18288" anchor="ctr">
                    <a:solidFill>
                      <a:srgbClr val="1E276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8674">
                <a:tc>
                  <a:txBody>
                    <a:bodyPr/>
                    <a:lstStyle/>
                    <a:p>
                      <a:pPr algn="l"/>
                      <a:r>
                        <a:rPr sz="1600" b="1" dirty="0" err="1">
                          <a:solidFill>
                            <a:srgbClr val="FFFFFF"/>
                          </a:solidFill>
                          <a:latin typeface="맑은 고딕"/>
                        </a:rPr>
                        <a:t>컬럼</a:t>
                      </a:r>
                      <a:endParaRPr sz="1600" b="1" dirty="0">
                        <a:solidFill>
                          <a:srgbClr val="FFFFFF"/>
                        </a:solidFill>
                        <a:latin typeface="맑은 고딕"/>
                      </a:endParaRPr>
                    </a:p>
                  </a:txBody>
                  <a:tcPr marL="54864" marR="36576" marT="9144" marB="9144" anchor="ctr">
                    <a:solidFill>
                      <a:srgbClr val="9B481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dirty="0" err="1">
                          <a:solidFill>
                            <a:srgbClr val="FFFFFF"/>
                          </a:solidFill>
                          <a:latin typeface="맑은 고딕"/>
                        </a:rPr>
                        <a:t>타입</a:t>
                      </a:r>
                      <a:endParaRPr sz="1600" b="1" dirty="0">
                        <a:solidFill>
                          <a:srgbClr val="FFFFFF"/>
                        </a:solidFill>
                        <a:latin typeface="맑은 고딕"/>
                      </a:endParaRPr>
                    </a:p>
                  </a:txBody>
                  <a:tcPr marL="54864" marR="36576" marT="9144" marB="9144" anchor="ctr">
                    <a:solidFill>
                      <a:srgbClr val="9B481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dirty="0" err="1">
                          <a:solidFill>
                            <a:srgbClr val="FFFFFF"/>
                          </a:solidFill>
                          <a:latin typeface="맑은 고딕"/>
                        </a:rPr>
                        <a:t>제약</a:t>
                      </a:r>
                      <a:endParaRPr sz="1600" b="1" dirty="0">
                        <a:solidFill>
                          <a:srgbClr val="FFFFFF"/>
                        </a:solidFill>
                        <a:latin typeface="맑은 고딕"/>
                      </a:endParaRPr>
                    </a:p>
                  </a:txBody>
                  <a:tcPr marL="54864" marR="36576" marT="9144" marB="9144" anchor="ctr">
                    <a:solidFill>
                      <a:srgbClr val="9B481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8674">
                <a:tc>
                  <a:txBody>
                    <a:bodyPr/>
                    <a:lstStyle/>
                    <a:p>
                      <a:pPr algn="l"/>
                      <a:r>
                        <a:rPr sz="1600" b="1" dirty="0">
                          <a:solidFill>
                            <a:srgbClr val="9B4819"/>
                          </a:solidFill>
                          <a:latin typeface="맑은 고딕"/>
                        </a:rPr>
                        <a:t>🔑 id</a:t>
                      </a:r>
                    </a:p>
                  </a:txBody>
                  <a:tcPr marL="54864" marR="36576" marT="9144" marB="9144" anchor="ctr"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555555"/>
                          </a:solidFill>
                          <a:latin typeface="맑은 고딕"/>
                        </a:rPr>
                        <a:t>INTEGER</a:t>
                      </a:r>
                    </a:p>
                  </a:txBody>
                  <a:tcPr marL="54864" marR="36576" marT="9144" marB="9144" anchor="ctr"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555555"/>
                          </a:solidFill>
                          <a:latin typeface="맑은 고딕"/>
                        </a:rPr>
                        <a:t>PK</a:t>
                      </a:r>
                    </a:p>
                  </a:txBody>
                  <a:tcPr marL="54864" marR="36576" marT="9144" marB="9144" anchor="ctr">
                    <a:solidFill>
                      <a:srgbClr val="EEF1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8674">
                <a:tc>
                  <a:txBody>
                    <a:bodyPr/>
                    <a:lstStyle/>
                    <a:p>
                      <a:pPr algn="l"/>
                      <a:r>
                        <a:rPr sz="16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cpu_total</a:t>
                      </a:r>
                      <a:endParaRPr sz="1600" b="0" dirty="0">
                        <a:solidFill>
                          <a:srgbClr val="222222"/>
                        </a:solidFill>
                        <a:latin typeface="맑은 고딕"/>
                      </a:endParaRPr>
                    </a:p>
                  </a:txBody>
                  <a:tcPr marL="54864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555555"/>
                          </a:solidFill>
                          <a:latin typeface="맑은 고딕"/>
                        </a:rPr>
                        <a:t>FLOAT</a:t>
                      </a:r>
                    </a:p>
                  </a:txBody>
                  <a:tcPr marL="54864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555555"/>
                          </a:solidFill>
                          <a:latin typeface="맑은 고딕"/>
                        </a:rPr>
                        <a:t>NOT NULL</a:t>
                      </a:r>
                    </a:p>
                  </a:txBody>
                  <a:tcPr marL="54864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8674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22222"/>
                          </a:solidFill>
                          <a:latin typeface="맑은 고딕"/>
                        </a:rPr>
                        <a:t>cpu_per_core</a:t>
                      </a:r>
                    </a:p>
                  </a:txBody>
                  <a:tcPr marL="54864" marR="36576" marT="9144" marB="9144" anchor="ctr"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555555"/>
                          </a:solidFill>
                          <a:latin typeface="맑은 고딕"/>
                        </a:rPr>
                        <a:t>JSON</a:t>
                      </a:r>
                    </a:p>
                  </a:txBody>
                  <a:tcPr marL="54864" marR="36576" marT="9144" marB="9144" anchor="ctr"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555555"/>
                          </a:solidFill>
                          <a:latin typeface="맑은 고딕"/>
                        </a:rPr>
                        <a:t>NOT NULL</a:t>
                      </a:r>
                    </a:p>
                  </a:txBody>
                  <a:tcPr marL="54864" marR="36576" marT="9144" marB="9144" anchor="ctr">
                    <a:solidFill>
                      <a:srgbClr val="EEF1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8674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22222"/>
                          </a:solidFill>
                          <a:latin typeface="맑은 고딕"/>
                        </a:rPr>
                        <a:t>core_count</a:t>
                      </a:r>
                    </a:p>
                  </a:txBody>
                  <a:tcPr marL="54864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dirty="0">
                          <a:solidFill>
                            <a:srgbClr val="555555"/>
                          </a:solidFill>
                          <a:latin typeface="맑은 고딕"/>
                        </a:rPr>
                        <a:t>INTEGER</a:t>
                      </a:r>
                    </a:p>
                  </a:txBody>
                  <a:tcPr marL="54864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555555"/>
                          </a:solidFill>
                          <a:latin typeface="맑은 고딕"/>
                        </a:rPr>
                        <a:t>NOT NULL</a:t>
                      </a:r>
                    </a:p>
                  </a:txBody>
                  <a:tcPr marL="54864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8674">
                <a:tc>
                  <a:txBody>
                    <a:bodyPr/>
                    <a:lstStyle/>
                    <a:p>
                      <a:pPr algn="l"/>
                      <a:r>
                        <a:rPr sz="16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load_avg</a:t>
                      </a:r>
                      <a:endParaRPr sz="1600" b="0" dirty="0">
                        <a:solidFill>
                          <a:srgbClr val="222222"/>
                        </a:solidFill>
                        <a:latin typeface="맑은 고딕"/>
                      </a:endParaRPr>
                    </a:p>
                  </a:txBody>
                  <a:tcPr marL="54864" marR="36576" marT="9144" marB="9144" anchor="ctr"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555555"/>
                          </a:solidFill>
                          <a:latin typeface="맑은 고딕"/>
                        </a:rPr>
                        <a:t>JSON</a:t>
                      </a:r>
                    </a:p>
                  </a:txBody>
                  <a:tcPr marL="54864" marR="36576" marT="9144" marB="9144" anchor="ctr"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555555"/>
                          </a:solidFill>
                          <a:latin typeface="맑은 고딕"/>
                        </a:rPr>
                        <a:t>NOT NULL</a:t>
                      </a:r>
                    </a:p>
                  </a:txBody>
                  <a:tcPr marL="54864" marR="36576" marT="9144" marB="9144" anchor="ctr">
                    <a:solidFill>
                      <a:srgbClr val="EEF1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8674">
                <a:tc>
                  <a:txBody>
                    <a:bodyPr/>
                    <a:lstStyle/>
                    <a:p>
                      <a:pPr algn="l"/>
                      <a:r>
                        <a:rPr sz="16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mem_total_gb</a:t>
                      </a:r>
                      <a:endParaRPr sz="1600" b="0" dirty="0">
                        <a:solidFill>
                          <a:srgbClr val="222222"/>
                        </a:solidFill>
                        <a:latin typeface="맑은 고딕"/>
                      </a:endParaRPr>
                    </a:p>
                  </a:txBody>
                  <a:tcPr marL="54864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dirty="0">
                          <a:solidFill>
                            <a:srgbClr val="555555"/>
                          </a:solidFill>
                          <a:latin typeface="맑은 고딕"/>
                        </a:rPr>
                        <a:t>FLOAT</a:t>
                      </a:r>
                    </a:p>
                  </a:txBody>
                  <a:tcPr marL="54864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555555"/>
                          </a:solidFill>
                          <a:latin typeface="맑은 고딕"/>
                        </a:rPr>
                        <a:t>NOT NULL</a:t>
                      </a:r>
                    </a:p>
                  </a:txBody>
                  <a:tcPr marL="54864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8674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22222"/>
                          </a:solidFill>
                          <a:latin typeface="맑은 고딕"/>
                        </a:rPr>
                        <a:t>mem_used_gb</a:t>
                      </a:r>
                    </a:p>
                  </a:txBody>
                  <a:tcPr marL="54864" marR="36576" marT="9144" marB="9144" anchor="ctr"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555555"/>
                          </a:solidFill>
                          <a:latin typeface="맑은 고딕"/>
                        </a:rPr>
                        <a:t>FLOAT</a:t>
                      </a:r>
                    </a:p>
                  </a:txBody>
                  <a:tcPr marL="54864" marR="36576" marT="9144" marB="9144" anchor="ctr"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555555"/>
                          </a:solidFill>
                          <a:latin typeface="맑은 고딕"/>
                        </a:rPr>
                        <a:t>NOT NULL</a:t>
                      </a:r>
                    </a:p>
                  </a:txBody>
                  <a:tcPr marL="54864" marR="36576" marT="9144" marB="9144" anchor="ctr">
                    <a:solidFill>
                      <a:srgbClr val="EEF1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8674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22222"/>
                          </a:solidFill>
                          <a:latin typeface="맑은 고딕"/>
                        </a:rPr>
                        <a:t>mem_free_gb</a:t>
                      </a:r>
                    </a:p>
                  </a:txBody>
                  <a:tcPr marL="54864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555555"/>
                          </a:solidFill>
                          <a:latin typeface="맑은 고딕"/>
                        </a:rPr>
                        <a:t>FLOAT</a:t>
                      </a:r>
                    </a:p>
                  </a:txBody>
                  <a:tcPr marL="54864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555555"/>
                          </a:solidFill>
                          <a:latin typeface="맑은 고딕"/>
                        </a:rPr>
                        <a:t>NOT NULL</a:t>
                      </a:r>
                    </a:p>
                  </a:txBody>
                  <a:tcPr marL="54864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8674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22222"/>
                          </a:solidFill>
                          <a:latin typeface="맑은 고딕"/>
                        </a:rPr>
                        <a:t>mem_buffers_gb</a:t>
                      </a:r>
                    </a:p>
                  </a:txBody>
                  <a:tcPr marL="54864" marR="36576" marT="9144" marB="9144" anchor="ctr"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555555"/>
                          </a:solidFill>
                          <a:latin typeface="맑은 고딕"/>
                        </a:rPr>
                        <a:t>FLOAT</a:t>
                      </a:r>
                    </a:p>
                  </a:txBody>
                  <a:tcPr marL="54864" marR="36576" marT="9144" marB="9144" anchor="ctr"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555555"/>
                          </a:solidFill>
                          <a:latin typeface="맑은 고딕"/>
                        </a:rPr>
                        <a:t>NOT NULL</a:t>
                      </a:r>
                    </a:p>
                  </a:txBody>
                  <a:tcPr marL="54864" marR="36576" marT="9144" marB="9144" anchor="ctr">
                    <a:solidFill>
                      <a:srgbClr val="EEF1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28674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22222"/>
                          </a:solidFill>
                          <a:latin typeface="맑은 고딕"/>
                        </a:rPr>
                        <a:t>mem_cached_gb</a:t>
                      </a:r>
                    </a:p>
                  </a:txBody>
                  <a:tcPr marL="54864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555555"/>
                          </a:solidFill>
                          <a:latin typeface="맑은 고딕"/>
                        </a:rPr>
                        <a:t>FLOAT</a:t>
                      </a:r>
                    </a:p>
                  </a:txBody>
                  <a:tcPr marL="54864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555555"/>
                          </a:solidFill>
                          <a:latin typeface="맑은 고딕"/>
                        </a:rPr>
                        <a:t>NOT NULL</a:t>
                      </a:r>
                    </a:p>
                  </a:txBody>
                  <a:tcPr marL="54864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28674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22222"/>
                          </a:solidFill>
                          <a:latin typeface="맑은 고딕"/>
                        </a:rPr>
                        <a:t>mem_usage_pct</a:t>
                      </a:r>
                    </a:p>
                  </a:txBody>
                  <a:tcPr marL="54864" marR="36576" marT="9144" marB="9144" anchor="ctr"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555555"/>
                          </a:solidFill>
                          <a:latin typeface="맑은 고딕"/>
                        </a:rPr>
                        <a:t>FLOAT</a:t>
                      </a:r>
                    </a:p>
                  </a:txBody>
                  <a:tcPr marL="54864" marR="36576" marT="9144" marB="9144" anchor="ctr"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555555"/>
                          </a:solidFill>
                          <a:latin typeface="맑은 고딕"/>
                        </a:rPr>
                        <a:t>NOT NULL</a:t>
                      </a:r>
                    </a:p>
                  </a:txBody>
                  <a:tcPr marL="54864" marR="36576" marT="9144" marB="9144" anchor="ctr">
                    <a:solidFill>
                      <a:srgbClr val="EEF1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28674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22222"/>
                          </a:solidFill>
                          <a:latin typeface="맑은 고딕"/>
                        </a:rPr>
                        <a:t>top_processes</a:t>
                      </a:r>
                    </a:p>
                  </a:txBody>
                  <a:tcPr marL="54864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555555"/>
                          </a:solidFill>
                          <a:latin typeface="맑은 고딕"/>
                        </a:rPr>
                        <a:t>JSON</a:t>
                      </a:r>
                    </a:p>
                  </a:txBody>
                  <a:tcPr marL="54864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555555"/>
                          </a:solidFill>
                          <a:latin typeface="맑은 고딕"/>
                        </a:rPr>
                        <a:t>NOT NULL</a:t>
                      </a:r>
                    </a:p>
                  </a:txBody>
                  <a:tcPr marL="54864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28674">
                <a:tc>
                  <a:txBody>
                    <a:bodyPr/>
                    <a:lstStyle/>
                    <a:p>
                      <a:pPr algn="l"/>
                      <a:r>
                        <a:rPr sz="16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recorded_at</a:t>
                      </a:r>
                      <a:endParaRPr sz="1600" b="0" dirty="0">
                        <a:solidFill>
                          <a:srgbClr val="222222"/>
                        </a:solidFill>
                        <a:latin typeface="맑은 고딕"/>
                      </a:endParaRPr>
                    </a:p>
                  </a:txBody>
                  <a:tcPr marL="54864" marR="36576" marT="9144" marB="9144" anchor="ctr"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555555"/>
                          </a:solidFill>
                          <a:latin typeface="맑은 고딕"/>
                        </a:rPr>
                        <a:t>DATETIME</a:t>
                      </a:r>
                    </a:p>
                  </a:txBody>
                  <a:tcPr marL="54864" marR="36576" marT="9144" marB="9144" anchor="ctr"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dirty="0">
                          <a:solidFill>
                            <a:srgbClr val="555555"/>
                          </a:solidFill>
                          <a:latin typeface="맑은 고딕"/>
                        </a:rPr>
                        <a:t>NOT NULL·IDX</a:t>
                      </a:r>
                    </a:p>
                  </a:txBody>
                  <a:tcPr marL="54864" marR="36576" marT="9144" marB="9144" anchor="ctr">
                    <a:solidFill>
                      <a:srgbClr val="EEF1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graphicFrame>
        <p:nvGraphicFramePr>
          <p:cNvPr id="19" name="Table 4">
            <a:extLst>
              <a:ext uri="{FF2B5EF4-FFF2-40B4-BE49-F238E27FC236}">
                <a16:creationId xmlns:a16="http://schemas.microsoft.com/office/drawing/2014/main" id="{BEAB918A-7E18-87E8-A4E3-2EC89C7705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0414283"/>
              </p:ext>
            </p:extLst>
          </p:nvPr>
        </p:nvGraphicFramePr>
        <p:xfrm>
          <a:off x="10372827" y="2088890"/>
          <a:ext cx="4486173" cy="311887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841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58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561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4983">
                <a:tc gridSpan="3">
                  <a:txBody>
                    <a:bodyPr/>
                    <a:lstStyle/>
                    <a:p>
                      <a:pPr algn="ctr"/>
                      <a:r>
                        <a:rPr sz="1500" b="1" dirty="0" err="1">
                          <a:solidFill>
                            <a:srgbClr val="FFFFFF"/>
                          </a:solidFill>
                          <a:latin typeface="맑은 고딕"/>
                        </a:rPr>
                        <a:t>web_users</a:t>
                      </a:r>
                      <a:endParaRPr sz="1500" b="1" dirty="0">
                        <a:solidFill>
                          <a:srgbClr val="FFFFFF"/>
                        </a:solidFill>
                        <a:latin typeface="맑은 고딕"/>
                      </a:endParaRPr>
                    </a:p>
                  </a:txBody>
                  <a:tcPr marT="18288" marB="18288" anchor="ctr">
                    <a:solidFill>
                      <a:srgbClr val="1E276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9772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맑은 고딕"/>
                        </a:rPr>
                        <a:t>컬럼</a:t>
                      </a:r>
                    </a:p>
                  </a:txBody>
                  <a:tcPr marL="54864" marR="36576" marT="9144" marB="9144" anchor="ctr">
                    <a:solidFill>
                      <a:srgbClr val="9B481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dirty="0" err="1">
                          <a:solidFill>
                            <a:srgbClr val="FFFFFF"/>
                          </a:solidFill>
                          <a:latin typeface="맑은 고딕"/>
                        </a:rPr>
                        <a:t>타입</a:t>
                      </a:r>
                      <a:endParaRPr sz="1500" b="1" dirty="0">
                        <a:solidFill>
                          <a:srgbClr val="FFFFFF"/>
                        </a:solidFill>
                        <a:latin typeface="맑은 고딕"/>
                      </a:endParaRPr>
                    </a:p>
                  </a:txBody>
                  <a:tcPr marL="54864" marR="36576" marT="9144" marB="9144" anchor="ctr">
                    <a:solidFill>
                      <a:srgbClr val="9B481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맑은 고딕"/>
                        </a:rPr>
                        <a:t>제약</a:t>
                      </a:r>
                    </a:p>
                  </a:txBody>
                  <a:tcPr marL="54864" marR="36576" marT="9144" marB="9144" anchor="ctr">
                    <a:solidFill>
                      <a:srgbClr val="9B481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9772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9B4819"/>
                          </a:solidFill>
                          <a:latin typeface="맑은 고딕"/>
                        </a:rPr>
                        <a:t>🔑 id</a:t>
                      </a:r>
                    </a:p>
                  </a:txBody>
                  <a:tcPr marL="54864" marR="36576" marT="9144" marB="9144" anchor="ctr"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dirty="0">
                          <a:solidFill>
                            <a:srgbClr val="555555"/>
                          </a:solidFill>
                          <a:latin typeface="맑은 고딕"/>
                        </a:rPr>
                        <a:t>INTEGER</a:t>
                      </a:r>
                    </a:p>
                  </a:txBody>
                  <a:tcPr marL="54864" marR="36576" marT="9144" marB="9144" anchor="ctr"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555555"/>
                          </a:solidFill>
                          <a:latin typeface="맑은 고딕"/>
                        </a:rPr>
                        <a:t>PK</a:t>
                      </a:r>
                    </a:p>
                  </a:txBody>
                  <a:tcPr marL="54864" marR="36576" marT="9144" marB="9144" anchor="ctr">
                    <a:solidFill>
                      <a:srgbClr val="EEF1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9772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</a:rPr>
                        <a:t>★ login_id</a:t>
                      </a:r>
                    </a:p>
                  </a:txBody>
                  <a:tcPr marL="54864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555555"/>
                          </a:solidFill>
                          <a:latin typeface="맑은 고딕"/>
                        </a:rPr>
                        <a:t>VARCHAR(64)</a:t>
                      </a:r>
                    </a:p>
                  </a:txBody>
                  <a:tcPr marL="54864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555555"/>
                          </a:solidFill>
                          <a:latin typeface="맑은 고딕"/>
                        </a:rPr>
                        <a:t>UNIQUE·IDX</a:t>
                      </a:r>
                    </a:p>
                  </a:txBody>
                  <a:tcPr marL="54864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9772">
                <a:tc>
                  <a:txBody>
                    <a:bodyPr/>
                    <a:lstStyle/>
                    <a:p>
                      <a:pPr algn="l"/>
                      <a:r>
                        <a:rPr sz="15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hashed_password</a:t>
                      </a:r>
                      <a:endParaRPr sz="1500" b="0" dirty="0">
                        <a:solidFill>
                          <a:srgbClr val="222222"/>
                        </a:solidFill>
                        <a:latin typeface="맑은 고딕"/>
                      </a:endParaRPr>
                    </a:p>
                  </a:txBody>
                  <a:tcPr marL="54864" marR="36576" marT="9144" marB="9144" anchor="ctr"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555555"/>
                          </a:solidFill>
                          <a:latin typeface="맑은 고딕"/>
                        </a:rPr>
                        <a:t>VARCHAR(255)</a:t>
                      </a:r>
                    </a:p>
                  </a:txBody>
                  <a:tcPr marL="54864" marR="36576" marT="9144" marB="9144" anchor="ctr"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555555"/>
                          </a:solidFill>
                          <a:latin typeface="맑은 고딕"/>
                        </a:rPr>
                        <a:t>NOT NULL</a:t>
                      </a:r>
                    </a:p>
                  </a:txBody>
                  <a:tcPr marL="54864" marR="36576" marT="9144" marB="9144" anchor="ctr">
                    <a:solidFill>
                      <a:srgbClr val="EEF1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9772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</a:rPr>
                        <a:t>role</a:t>
                      </a:r>
                    </a:p>
                  </a:txBody>
                  <a:tcPr marL="54864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555555"/>
                          </a:solidFill>
                          <a:latin typeface="맑은 고딕"/>
                        </a:rPr>
                        <a:t>VARCHAR(16)</a:t>
                      </a:r>
                    </a:p>
                  </a:txBody>
                  <a:tcPr marL="54864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555555"/>
                          </a:solidFill>
                          <a:latin typeface="맑은 고딕"/>
                        </a:rPr>
                        <a:t>DEF 'viewer'</a:t>
                      </a:r>
                    </a:p>
                  </a:txBody>
                  <a:tcPr marL="54864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9772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</a:rPr>
                        <a:t>is_active</a:t>
                      </a:r>
                    </a:p>
                  </a:txBody>
                  <a:tcPr marL="54864" marR="36576" marT="9144" marB="9144" anchor="ctr"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555555"/>
                          </a:solidFill>
                          <a:latin typeface="맑은 고딕"/>
                        </a:rPr>
                        <a:t>BOOLEAN</a:t>
                      </a:r>
                    </a:p>
                  </a:txBody>
                  <a:tcPr marL="54864" marR="36576" marT="9144" marB="9144" anchor="ctr"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555555"/>
                          </a:solidFill>
                          <a:latin typeface="맑은 고딕"/>
                        </a:rPr>
                        <a:t>DEF true</a:t>
                      </a:r>
                    </a:p>
                  </a:txBody>
                  <a:tcPr marL="54864" marR="36576" marT="9144" marB="9144" anchor="ctr">
                    <a:solidFill>
                      <a:srgbClr val="EEF1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9772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</a:rPr>
                        <a:t>created_at</a:t>
                      </a:r>
                    </a:p>
                  </a:txBody>
                  <a:tcPr marL="54864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555555"/>
                          </a:solidFill>
                          <a:latin typeface="맑은 고딕"/>
                        </a:rPr>
                        <a:t>DATETIME</a:t>
                      </a:r>
                    </a:p>
                  </a:txBody>
                  <a:tcPr marL="54864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555555"/>
                          </a:solidFill>
                          <a:latin typeface="맑은 고딕"/>
                        </a:rPr>
                        <a:t>DEF now()</a:t>
                      </a:r>
                    </a:p>
                  </a:txBody>
                  <a:tcPr marL="54864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9772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</a:rPr>
                        <a:t>created_by</a:t>
                      </a:r>
                    </a:p>
                  </a:txBody>
                  <a:tcPr marL="54864" marR="36576" marT="9144" marB="9144" anchor="ctr"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555555"/>
                          </a:solidFill>
                          <a:latin typeface="맑은 고딕"/>
                        </a:rPr>
                        <a:t>VARCHAR(64)</a:t>
                      </a:r>
                    </a:p>
                  </a:txBody>
                  <a:tcPr marL="54864" marR="36576" marT="9144" marB="9144" anchor="ctr"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dirty="0">
                          <a:solidFill>
                            <a:srgbClr val="555555"/>
                          </a:solidFill>
                          <a:latin typeface="맑은 고딕"/>
                        </a:rPr>
                        <a:t>NULL</a:t>
                      </a:r>
                    </a:p>
                  </a:txBody>
                  <a:tcPr marL="54864" marR="36576" marT="9144" marB="9144" anchor="ctr">
                    <a:solidFill>
                      <a:srgbClr val="EEF1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20" name="Table 5">
            <a:extLst>
              <a:ext uri="{FF2B5EF4-FFF2-40B4-BE49-F238E27FC236}">
                <a16:creationId xmlns:a16="http://schemas.microsoft.com/office/drawing/2014/main" id="{29454903-BDE5-9A84-9B65-E5EE0B7CBB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6713318"/>
              </p:ext>
            </p:extLst>
          </p:nvPr>
        </p:nvGraphicFramePr>
        <p:xfrm>
          <a:off x="10386959" y="6284112"/>
          <a:ext cx="4876793" cy="261518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482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655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2294">
                <a:tc gridSpan="3">
                  <a:txBody>
                    <a:bodyPr/>
                    <a:lstStyle/>
                    <a:p>
                      <a:pPr algn="ctr"/>
                      <a:r>
                        <a:rPr sz="1500" b="1" dirty="0" err="1">
                          <a:solidFill>
                            <a:srgbClr val="FFFFFF"/>
                          </a:solidFill>
                          <a:latin typeface="맑은 고딕"/>
                        </a:rPr>
                        <a:t>login_logs</a:t>
                      </a:r>
                      <a:endParaRPr sz="1500" b="1" dirty="0">
                        <a:solidFill>
                          <a:srgbClr val="FFFFFF"/>
                        </a:solidFill>
                        <a:latin typeface="맑은 고딕"/>
                      </a:endParaRPr>
                    </a:p>
                  </a:txBody>
                  <a:tcPr marT="18288" marB="18288" anchor="ctr">
                    <a:solidFill>
                      <a:srgbClr val="1E276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148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맑은 고딕"/>
                        </a:rPr>
                        <a:t>컬럼</a:t>
                      </a:r>
                    </a:p>
                  </a:txBody>
                  <a:tcPr marL="54864" marR="36576" marT="9144" marB="9144" anchor="ctr">
                    <a:solidFill>
                      <a:srgbClr val="9B481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맑은 고딕"/>
                        </a:rPr>
                        <a:t>타입</a:t>
                      </a:r>
                    </a:p>
                  </a:txBody>
                  <a:tcPr marL="54864" marR="36576" marT="9144" marB="9144" anchor="ctr">
                    <a:solidFill>
                      <a:srgbClr val="9B481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맑은 고딕"/>
                        </a:rPr>
                        <a:t>제약</a:t>
                      </a:r>
                    </a:p>
                  </a:txBody>
                  <a:tcPr marL="54864" marR="36576" marT="9144" marB="9144" anchor="ctr">
                    <a:solidFill>
                      <a:srgbClr val="9B481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148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9B4819"/>
                          </a:solidFill>
                          <a:latin typeface="맑은 고딕"/>
                        </a:rPr>
                        <a:t>🔑 id</a:t>
                      </a:r>
                    </a:p>
                  </a:txBody>
                  <a:tcPr marL="54864" marR="36576" marT="9144" marB="9144" anchor="ctr"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555555"/>
                          </a:solidFill>
                          <a:latin typeface="맑은 고딕"/>
                        </a:rPr>
                        <a:t>INTEGER</a:t>
                      </a:r>
                    </a:p>
                  </a:txBody>
                  <a:tcPr marL="54864" marR="36576" marT="9144" marB="9144" anchor="ctr"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555555"/>
                          </a:solidFill>
                          <a:latin typeface="맑은 고딕"/>
                        </a:rPr>
                        <a:t>PK</a:t>
                      </a:r>
                    </a:p>
                  </a:txBody>
                  <a:tcPr marL="54864" marR="36576" marT="9144" marB="9144" anchor="ctr">
                    <a:solidFill>
                      <a:srgbClr val="EEF1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148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</a:rPr>
                        <a:t>🔗 login_id</a:t>
                      </a:r>
                    </a:p>
                  </a:txBody>
                  <a:tcPr marL="54864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dirty="0">
                          <a:solidFill>
                            <a:srgbClr val="555555"/>
                          </a:solidFill>
                          <a:latin typeface="맑은 고딕"/>
                        </a:rPr>
                        <a:t>VARCHAR(64)</a:t>
                      </a:r>
                    </a:p>
                  </a:txBody>
                  <a:tcPr marL="54864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555555"/>
                          </a:solidFill>
                          <a:latin typeface="맑은 고딕"/>
                        </a:rPr>
                        <a:t>NOT NULL·IDX</a:t>
                      </a:r>
                    </a:p>
                  </a:txBody>
                  <a:tcPr marL="54864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148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</a:rPr>
                        <a:t>role</a:t>
                      </a:r>
                    </a:p>
                  </a:txBody>
                  <a:tcPr marL="54864" marR="36576" marT="9144" marB="9144" anchor="ctr"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555555"/>
                          </a:solidFill>
                          <a:latin typeface="맑은 고딕"/>
                        </a:rPr>
                        <a:t>VARCHAR(16)</a:t>
                      </a:r>
                    </a:p>
                  </a:txBody>
                  <a:tcPr marL="54864" marR="36576" marT="9144" marB="9144" anchor="ctr"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555555"/>
                          </a:solidFill>
                          <a:latin typeface="맑은 고딕"/>
                        </a:rPr>
                        <a:t>NOT NULL</a:t>
                      </a:r>
                    </a:p>
                  </a:txBody>
                  <a:tcPr marL="54864" marR="36576" marT="9144" marB="9144" anchor="ctr">
                    <a:solidFill>
                      <a:srgbClr val="EEF1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148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</a:rPr>
                        <a:t>ip_address</a:t>
                      </a:r>
                    </a:p>
                  </a:txBody>
                  <a:tcPr marL="54864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555555"/>
                          </a:solidFill>
                          <a:latin typeface="맑은 고딕"/>
                        </a:rPr>
                        <a:t>VARCHAR(64)</a:t>
                      </a:r>
                    </a:p>
                  </a:txBody>
                  <a:tcPr marL="54864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555555"/>
                          </a:solidFill>
                          <a:latin typeface="맑은 고딕"/>
                        </a:rPr>
                        <a:t>NULL</a:t>
                      </a:r>
                    </a:p>
                  </a:txBody>
                  <a:tcPr marL="54864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148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</a:rPr>
                        <a:t>created_at</a:t>
                      </a:r>
                    </a:p>
                  </a:txBody>
                  <a:tcPr marL="54864" marR="36576" marT="9144" marB="9144" anchor="ctr"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555555"/>
                          </a:solidFill>
                          <a:latin typeface="맑은 고딕"/>
                        </a:rPr>
                        <a:t>DATETIME</a:t>
                      </a:r>
                    </a:p>
                  </a:txBody>
                  <a:tcPr marL="54864" marR="36576" marT="9144" marB="9144" anchor="ctr"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dirty="0">
                          <a:solidFill>
                            <a:srgbClr val="555555"/>
                          </a:solidFill>
                          <a:latin typeface="맑은 고딕"/>
                        </a:rPr>
                        <a:t>NOT NULL·IDX</a:t>
                      </a:r>
                    </a:p>
                  </a:txBody>
                  <a:tcPr marL="54864" marR="36576" marT="9144" marB="9144" anchor="ctr">
                    <a:solidFill>
                      <a:srgbClr val="EEF1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cxnSp>
        <p:nvCxnSpPr>
          <p:cNvPr id="21" name="Connector 6">
            <a:extLst>
              <a:ext uri="{FF2B5EF4-FFF2-40B4-BE49-F238E27FC236}">
                <a16:creationId xmlns:a16="http://schemas.microsoft.com/office/drawing/2014/main" id="{86A5B92B-5103-8BD0-1815-40FC37A9359D}"/>
              </a:ext>
            </a:extLst>
          </p:cNvPr>
          <p:cNvCxnSpPr>
            <a:cxnSpLocks/>
          </p:cNvCxnSpPr>
          <p:nvPr/>
        </p:nvCxnSpPr>
        <p:spPr>
          <a:xfrm>
            <a:off x="12398640" y="5232552"/>
            <a:ext cx="0" cy="1051560"/>
          </a:xfrm>
          <a:prstGeom prst="line">
            <a:avLst/>
          </a:prstGeom>
          <a:ln w="22225">
            <a:solidFill>
              <a:srgbClr val="9B4819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D0AC9510-35FB-1ACE-C088-290295D38360}"/>
              </a:ext>
            </a:extLst>
          </p:cNvPr>
          <p:cNvSpPr txBox="1"/>
          <p:nvPr/>
        </p:nvSpPr>
        <p:spPr>
          <a:xfrm>
            <a:off x="12557825" y="5617889"/>
            <a:ext cx="2453635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dirty="0">
                <a:solidFill>
                  <a:srgbClr val="9B4819"/>
                </a:solidFill>
                <a:latin typeface="맑은 고딕"/>
              </a:rPr>
              <a:t>1 : N  (</a:t>
            </a:r>
            <a:r>
              <a:rPr sz="1500" b="1" dirty="0" err="1">
                <a:solidFill>
                  <a:srgbClr val="9B4819"/>
                </a:solidFill>
                <a:latin typeface="맑은 고딕"/>
              </a:rPr>
              <a:t>login_id</a:t>
            </a:r>
            <a:r>
              <a:rPr sz="1500" b="1" dirty="0">
                <a:solidFill>
                  <a:srgbClr val="9B4819"/>
                </a:solidFill>
                <a:latin typeface="맑은 고딕"/>
              </a:rPr>
              <a:t>)</a:t>
            </a:r>
          </a:p>
        </p:txBody>
      </p:sp>
      <p:sp>
        <p:nvSpPr>
          <p:cNvPr id="27" name="TextBox 6">
            <a:extLst>
              <a:ext uri="{FF2B5EF4-FFF2-40B4-BE49-F238E27FC236}">
                <a16:creationId xmlns:a16="http://schemas.microsoft.com/office/drawing/2014/main" id="{BBB85ED4-E981-44D9-7795-7E2DB712620C}"/>
              </a:ext>
            </a:extLst>
          </p:cNvPr>
          <p:cNvSpPr txBox="1"/>
          <p:nvPr/>
        </p:nvSpPr>
        <p:spPr>
          <a:xfrm>
            <a:off x="1828800" y="1640049"/>
            <a:ext cx="11056570" cy="8976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038"/>
              </a:lnSpc>
            </a:pPr>
            <a:r>
              <a:rPr lang="ko-KR" altLang="en-US" sz="7038" dirty="0">
                <a:solidFill>
                  <a:srgbClr val="282A29"/>
                </a:solidFill>
                <a:latin typeface="옛간판"/>
                <a:ea typeface="옛간판"/>
                <a:cs typeface="옛간판"/>
                <a:sym typeface="옛간판"/>
              </a:rPr>
              <a:t>데이터 베이스</a:t>
            </a:r>
            <a:endParaRPr lang="en-US" sz="7038" dirty="0">
              <a:solidFill>
                <a:srgbClr val="282A29"/>
              </a:solidFill>
              <a:latin typeface="옛간판"/>
              <a:ea typeface="옛간판"/>
              <a:cs typeface="옛간판"/>
              <a:sym typeface="옛간판"/>
            </a:endParaRPr>
          </a:p>
        </p:txBody>
      </p:sp>
    </p:spTree>
    <p:extLst>
      <p:ext uri="{BB962C8B-B14F-4D97-AF65-F5344CB8AC3E}">
        <p14:creationId xmlns:p14="http://schemas.microsoft.com/office/powerpoint/2010/main" val="15299739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E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7A8C1D2-5D3C-7A6E-2529-DC10CC19F1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2">
            <a:extLst>
              <a:ext uri="{FF2B5EF4-FFF2-40B4-BE49-F238E27FC236}">
                <a16:creationId xmlns:a16="http://schemas.microsoft.com/office/drawing/2014/main" id="{D069712E-A90F-96DE-E317-5A39A02C7DAF}"/>
              </a:ext>
            </a:extLst>
          </p:cNvPr>
          <p:cNvGrpSpPr/>
          <p:nvPr/>
        </p:nvGrpSpPr>
        <p:grpSpPr>
          <a:xfrm>
            <a:off x="331640" y="388677"/>
            <a:ext cx="17705529" cy="9706532"/>
            <a:chOff x="0" y="0"/>
            <a:chExt cx="115923466" cy="63551609"/>
          </a:xfrm>
        </p:grpSpPr>
        <p:sp>
          <p:nvSpPr>
            <p:cNvPr id="15" name="Freeform 3">
              <a:extLst>
                <a:ext uri="{FF2B5EF4-FFF2-40B4-BE49-F238E27FC236}">
                  <a16:creationId xmlns:a16="http://schemas.microsoft.com/office/drawing/2014/main" id="{7605AA67-3C2E-4DE0-39FA-389A33DB4152}"/>
                </a:ext>
              </a:extLst>
            </p:cNvPr>
            <p:cNvSpPr/>
            <p:nvPr/>
          </p:nvSpPr>
          <p:spPr>
            <a:xfrm>
              <a:off x="72390" y="72390"/>
              <a:ext cx="115778684" cy="63406830"/>
            </a:xfrm>
            <a:custGeom>
              <a:avLst/>
              <a:gdLst/>
              <a:ahLst/>
              <a:cxnLst/>
              <a:rect l="l" t="t" r="r" b="b"/>
              <a:pathLst>
                <a:path w="115778684" h="63406830">
                  <a:moveTo>
                    <a:pt x="0" y="0"/>
                  </a:moveTo>
                  <a:lnTo>
                    <a:pt x="115778684" y="0"/>
                  </a:lnTo>
                  <a:lnTo>
                    <a:pt x="115778684" y="63406830"/>
                  </a:lnTo>
                  <a:lnTo>
                    <a:pt x="0" y="634068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6" name="Freeform 4">
              <a:extLst>
                <a:ext uri="{FF2B5EF4-FFF2-40B4-BE49-F238E27FC236}">
                  <a16:creationId xmlns:a16="http://schemas.microsoft.com/office/drawing/2014/main" id="{8586A0F1-5083-D74A-E49D-3BBB0E707608}"/>
                </a:ext>
              </a:extLst>
            </p:cNvPr>
            <p:cNvSpPr/>
            <p:nvPr/>
          </p:nvSpPr>
          <p:spPr>
            <a:xfrm>
              <a:off x="0" y="0"/>
              <a:ext cx="115923467" cy="63551606"/>
            </a:xfrm>
            <a:custGeom>
              <a:avLst/>
              <a:gdLst/>
              <a:ahLst/>
              <a:cxnLst/>
              <a:rect l="l" t="t" r="r" b="b"/>
              <a:pathLst>
                <a:path w="115923467" h="63551606">
                  <a:moveTo>
                    <a:pt x="115778682" y="63406827"/>
                  </a:moveTo>
                  <a:lnTo>
                    <a:pt x="115923467" y="63406827"/>
                  </a:lnTo>
                  <a:lnTo>
                    <a:pt x="115923467" y="63551606"/>
                  </a:lnTo>
                  <a:lnTo>
                    <a:pt x="115778682" y="63551606"/>
                  </a:lnTo>
                  <a:lnTo>
                    <a:pt x="115778682" y="63406827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63406827"/>
                  </a:lnTo>
                  <a:lnTo>
                    <a:pt x="0" y="63406827"/>
                  </a:lnTo>
                  <a:lnTo>
                    <a:pt x="0" y="144780"/>
                  </a:lnTo>
                  <a:close/>
                  <a:moveTo>
                    <a:pt x="0" y="63406827"/>
                  </a:moveTo>
                  <a:lnTo>
                    <a:pt x="144780" y="63406827"/>
                  </a:lnTo>
                  <a:lnTo>
                    <a:pt x="144780" y="63551606"/>
                  </a:lnTo>
                  <a:lnTo>
                    <a:pt x="0" y="63551606"/>
                  </a:lnTo>
                  <a:lnTo>
                    <a:pt x="0" y="63406827"/>
                  </a:lnTo>
                  <a:close/>
                  <a:moveTo>
                    <a:pt x="115778682" y="144780"/>
                  </a:moveTo>
                  <a:lnTo>
                    <a:pt x="115923467" y="144780"/>
                  </a:lnTo>
                  <a:lnTo>
                    <a:pt x="115923467" y="63406827"/>
                  </a:lnTo>
                  <a:lnTo>
                    <a:pt x="115778682" y="63406827"/>
                  </a:lnTo>
                  <a:lnTo>
                    <a:pt x="115778682" y="144780"/>
                  </a:lnTo>
                  <a:close/>
                  <a:moveTo>
                    <a:pt x="144780" y="63406827"/>
                  </a:moveTo>
                  <a:lnTo>
                    <a:pt x="115778682" y="63406827"/>
                  </a:lnTo>
                  <a:lnTo>
                    <a:pt x="115778682" y="63551606"/>
                  </a:lnTo>
                  <a:lnTo>
                    <a:pt x="144780" y="63551606"/>
                  </a:lnTo>
                  <a:lnTo>
                    <a:pt x="144780" y="63406827"/>
                  </a:lnTo>
                  <a:close/>
                  <a:moveTo>
                    <a:pt x="115778682" y="0"/>
                  </a:moveTo>
                  <a:lnTo>
                    <a:pt x="115923467" y="0"/>
                  </a:lnTo>
                  <a:lnTo>
                    <a:pt x="115923467" y="144780"/>
                  </a:lnTo>
                  <a:lnTo>
                    <a:pt x="115778682" y="144780"/>
                  </a:lnTo>
                  <a:lnTo>
                    <a:pt x="115778682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115778682" y="0"/>
                  </a:lnTo>
                  <a:lnTo>
                    <a:pt x="115778682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17" name="AutoShape 5">
            <a:extLst>
              <a:ext uri="{FF2B5EF4-FFF2-40B4-BE49-F238E27FC236}">
                <a16:creationId xmlns:a16="http://schemas.microsoft.com/office/drawing/2014/main" id="{F20C38B9-5131-7541-919D-4D03DD13800D}"/>
              </a:ext>
            </a:extLst>
          </p:cNvPr>
          <p:cNvSpPr/>
          <p:nvPr/>
        </p:nvSpPr>
        <p:spPr>
          <a:xfrm flipV="1">
            <a:off x="331640" y="1028700"/>
            <a:ext cx="17705529" cy="23813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Freeform 6">
            <a:extLst>
              <a:ext uri="{FF2B5EF4-FFF2-40B4-BE49-F238E27FC236}">
                <a16:creationId xmlns:a16="http://schemas.microsoft.com/office/drawing/2014/main" id="{93016279-0015-B791-2CB1-EBFA2AE76BD0}"/>
              </a:ext>
            </a:extLst>
          </p:cNvPr>
          <p:cNvSpPr/>
          <p:nvPr/>
        </p:nvSpPr>
        <p:spPr>
          <a:xfrm>
            <a:off x="834537" y="638681"/>
            <a:ext cx="605228" cy="122146"/>
          </a:xfrm>
          <a:custGeom>
            <a:avLst/>
            <a:gdLst/>
            <a:ahLst/>
            <a:cxnLst/>
            <a:rect l="l" t="t" r="r" b="b"/>
            <a:pathLst>
              <a:path w="605228" h="122146">
                <a:moveTo>
                  <a:pt x="0" y="0"/>
                </a:moveTo>
                <a:lnTo>
                  <a:pt x="605228" y="0"/>
                </a:lnTo>
                <a:lnTo>
                  <a:pt x="605228" y="122146"/>
                </a:lnTo>
                <a:lnTo>
                  <a:pt x="0" y="12214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2" name="TextBox 6">
            <a:extLst>
              <a:ext uri="{FF2B5EF4-FFF2-40B4-BE49-F238E27FC236}">
                <a16:creationId xmlns:a16="http://schemas.microsoft.com/office/drawing/2014/main" id="{AA01AF09-203D-A9B7-773A-0826E8573B44}"/>
              </a:ext>
            </a:extLst>
          </p:cNvPr>
          <p:cNvSpPr txBox="1"/>
          <p:nvPr/>
        </p:nvSpPr>
        <p:spPr>
          <a:xfrm>
            <a:off x="834536" y="1569335"/>
            <a:ext cx="16005663" cy="8976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7038"/>
              </a:lnSpc>
            </a:pPr>
            <a:r>
              <a:rPr lang="en-US" sz="7038" dirty="0">
                <a:solidFill>
                  <a:srgbClr val="282A29"/>
                </a:solidFill>
                <a:latin typeface="옛간판"/>
                <a:ea typeface="옛간판"/>
                <a:cs typeface="옛간판"/>
                <a:sym typeface="옛간판"/>
              </a:rPr>
              <a:t> AWS </a:t>
            </a:r>
            <a:r>
              <a:rPr lang="ko-KR" altLang="en-US" sz="7038" dirty="0">
                <a:solidFill>
                  <a:srgbClr val="282A29"/>
                </a:solidFill>
                <a:latin typeface="옛간판"/>
                <a:ea typeface="옛간판"/>
                <a:cs typeface="옛간판"/>
                <a:sym typeface="옛간판"/>
              </a:rPr>
              <a:t>인프라 </a:t>
            </a:r>
            <a:r>
              <a:rPr lang="en-US" altLang="ko-KR" sz="7038" dirty="0">
                <a:solidFill>
                  <a:srgbClr val="282A29"/>
                </a:solidFill>
                <a:latin typeface="옛간판"/>
                <a:ea typeface="옛간판"/>
                <a:cs typeface="옛간판"/>
                <a:sym typeface="옛간판"/>
              </a:rPr>
              <a:t>&amp; </a:t>
            </a:r>
            <a:r>
              <a:rPr lang="ko-KR" altLang="en-US" sz="7038" dirty="0" err="1">
                <a:solidFill>
                  <a:srgbClr val="282A29"/>
                </a:solidFill>
                <a:latin typeface="옛간판"/>
                <a:ea typeface="옛간판"/>
                <a:cs typeface="옛간판"/>
                <a:sym typeface="옛간판"/>
              </a:rPr>
              <a:t>백엔드</a:t>
            </a:r>
            <a:endParaRPr lang="en-US" sz="7038" dirty="0">
              <a:solidFill>
                <a:srgbClr val="282A29"/>
              </a:solidFill>
              <a:latin typeface="옛간판"/>
              <a:ea typeface="옛간판"/>
              <a:cs typeface="옛간판"/>
              <a:sym typeface="옛간판"/>
            </a:endParaRPr>
          </a:p>
        </p:txBody>
      </p:sp>
      <p:sp>
        <p:nvSpPr>
          <p:cNvPr id="47" name="Shape 4">
            <a:extLst>
              <a:ext uri="{FF2B5EF4-FFF2-40B4-BE49-F238E27FC236}">
                <a16:creationId xmlns:a16="http://schemas.microsoft.com/office/drawing/2014/main" id="{01362777-1F1E-D4F0-942A-98FCDF3BD361}"/>
              </a:ext>
            </a:extLst>
          </p:cNvPr>
          <p:cNvSpPr/>
          <p:nvPr/>
        </p:nvSpPr>
        <p:spPr>
          <a:xfrm>
            <a:off x="1661160" y="3581539"/>
            <a:ext cx="7178040" cy="4364574"/>
          </a:xfrm>
          <a:prstGeom prst="rect">
            <a:avLst/>
          </a:prstGeom>
          <a:solidFill>
            <a:srgbClr val="FFFFFF"/>
          </a:solidFill>
          <a:ln w="12700">
            <a:solidFill>
              <a:srgbClr val="D5DBE5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8" name="Shape 5">
            <a:extLst>
              <a:ext uri="{FF2B5EF4-FFF2-40B4-BE49-F238E27FC236}">
                <a16:creationId xmlns:a16="http://schemas.microsoft.com/office/drawing/2014/main" id="{D46AE637-AE1C-21A8-A539-0322873F67BC}"/>
              </a:ext>
            </a:extLst>
          </p:cNvPr>
          <p:cNvSpPr/>
          <p:nvPr/>
        </p:nvSpPr>
        <p:spPr>
          <a:xfrm>
            <a:off x="1661159" y="3581539"/>
            <a:ext cx="95707" cy="4364574"/>
          </a:xfrm>
          <a:prstGeom prst="rect">
            <a:avLst/>
          </a:prstGeom>
          <a:solidFill>
            <a:srgbClr val="F39C12"/>
          </a:solidFill>
          <a:ln/>
        </p:spPr>
        <p:txBody>
          <a:bodyPr/>
          <a:lstStyle/>
          <a:p>
            <a:endParaRPr lang="ko-KR" altLang="en-US" dirty="0"/>
          </a:p>
        </p:txBody>
      </p:sp>
      <p:pic>
        <p:nvPicPr>
          <p:cNvPr id="49" name="Image 0" descr="preencoded.png">
            <a:extLst>
              <a:ext uri="{FF2B5EF4-FFF2-40B4-BE49-F238E27FC236}">
                <a16:creationId xmlns:a16="http://schemas.microsoft.com/office/drawing/2014/main" id="{8EA0790B-83DA-450A-0154-ED3F2C1D8C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15956" y="6328409"/>
            <a:ext cx="598170" cy="598170"/>
          </a:xfrm>
          <a:prstGeom prst="rect">
            <a:avLst/>
          </a:prstGeom>
        </p:spPr>
      </p:pic>
      <p:sp>
        <p:nvSpPr>
          <p:cNvPr id="50" name="Text 6">
            <a:extLst>
              <a:ext uri="{FF2B5EF4-FFF2-40B4-BE49-F238E27FC236}">
                <a16:creationId xmlns:a16="http://schemas.microsoft.com/office/drawing/2014/main" id="{2FFD03AF-610E-E368-2420-9CC2E0C9D1D3}"/>
              </a:ext>
            </a:extLst>
          </p:cNvPr>
          <p:cNvSpPr/>
          <p:nvPr/>
        </p:nvSpPr>
        <p:spPr>
          <a:xfrm>
            <a:off x="2819400" y="3857406"/>
            <a:ext cx="5383530" cy="524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인프라</a:t>
            </a:r>
            <a:endParaRPr lang="en-US" sz="2800" dirty="0"/>
          </a:p>
        </p:txBody>
      </p:sp>
      <p:sp>
        <p:nvSpPr>
          <p:cNvPr id="52" name="Shape 8">
            <a:extLst>
              <a:ext uri="{FF2B5EF4-FFF2-40B4-BE49-F238E27FC236}">
                <a16:creationId xmlns:a16="http://schemas.microsoft.com/office/drawing/2014/main" id="{5B40FCA4-1580-EA20-8CE4-C8B972B15902}"/>
              </a:ext>
            </a:extLst>
          </p:cNvPr>
          <p:cNvSpPr/>
          <p:nvPr/>
        </p:nvSpPr>
        <p:spPr>
          <a:xfrm>
            <a:off x="1981200" y="4770258"/>
            <a:ext cx="6460236" cy="471685"/>
          </a:xfrm>
          <a:prstGeom prst="rect">
            <a:avLst/>
          </a:prstGeom>
          <a:solidFill>
            <a:srgbClr val="FFF6EC"/>
          </a:solidFill>
          <a:ln>
            <a:solidFill>
              <a:srgbClr val="FFF6E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" name="Text 9">
            <a:extLst>
              <a:ext uri="{FF2B5EF4-FFF2-40B4-BE49-F238E27FC236}">
                <a16:creationId xmlns:a16="http://schemas.microsoft.com/office/drawing/2014/main" id="{BD1B1AD2-9908-636A-F999-1E30FAC73F78}"/>
              </a:ext>
            </a:extLst>
          </p:cNvPr>
          <p:cNvSpPr/>
          <p:nvPr/>
        </p:nvSpPr>
        <p:spPr>
          <a:xfrm>
            <a:off x="2072640" y="4770258"/>
            <a:ext cx="2392680" cy="4716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인스턴스 타입</a:t>
            </a:r>
            <a:endParaRPr lang="en-US" dirty="0"/>
          </a:p>
        </p:txBody>
      </p:sp>
      <p:sp>
        <p:nvSpPr>
          <p:cNvPr id="54" name="Text 10">
            <a:extLst>
              <a:ext uri="{FF2B5EF4-FFF2-40B4-BE49-F238E27FC236}">
                <a16:creationId xmlns:a16="http://schemas.microsoft.com/office/drawing/2014/main" id="{E3CBA5AA-85EE-52CA-C614-D7778DC19A44}"/>
              </a:ext>
            </a:extLst>
          </p:cNvPr>
          <p:cNvSpPr/>
          <p:nvPr/>
        </p:nvSpPr>
        <p:spPr>
          <a:xfrm>
            <a:off x="3947160" y="4770258"/>
            <a:ext cx="3828288" cy="4716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t4g.small (ARM 기반)</a:t>
            </a:r>
            <a:endParaRPr lang="en-US" dirty="0"/>
          </a:p>
        </p:txBody>
      </p:sp>
      <p:sp>
        <p:nvSpPr>
          <p:cNvPr id="55" name="Shape 11">
            <a:extLst>
              <a:ext uri="{FF2B5EF4-FFF2-40B4-BE49-F238E27FC236}">
                <a16:creationId xmlns:a16="http://schemas.microsoft.com/office/drawing/2014/main" id="{95025465-BE7F-5025-EDB0-9990DADDF756}"/>
              </a:ext>
            </a:extLst>
          </p:cNvPr>
          <p:cNvSpPr/>
          <p:nvPr/>
        </p:nvSpPr>
        <p:spPr>
          <a:xfrm>
            <a:off x="1981200" y="5273178"/>
            <a:ext cx="6460236" cy="47168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6" name="Text 12">
            <a:extLst>
              <a:ext uri="{FF2B5EF4-FFF2-40B4-BE49-F238E27FC236}">
                <a16:creationId xmlns:a16="http://schemas.microsoft.com/office/drawing/2014/main" id="{F46F39F0-FE67-F7B4-3729-846E1AA08535}"/>
              </a:ext>
            </a:extLst>
          </p:cNvPr>
          <p:cNvSpPr/>
          <p:nvPr/>
        </p:nvSpPr>
        <p:spPr>
          <a:xfrm>
            <a:off x="2072640" y="5273178"/>
            <a:ext cx="2392680" cy="4716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운영체제</a:t>
            </a:r>
            <a:endParaRPr lang="en-US" dirty="0"/>
          </a:p>
        </p:txBody>
      </p:sp>
      <p:sp>
        <p:nvSpPr>
          <p:cNvPr id="57" name="Text 13">
            <a:extLst>
              <a:ext uri="{FF2B5EF4-FFF2-40B4-BE49-F238E27FC236}">
                <a16:creationId xmlns:a16="http://schemas.microsoft.com/office/drawing/2014/main" id="{B17AA548-55F0-1543-468E-A930DAE5099E}"/>
              </a:ext>
            </a:extLst>
          </p:cNvPr>
          <p:cNvSpPr/>
          <p:nvPr/>
        </p:nvSpPr>
        <p:spPr>
          <a:xfrm>
            <a:off x="3947160" y="5273178"/>
            <a:ext cx="3828288" cy="4716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Ubuntu 24.04 LTS</a:t>
            </a:r>
            <a:endParaRPr lang="en-US" dirty="0"/>
          </a:p>
        </p:txBody>
      </p:sp>
      <p:sp>
        <p:nvSpPr>
          <p:cNvPr id="58" name="Shape 14">
            <a:extLst>
              <a:ext uri="{FF2B5EF4-FFF2-40B4-BE49-F238E27FC236}">
                <a16:creationId xmlns:a16="http://schemas.microsoft.com/office/drawing/2014/main" id="{2656E808-9CE8-3FAB-899C-8A800DDD635B}"/>
              </a:ext>
            </a:extLst>
          </p:cNvPr>
          <p:cNvSpPr/>
          <p:nvPr/>
        </p:nvSpPr>
        <p:spPr>
          <a:xfrm>
            <a:off x="1981200" y="5776098"/>
            <a:ext cx="6460236" cy="471685"/>
          </a:xfrm>
          <a:prstGeom prst="rect">
            <a:avLst/>
          </a:prstGeom>
          <a:solidFill>
            <a:srgbClr val="FFF6EC"/>
          </a:solidFill>
          <a:ln>
            <a:solidFill>
              <a:srgbClr val="FFF6E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9" name="Text 15">
            <a:extLst>
              <a:ext uri="{FF2B5EF4-FFF2-40B4-BE49-F238E27FC236}">
                <a16:creationId xmlns:a16="http://schemas.microsoft.com/office/drawing/2014/main" id="{7C715B31-D672-6650-DBCF-98D39A121C2C}"/>
              </a:ext>
            </a:extLst>
          </p:cNvPr>
          <p:cNvSpPr/>
          <p:nvPr/>
        </p:nvSpPr>
        <p:spPr>
          <a:xfrm>
            <a:off x="2072640" y="5776098"/>
            <a:ext cx="2392680" cy="4716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고정 IP</a:t>
            </a:r>
            <a:endParaRPr lang="en-US" dirty="0"/>
          </a:p>
        </p:txBody>
      </p:sp>
      <p:sp>
        <p:nvSpPr>
          <p:cNvPr id="60" name="Text 16">
            <a:extLst>
              <a:ext uri="{FF2B5EF4-FFF2-40B4-BE49-F238E27FC236}">
                <a16:creationId xmlns:a16="http://schemas.microsoft.com/office/drawing/2014/main" id="{C7E9800D-7EAE-EA13-5A52-3049C0F5A6DA}"/>
              </a:ext>
            </a:extLst>
          </p:cNvPr>
          <p:cNvSpPr/>
          <p:nvPr/>
        </p:nvSpPr>
        <p:spPr>
          <a:xfrm>
            <a:off x="3947160" y="5776098"/>
            <a:ext cx="3828288" cy="4716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Elastic IP 할당</a:t>
            </a:r>
            <a:endParaRPr lang="en-US" dirty="0"/>
          </a:p>
        </p:txBody>
      </p:sp>
      <p:sp>
        <p:nvSpPr>
          <p:cNvPr id="61" name="Shape 17">
            <a:extLst>
              <a:ext uri="{FF2B5EF4-FFF2-40B4-BE49-F238E27FC236}">
                <a16:creationId xmlns:a16="http://schemas.microsoft.com/office/drawing/2014/main" id="{2DE8326D-04D9-13C0-6465-57936A91C972}"/>
              </a:ext>
            </a:extLst>
          </p:cNvPr>
          <p:cNvSpPr/>
          <p:nvPr/>
        </p:nvSpPr>
        <p:spPr>
          <a:xfrm>
            <a:off x="1981200" y="6279018"/>
            <a:ext cx="6460236" cy="47168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2" name="Text 18">
            <a:extLst>
              <a:ext uri="{FF2B5EF4-FFF2-40B4-BE49-F238E27FC236}">
                <a16:creationId xmlns:a16="http://schemas.microsoft.com/office/drawing/2014/main" id="{D91CED06-AEC5-0E67-5584-538B6F229A62}"/>
              </a:ext>
            </a:extLst>
          </p:cNvPr>
          <p:cNvSpPr/>
          <p:nvPr/>
        </p:nvSpPr>
        <p:spPr>
          <a:xfrm>
            <a:off x="2072640" y="6279018"/>
            <a:ext cx="2392680" cy="4716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접근 제어</a:t>
            </a:r>
            <a:endParaRPr lang="en-US" dirty="0"/>
          </a:p>
        </p:txBody>
      </p:sp>
      <p:sp>
        <p:nvSpPr>
          <p:cNvPr id="63" name="Text 19">
            <a:extLst>
              <a:ext uri="{FF2B5EF4-FFF2-40B4-BE49-F238E27FC236}">
                <a16:creationId xmlns:a16="http://schemas.microsoft.com/office/drawing/2014/main" id="{499C8C62-E696-4761-641B-BD8A0AAC413D}"/>
              </a:ext>
            </a:extLst>
          </p:cNvPr>
          <p:cNvSpPr/>
          <p:nvPr/>
        </p:nvSpPr>
        <p:spPr>
          <a:xfrm>
            <a:off x="3947160" y="6279018"/>
            <a:ext cx="3828288" cy="4716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Security Group</a:t>
            </a:r>
            <a:endParaRPr lang="en-US" dirty="0"/>
          </a:p>
        </p:txBody>
      </p:sp>
      <p:sp>
        <p:nvSpPr>
          <p:cNvPr id="64" name="Shape 20">
            <a:extLst>
              <a:ext uri="{FF2B5EF4-FFF2-40B4-BE49-F238E27FC236}">
                <a16:creationId xmlns:a16="http://schemas.microsoft.com/office/drawing/2014/main" id="{893DB5C6-8FCF-2078-8F66-F96C528AD14A}"/>
              </a:ext>
            </a:extLst>
          </p:cNvPr>
          <p:cNvSpPr/>
          <p:nvPr/>
        </p:nvSpPr>
        <p:spPr>
          <a:xfrm>
            <a:off x="1981200" y="6781938"/>
            <a:ext cx="6460236" cy="471685"/>
          </a:xfrm>
          <a:prstGeom prst="rect">
            <a:avLst/>
          </a:prstGeom>
          <a:solidFill>
            <a:srgbClr val="FFF6EC"/>
          </a:solidFill>
          <a:ln>
            <a:solidFill>
              <a:srgbClr val="FFF6E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5" name="Text 21">
            <a:extLst>
              <a:ext uri="{FF2B5EF4-FFF2-40B4-BE49-F238E27FC236}">
                <a16:creationId xmlns:a16="http://schemas.microsoft.com/office/drawing/2014/main" id="{F6A81B7A-24BC-8FD7-E7B8-1401A0604DD5}"/>
              </a:ext>
            </a:extLst>
          </p:cNvPr>
          <p:cNvSpPr/>
          <p:nvPr/>
        </p:nvSpPr>
        <p:spPr>
          <a:xfrm>
            <a:off x="2072640" y="6781938"/>
            <a:ext cx="2392680" cy="4716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용도</a:t>
            </a:r>
            <a:endParaRPr lang="en-US" dirty="0"/>
          </a:p>
        </p:txBody>
      </p:sp>
      <p:sp>
        <p:nvSpPr>
          <p:cNvPr id="66" name="Text 22">
            <a:extLst>
              <a:ext uri="{FF2B5EF4-FFF2-40B4-BE49-F238E27FC236}">
                <a16:creationId xmlns:a16="http://schemas.microsoft.com/office/drawing/2014/main" id="{D4A364EB-F1AD-6816-CB31-95755FEABD2E}"/>
              </a:ext>
            </a:extLst>
          </p:cNvPr>
          <p:cNvSpPr/>
          <p:nvPr/>
        </p:nvSpPr>
        <p:spPr>
          <a:xfrm>
            <a:off x="3947160" y="6781938"/>
            <a:ext cx="3828288" cy="4716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다중 사용자 학습 환경</a:t>
            </a:r>
            <a:endParaRPr lang="en-US" dirty="0"/>
          </a:p>
        </p:txBody>
      </p:sp>
      <p:sp>
        <p:nvSpPr>
          <p:cNvPr id="68" name="Text 24">
            <a:extLst>
              <a:ext uri="{FF2B5EF4-FFF2-40B4-BE49-F238E27FC236}">
                <a16:creationId xmlns:a16="http://schemas.microsoft.com/office/drawing/2014/main" id="{549086A8-2940-A88A-AC47-8F1A41CBE1EF}"/>
              </a:ext>
            </a:extLst>
          </p:cNvPr>
          <p:cNvSpPr/>
          <p:nvPr/>
        </p:nvSpPr>
        <p:spPr>
          <a:xfrm>
            <a:off x="1981200" y="7422019"/>
            <a:ext cx="6460236" cy="524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발표장 네트워크 제약 제거 + 어디서나 접근 가능</a:t>
            </a:r>
            <a:endParaRPr lang="en-US" sz="1100" dirty="0"/>
          </a:p>
        </p:txBody>
      </p:sp>
      <p:grpSp>
        <p:nvGrpSpPr>
          <p:cNvPr id="86" name="그룹 85">
            <a:extLst>
              <a:ext uri="{FF2B5EF4-FFF2-40B4-BE49-F238E27FC236}">
                <a16:creationId xmlns:a16="http://schemas.microsoft.com/office/drawing/2014/main" id="{2AF62A2E-27C5-863A-DE1C-5C208E5D5D44}"/>
              </a:ext>
            </a:extLst>
          </p:cNvPr>
          <p:cNvGrpSpPr/>
          <p:nvPr/>
        </p:nvGrpSpPr>
        <p:grpSpPr>
          <a:xfrm>
            <a:off x="9435085" y="3589020"/>
            <a:ext cx="7178041" cy="4379788"/>
            <a:chOff x="9435085" y="3589020"/>
            <a:chExt cx="7178041" cy="4754880"/>
          </a:xfrm>
        </p:grpSpPr>
        <p:sp>
          <p:nvSpPr>
            <p:cNvPr id="70" name="Shape 25">
              <a:extLst>
                <a:ext uri="{FF2B5EF4-FFF2-40B4-BE49-F238E27FC236}">
                  <a16:creationId xmlns:a16="http://schemas.microsoft.com/office/drawing/2014/main" id="{F8C8922E-119D-3902-0E58-43EB3C1BCCE3}"/>
                </a:ext>
              </a:extLst>
            </p:cNvPr>
            <p:cNvSpPr/>
            <p:nvPr/>
          </p:nvSpPr>
          <p:spPr>
            <a:xfrm>
              <a:off x="9435086" y="3589020"/>
              <a:ext cx="7178040" cy="475488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5DBE5"/>
              </a:solidFill>
              <a:prstDash val="solid"/>
            </a:ln>
            <a:effectLst>
              <a:outerShdw blurRad="101600" dist="25400" dir="54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71" name="Shape 26">
              <a:extLst>
                <a:ext uri="{FF2B5EF4-FFF2-40B4-BE49-F238E27FC236}">
                  <a16:creationId xmlns:a16="http://schemas.microsoft.com/office/drawing/2014/main" id="{76556C1D-E606-76CF-8EC5-AEE48BCAB3B2}"/>
                </a:ext>
              </a:extLst>
            </p:cNvPr>
            <p:cNvSpPr/>
            <p:nvPr/>
          </p:nvSpPr>
          <p:spPr>
            <a:xfrm>
              <a:off x="9435085" y="3589020"/>
              <a:ext cx="95707" cy="4754880"/>
            </a:xfrm>
            <a:prstGeom prst="rect">
              <a:avLst/>
            </a:prstGeom>
            <a:solidFill>
              <a:srgbClr val="F39C12"/>
            </a:solidFill>
            <a:ln/>
          </p:spPr>
          <p:txBody>
            <a:bodyPr/>
            <a:lstStyle/>
            <a:p>
              <a:endParaRPr lang="ko-KR" altLang="en-US" dirty="0"/>
            </a:p>
          </p:txBody>
        </p:sp>
      </p:grpSp>
      <p:pic>
        <p:nvPicPr>
          <p:cNvPr id="72" name="Image 1" descr="preencoded.png">
            <a:extLst>
              <a:ext uri="{FF2B5EF4-FFF2-40B4-BE49-F238E27FC236}">
                <a16:creationId xmlns:a16="http://schemas.microsoft.com/office/drawing/2014/main" id="{DDDCD82D-7ADA-6663-3336-1DB75FC526D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55126" y="3771900"/>
            <a:ext cx="598170" cy="598170"/>
          </a:xfrm>
          <a:prstGeom prst="rect">
            <a:avLst/>
          </a:prstGeom>
        </p:spPr>
      </p:pic>
      <p:sp>
        <p:nvSpPr>
          <p:cNvPr id="73" name="Text 27">
            <a:extLst>
              <a:ext uri="{FF2B5EF4-FFF2-40B4-BE49-F238E27FC236}">
                <a16:creationId xmlns:a16="http://schemas.microsoft.com/office/drawing/2014/main" id="{4558BB1A-9C34-902D-349A-4BD8C1F1DB27}"/>
              </a:ext>
            </a:extLst>
          </p:cNvPr>
          <p:cNvSpPr/>
          <p:nvPr/>
        </p:nvSpPr>
        <p:spPr>
          <a:xfrm>
            <a:off x="10542270" y="3820108"/>
            <a:ext cx="5383530" cy="485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 err="1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백엔드</a:t>
            </a:r>
            <a:endParaRPr lang="en-US" sz="2800" dirty="0"/>
          </a:p>
        </p:txBody>
      </p:sp>
      <p:grpSp>
        <p:nvGrpSpPr>
          <p:cNvPr id="87" name="그룹 86">
            <a:extLst>
              <a:ext uri="{FF2B5EF4-FFF2-40B4-BE49-F238E27FC236}">
                <a16:creationId xmlns:a16="http://schemas.microsoft.com/office/drawing/2014/main" id="{FC6AA8B3-1477-07CE-9D77-44B086213B64}"/>
              </a:ext>
            </a:extLst>
          </p:cNvPr>
          <p:cNvGrpSpPr/>
          <p:nvPr/>
        </p:nvGrpSpPr>
        <p:grpSpPr>
          <a:xfrm>
            <a:off x="9793988" y="4457700"/>
            <a:ext cx="6460236" cy="582230"/>
            <a:chOff x="9755126" y="4869180"/>
            <a:chExt cx="6460236" cy="582230"/>
          </a:xfrm>
        </p:grpSpPr>
        <p:sp>
          <p:nvSpPr>
            <p:cNvPr id="75" name="Shape 29">
              <a:extLst>
                <a:ext uri="{FF2B5EF4-FFF2-40B4-BE49-F238E27FC236}">
                  <a16:creationId xmlns:a16="http://schemas.microsoft.com/office/drawing/2014/main" id="{9BA1D948-51B5-990B-3BA2-1C862589B63C}"/>
                </a:ext>
              </a:extLst>
            </p:cNvPr>
            <p:cNvSpPr/>
            <p:nvPr/>
          </p:nvSpPr>
          <p:spPr>
            <a:xfrm>
              <a:off x="9755126" y="4869180"/>
              <a:ext cx="6460236" cy="58223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D5DBE5"/>
              </a:solidFill>
              <a:prstDash val="solid"/>
            </a:ln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76" name="Text 30">
              <a:extLst>
                <a:ext uri="{FF2B5EF4-FFF2-40B4-BE49-F238E27FC236}">
                  <a16:creationId xmlns:a16="http://schemas.microsoft.com/office/drawing/2014/main" id="{62A2D6D2-EB58-16CB-9294-6FA176CE588B}"/>
                </a:ext>
              </a:extLst>
            </p:cNvPr>
            <p:cNvSpPr/>
            <p:nvPr/>
          </p:nvSpPr>
          <p:spPr>
            <a:xfrm>
              <a:off x="9846566" y="4869180"/>
              <a:ext cx="6220968" cy="58223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b="1" dirty="0">
                  <a:solidFill>
                    <a:srgbClr val="1E2761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/proc, /sys (커널 인터페이스)</a:t>
              </a:r>
              <a:endParaRPr lang="en-US" dirty="0"/>
            </a:p>
          </p:txBody>
        </p:sp>
      </p:grpSp>
      <p:sp>
        <p:nvSpPr>
          <p:cNvPr id="77" name="Text 31">
            <a:extLst>
              <a:ext uri="{FF2B5EF4-FFF2-40B4-BE49-F238E27FC236}">
                <a16:creationId xmlns:a16="http://schemas.microsoft.com/office/drawing/2014/main" id="{F7277A1C-3715-C6D6-96E6-9FAA173E335E}"/>
              </a:ext>
            </a:extLst>
          </p:cNvPr>
          <p:cNvSpPr/>
          <p:nvPr/>
        </p:nvSpPr>
        <p:spPr>
          <a:xfrm>
            <a:off x="9755126" y="5417819"/>
            <a:ext cx="6460236" cy="2911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dirty="0"/>
          </a:p>
        </p:txBody>
      </p:sp>
      <p:grpSp>
        <p:nvGrpSpPr>
          <p:cNvPr id="88" name="그룹 87">
            <a:extLst>
              <a:ext uri="{FF2B5EF4-FFF2-40B4-BE49-F238E27FC236}">
                <a16:creationId xmlns:a16="http://schemas.microsoft.com/office/drawing/2014/main" id="{FA5A4C83-229A-2162-CD76-4F8D6D631D9E}"/>
              </a:ext>
            </a:extLst>
          </p:cNvPr>
          <p:cNvGrpSpPr/>
          <p:nvPr/>
        </p:nvGrpSpPr>
        <p:grpSpPr>
          <a:xfrm>
            <a:off x="9793988" y="5280660"/>
            <a:ext cx="6460236" cy="582230"/>
            <a:chOff x="9755126" y="5692140"/>
            <a:chExt cx="6460236" cy="582230"/>
          </a:xfrm>
        </p:grpSpPr>
        <p:sp>
          <p:nvSpPr>
            <p:cNvPr id="78" name="Shape 32">
              <a:extLst>
                <a:ext uri="{FF2B5EF4-FFF2-40B4-BE49-F238E27FC236}">
                  <a16:creationId xmlns:a16="http://schemas.microsoft.com/office/drawing/2014/main" id="{2513CEE0-64FA-CA21-20CB-5AF53F35AF77}"/>
                </a:ext>
              </a:extLst>
            </p:cNvPr>
            <p:cNvSpPr/>
            <p:nvPr/>
          </p:nvSpPr>
          <p:spPr>
            <a:xfrm>
              <a:off x="9755126" y="5692140"/>
              <a:ext cx="6460236" cy="582230"/>
            </a:xfrm>
            <a:prstGeom prst="rect">
              <a:avLst/>
            </a:prstGeom>
            <a:solidFill>
              <a:srgbClr val="FFF6EC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9" name="Text 33">
              <a:extLst>
                <a:ext uri="{FF2B5EF4-FFF2-40B4-BE49-F238E27FC236}">
                  <a16:creationId xmlns:a16="http://schemas.microsoft.com/office/drawing/2014/main" id="{28130732-724B-FD44-FB4B-F7A7AEDFC728}"/>
                </a:ext>
              </a:extLst>
            </p:cNvPr>
            <p:cNvSpPr/>
            <p:nvPr/>
          </p:nvSpPr>
          <p:spPr>
            <a:xfrm>
              <a:off x="9846566" y="5692140"/>
              <a:ext cx="6220968" cy="58223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b="1" dirty="0">
                  <a:solidFill>
                    <a:srgbClr val="1E2761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psutil — CPU · Memory · Process 수집</a:t>
              </a:r>
              <a:endParaRPr lang="en-US" dirty="0">
                <a:solidFill>
                  <a:srgbClr val="1E2761"/>
                </a:solidFill>
              </a:endParaRPr>
            </a:p>
          </p:txBody>
        </p:sp>
      </p:grpSp>
      <p:sp>
        <p:nvSpPr>
          <p:cNvPr id="80" name="Text 34">
            <a:extLst>
              <a:ext uri="{FF2B5EF4-FFF2-40B4-BE49-F238E27FC236}">
                <a16:creationId xmlns:a16="http://schemas.microsoft.com/office/drawing/2014/main" id="{FB0300AC-AE97-C562-6255-28814FA2B777}"/>
              </a:ext>
            </a:extLst>
          </p:cNvPr>
          <p:cNvSpPr/>
          <p:nvPr/>
        </p:nvSpPr>
        <p:spPr>
          <a:xfrm>
            <a:off x="9755126" y="6240779"/>
            <a:ext cx="6460236" cy="2911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dirty="0"/>
          </a:p>
        </p:txBody>
      </p:sp>
      <p:grpSp>
        <p:nvGrpSpPr>
          <p:cNvPr id="89" name="그룹 88">
            <a:extLst>
              <a:ext uri="{FF2B5EF4-FFF2-40B4-BE49-F238E27FC236}">
                <a16:creationId xmlns:a16="http://schemas.microsoft.com/office/drawing/2014/main" id="{A28179F5-70AA-F715-8884-63583350B4AE}"/>
              </a:ext>
            </a:extLst>
          </p:cNvPr>
          <p:cNvGrpSpPr/>
          <p:nvPr/>
        </p:nvGrpSpPr>
        <p:grpSpPr>
          <a:xfrm>
            <a:off x="9793988" y="6103620"/>
            <a:ext cx="6460236" cy="582230"/>
            <a:chOff x="9755126" y="6515100"/>
            <a:chExt cx="6460236" cy="582230"/>
          </a:xfrm>
        </p:grpSpPr>
        <p:sp>
          <p:nvSpPr>
            <p:cNvPr id="81" name="Shape 35">
              <a:extLst>
                <a:ext uri="{FF2B5EF4-FFF2-40B4-BE49-F238E27FC236}">
                  <a16:creationId xmlns:a16="http://schemas.microsoft.com/office/drawing/2014/main" id="{EB42C33A-5250-0EFF-292B-A97A558D044F}"/>
                </a:ext>
              </a:extLst>
            </p:cNvPr>
            <p:cNvSpPr/>
            <p:nvPr/>
          </p:nvSpPr>
          <p:spPr>
            <a:xfrm>
              <a:off x="9755126" y="6515100"/>
              <a:ext cx="6460236" cy="58223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D5DBE5"/>
              </a:solidFill>
              <a:prstDash val="solid"/>
            </a:ln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82" name="Text 36">
              <a:extLst>
                <a:ext uri="{FF2B5EF4-FFF2-40B4-BE49-F238E27FC236}">
                  <a16:creationId xmlns:a16="http://schemas.microsoft.com/office/drawing/2014/main" id="{8FFCFC15-89B1-AD71-AEEF-61EF33904F94}"/>
                </a:ext>
              </a:extLst>
            </p:cNvPr>
            <p:cNvSpPr/>
            <p:nvPr/>
          </p:nvSpPr>
          <p:spPr>
            <a:xfrm>
              <a:off x="9846566" y="6515100"/>
              <a:ext cx="6220968" cy="58223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b="1" dirty="0">
                  <a:solidFill>
                    <a:srgbClr val="1E2761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FastAPI → 정형화된 JSON 응답</a:t>
              </a:r>
              <a:endParaRPr lang="en-US" dirty="0"/>
            </a:p>
          </p:txBody>
        </p:sp>
      </p:grpSp>
      <p:sp>
        <p:nvSpPr>
          <p:cNvPr id="83" name="Text 37">
            <a:extLst>
              <a:ext uri="{FF2B5EF4-FFF2-40B4-BE49-F238E27FC236}">
                <a16:creationId xmlns:a16="http://schemas.microsoft.com/office/drawing/2014/main" id="{D9AAE671-19AB-8F30-5998-5EA95B16AE83}"/>
              </a:ext>
            </a:extLst>
          </p:cNvPr>
          <p:cNvSpPr/>
          <p:nvPr/>
        </p:nvSpPr>
        <p:spPr>
          <a:xfrm>
            <a:off x="9755126" y="7063739"/>
            <a:ext cx="6460236" cy="2911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dirty="0"/>
          </a:p>
        </p:txBody>
      </p:sp>
      <p:grpSp>
        <p:nvGrpSpPr>
          <p:cNvPr id="90" name="그룹 89">
            <a:extLst>
              <a:ext uri="{FF2B5EF4-FFF2-40B4-BE49-F238E27FC236}">
                <a16:creationId xmlns:a16="http://schemas.microsoft.com/office/drawing/2014/main" id="{7BAE44D7-39FB-BD3F-53D7-ABD8BFFB27EF}"/>
              </a:ext>
            </a:extLst>
          </p:cNvPr>
          <p:cNvGrpSpPr/>
          <p:nvPr/>
        </p:nvGrpSpPr>
        <p:grpSpPr>
          <a:xfrm>
            <a:off x="9793988" y="6926579"/>
            <a:ext cx="6460236" cy="630749"/>
            <a:chOff x="9755126" y="7338059"/>
            <a:chExt cx="6460236" cy="630749"/>
          </a:xfrm>
        </p:grpSpPr>
        <p:sp>
          <p:nvSpPr>
            <p:cNvPr id="84" name="Shape 38">
              <a:extLst>
                <a:ext uri="{FF2B5EF4-FFF2-40B4-BE49-F238E27FC236}">
                  <a16:creationId xmlns:a16="http://schemas.microsoft.com/office/drawing/2014/main" id="{21BF1103-6F89-ACFF-6783-3CA391B4A69A}"/>
                </a:ext>
              </a:extLst>
            </p:cNvPr>
            <p:cNvSpPr/>
            <p:nvPr/>
          </p:nvSpPr>
          <p:spPr>
            <a:xfrm>
              <a:off x="9755126" y="7338059"/>
              <a:ext cx="6460236" cy="630749"/>
            </a:xfrm>
            <a:prstGeom prst="rect">
              <a:avLst/>
            </a:prstGeom>
            <a:solidFill>
              <a:schemeClr val="bg1"/>
            </a:solidFill>
            <a:ln/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85" name="Text 39">
              <a:extLst>
                <a:ext uri="{FF2B5EF4-FFF2-40B4-BE49-F238E27FC236}">
                  <a16:creationId xmlns:a16="http://schemas.microsoft.com/office/drawing/2014/main" id="{2A817080-E124-62A9-6316-1FB918B125A2}"/>
                </a:ext>
              </a:extLst>
            </p:cNvPr>
            <p:cNvSpPr/>
            <p:nvPr/>
          </p:nvSpPr>
          <p:spPr>
            <a:xfrm>
              <a:off x="9755126" y="7338059"/>
              <a:ext cx="6460236" cy="63074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b="1" dirty="0">
                  <a:solidFill>
                    <a:srgbClr val="00B05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프론트엔드: 실시간 GUI 시각화</a:t>
              </a:r>
              <a:endParaRPr lang="en-US" dirty="0">
                <a:solidFill>
                  <a:srgbClr val="00B050"/>
                </a:solidFill>
              </a:endParaRPr>
            </a:p>
          </p:txBody>
        </p:sp>
      </p:grp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55B338D0-7F63-7CFF-4B91-FE78324464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57400" y="37719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35806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E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96FEAFF-89BA-142C-C13D-74FD401AEE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2">
            <a:extLst>
              <a:ext uri="{FF2B5EF4-FFF2-40B4-BE49-F238E27FC236}">
                <a16:creationId xmlns:a16="http://schemas.microsoft.com/office/drawing/2014/main" id="{235EB358-785E-917B-3EAE-70F12A040D40}"/>
              </a:ext>
            </a:extLst>
          </p:cNvPr>
          <p:cNvGrpSpPr/>
          <p:nvPr/>
        </p:nvGrpSpPr>
        <p:grpSpPr>
          <a:xfrm>
            <a:off x="331640" y="388677"/>
            <a:ext cx="17705529" cy="9706532"/>
            <a:chOff x="0" y="0"/>
            <a:chExt cx="115923466" cy="63551609"/>
          </a:xfrm>
        </p:grpSpPr>
        <p:sp>
          <p:nvSpPr>
            <p:cNvPr id="21" name="Freeform 3">
              <a:extLst>
                <a:ext uri="{FF2B5EF4-FFF2-40B4-BE49-F238E27FC236}">
                  <a16:creationId xmlns:a16="http://schemas.microsoft.com/office/drawing/2014/main" id="{A2D042C6-1D2D-EC05-E0B5-3BE80663B39D}"/>
                </a:ext>
              </a:extLst>
            </p:cNvPr>
            <p:cNvSpPr/>
            <p:nvPr/>
          </p:nvSpPr>
          <p:spPr>
            <a:xfrm>
              <a:off x="72390" y="72390"/>
              <a:ext cx="115778684" cy="63406830"/>
            </a:xfrm>
            <a:custGeom>
              <a:avLst/>
              <a:gdLst/>
              <a:ahLst/>
              <a:cxnLst/>
              <a:rect l="l" t="t" r="r" b="b"/>
              <a:pathLst>
                <a:path w="115778684" h="63406830">
                  <a:moveTo>
                    <a:pt x="0" y="0"/>
                  </a:moveTo>
                  <a:lnTo>
                    <a:pt x="115778684" y="0"/>
                  </a:lnTo>
                  <a:lnTo>
                    <a:pt x="115778684" y="63406830"/>
                  </a:lnTo>
                  <a:lnTo>
                    <a:pt x="0" y="634068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2" name="Freeform 4">
              <a:extLst>
                <a:ext uri="{FF2B5EF4-FFF2-40B4-BE49-F238E27FC236}">
                  <a16:creationId xmlns:a16="http://schemas.microsoft.com/office/drawing/2014/main" id="{CF61724F-9C9F-8881-188D-F3BD57531CD9}"/>
                </a:ext>
              </a:extLst>
            </p:cNvPr>
            <p:cNvSpPr/>
            <p:nvPr/>
          </p:nvSpPr>
          <p:spPr>
            <a:xfrm>
              <a:off x="0" y="0"/>
              <a:ext cx="115923467" cy="63551606"/>
            </a:xfrm>
            <a:custGeom>
              <a:avLst/>
              <a:gdLst/>
              <a:ahLst/>
              <a:cxnLst/>
              <a:rect l="l" t="t" r="r" b="b"/>
              <a:pathLst>
                <a:path w="115923467" h="63551606">
                  <a:moveTo>
                    <a:pt x="115778682" y="63406827"/>
                  </a:moveTo>
                  <a:lnTo>
                    <a:pt x="115923467" y="63406827"/>
                  </a:lnTo>
                  <a:lnTo>
                    <a:pt x="115923467" y="63551606"/>
                  </a:lnTo>
                  <a:lnTo>
                    <a:pt x="115778682" y="63551606"/>
                  </a:lnTo>
                  <a:lnTo>
                    <a:pt x="115778682" y="63406827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63406827"/>
                  </a:lnTo>
                  <a:lnTo>
                    <a:pt x="0" y="63406827"/>
                  </a:lnTo>
                  <a:lnTo>
                    <a:pt x="0" y="144780"/>
                  </a:lnTo>
                  <a:close/>
                  <a:moveTo>
                    <a:pt x="0" y="63406827"/>
                  </a:moveTo>
                  <a:lnTo>
                    <a:pt x="144780" y="63406827"/>
                  </a:lnTo>
                  <a:lnTo>
                    <a:pt x="144780" y="63551606"/>
                  </a:lnTo>
                  <a:lnTo>
                    <a:pt x="0" y="63551606"/>
                  </a:lnTo>
                  <a:lnTo>
                    <a:pt x="0" y="63406827"/>
                  </a:lnTo>
                  <a:close/>
                  <a:moveTo>
                    <a:pt x="115778682" y="144780"/>
                  </a:moveTo>
                  <a:lnTo>
                    <a:pt x="115923467" y="144780"/>
                  </a:lnTo>
                  <a:lnTo>
                    <a:pt x="115923467" y="63406827"/>
                  </a:lnTo>
                  <a:lnTo>
                    <a:pt x="115778682" y="63406827"/>
                  </a:lnTo>
                  <a:lnTo>
                    <a:pt x="115778682" y="144780"/>
                  </a:lnTo>
                  <a:close/>
                  <a:moveTo>
                    <a:pt x="144780" y="63406827"/>
                  </a:moveTo>
                  <a:lnTo>
                    <a:pt x="115778682" y="63406827"/>
                  </a:lnTo>
                  <a:lnTo>
                    <a:pt x="115778682" y="63551606"/>
                  </a:lnTo>
                  <a:lnTo>
                    <a:pt x="144780" y="63551606"/>
                  </a:lnTo>
                  <a:lnTo>
                    <a:pt x="144780" y="63406827"/>
                  </a:lnTo>
                  <a:close/>
                  <a:moveTo>
                    <a:pt x="115778682" y="0"/>
                  </a:moveTo>
                  <a:lnTo>
                    <a:pt x="115923467" y="0"/>
                  </a:lnTo>
                  <a:lnTo>
                    <a:pt x="115923467" y="144780"/>
                  </a:lnTo>
                  <a:lnTo>
                    <a:pt x="115778682" y="144780"/>
                  </a:lnTo>
                  <a:lnTo>
                    <a:pt x="115778682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115778682" y="0"/>
                  </a:lnTo>
                  <a:lnTo>
                    <a:pt x="115778682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17" name="AutoShape 5">
            <a:extLst>
              <a:ext uri="{FF2B5EF4-FFF2-40B4-BE49-F238E27FC236}">
                <a16:creationId xmlns:a16="http://schemas.microsoft.com/office/drawing/2014/main" id="{6A2D5994-D444-F3F7-0909-86A849BD5EF1}"/>
              </a:ext>
            </a:extLst>
          </p:cNvPr>
          <p:cNvSpPr/>
          <p:nvPr/>
        </p:nvSpPr>
        <p:spPr>
          <a:xfrm flipV="1">
            <a:off x="331640" y="1028700"/>
            <a:ext cx="17705529" cy="23813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Freeform 6">
            <a:extLst>
              <a:ext uri="{FF2B5EF4-FFF2-40B4-BE49-F238E27FC236}">
                <a16:creationId xmlns:a16="http://schemas.microsoft.com/office/drawing/2014/main" id="{78E8B5AB-4236-8B46-FD23-3BE0DF8DD546}"/>
              </a:ext>
            </a:extLst>
          </p:cNvPr>
          <p:cNvSpPr/>
          <p:nvPr/>
        </p:nvSpPr>
        <p:spPr>
          <a:xfrm>
            <a:off x="834537" y="638681"/>
            <a:ext cx="605228" cy="122146"/>
          </a:xfrm>
          <a:custGeom>
            <a:avLst/>
            <a:gdLst/>
            <a:ahLst/>
            <a:cxnLst/>
            <a:rect l="l" t="t" r="r" b="b"/>
            <a:pathLst>
              <a:path w="605228" h="122146">
                <a:moveTo>
                  <a:pt x="0" y="0"/>
                </a:moveTo>
                <a:lnTo>
                  <a:pt x="605228" y="0"/>
                </a:lnTo>
                <a:lnTo>
                  <a:pt x="605228" y="122146"/>
                </a:lnTo>
                <a:lnTo>
                  <a:pt x="0" y="12214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2" name="TextBox 6">
            <a:extLst>
              <a:ext uri="{FF2B5EF4-FFF2-40B4-BE49-F238E27FC236}">
                <a16:creationId xmlns:a16="http://schemas.microsoft.com/office/drawing/2014/main" id="{E32F11BB-9DF8-C0FB-8510-6AE5B0E9CB54}"/>
              </a:ext>
            </a:extLst>
          </p:cNvPr>
          <p:cNvSpPr txBox="1"/>
          <p:nvPr/>
        </p:nvSpPr>
        <p:spPr>
          <a:xfrm>
            <a:off x="834536" y="1569335"/>
            <a:ext cx="16005663" cy="8976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7038"/>
              </a:lnSpc>
            </a:pPr>
            <a:r>
              <a:rPr lang="en-US" sz="7038" dirty="0">
                <a:solidFill>
                  <a:srgbClr val="282A29"/>
                </a:solidFill>
                <a:latin typeface="옛간판"/>
                <a:ea typeface="옛간판"/>
                <a:cs typeface="옛간판"/>
                <a:sym typeface="옛간판"/>
              </a:rPr>
              <a:t>CLI-GUI </a:t>
            </a:r>
            <a:r>
              <a:rPr lang="ko-KR" altLang="en-US" sz="7038" dirty="0">
                <a:solidFill>
                  <a:srgbClr val="282A29"/>
                </a:solidFill>
                <a:latin typeface="옛간판"/>
                <a:ea typeface="옛간판"/>
                <a:cs typeface="옛간판"/>
                <a:sym typeface="옛간판"/>
              </a:rPr>
              <a:t>매핑</a:t>
            </a:r>
            <a:endParaRPr lang="en-US" sz="7038" dirty="0">
              <a:solidFill>
                <a:srgbClr val="282A29"/>
              </a:solidFill>
              <a:latin typeface="옛간판"/>
              <a:ea typeface="옛간판"/>
              <a:cs typeface="옛간판"/>
              <a:sym typeface="옛간판"/>
            </a:endParaRPr>
          </a:p>
        </p:txBody>
      </p: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687159A3-49B7-F094-87A0-CD48F9DB3015}"/>
              </a:ext>
            </a:extLst>
          </p:cNvPr>
          <p:cNvGrpSpPr/>
          <p:nvPr/>
        </p:nvGrpSpPr>
        <p:grpSpPr>
          <a:xfrm>
            <a:off x="834536" y="3529376"/>
            <a:ext cx="13280572" cy="5287633"/>
            <a:chOff x="1778977" y="3568063"/>
            <a:chExt cx="13280572" cy="5287633"/>
          </a:xfrm>
        </p:grpSpPr>
        <p:sp>
          <p:nvSpPr>
            <p:cNvPr id="3" name="TextBox 9">
              <a:extLst>
                <a:ext uri="{FF2B5EF4-FFF2-40B4-BE49-F238E27FC236}">
                  <a16:creationId xmlns:a16="http://schemas.microsoft.com/office/drawing/2014/main" id="{7BA8B2C1-CCCE-BD01-BAE1-FCFADA03EEDB}"/>
                </a:ext>
              </a:extLst>
            </p:cNvPr>
            <p:cNvSpPr txBox="1"/>
            <p:nvPr/>
          </p:nvSpPr>
          <p:spPr>
            <a:xfrm>
              <a:off x="1778977" y="3568063"/>
              <a:ext cx="5109063" cy="580223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4899"/>
                </a:lnSpc>
              </a:pPr>
              <a:r>
                <a:rPr lang="en-US" sz="3499" dirty="0">
                  <a:solidFill>
                    <a:srgbClr val="9B4819"/>
                  </a:solidFill>
                  <a:latin typeface="옛간판"/>
                  <a:ea typeface="옛간판"/>
                  <a:cs typeface="옛간판"/>
                  <a:sym typeface="옛간판"/>
                </a:rPr>
                <a:t>CMD</a:t>
              </a:r>
            </a:p>
          </p:txBody>
        </p:sp>
        <p:grpSp>
          <p:nvGrpSpPr>
            <p:cNvPr id="4" name="그룹 3">
              <a:extLst>
                <a:ext uri="{FF2B5EF4-FFF2-40B4-BE49-F238E27FC236}">
                  <a16:creationId xmlns:a16="http://schemas.microsoft.com/office/drawing/2014/main" id="{CFE1CC4F-D18F-0C48-7F98-C40B155A1D42}"/>
                </a:ext>
              </a:extLst>
            </p:cNvPr>
            <p:cNvGrpSpPr/>
            <p:nvPr/>
          </p:nvGrpSpPr>
          <p:grpSpPr>
            <a:xfrm>
              <a:off x="1790700" y="4435133"/>
              <a:ext cx="7951129" cy="4420563"/>
              <a:chOff x="457200" y="3154680"/>
              <a:chExt cx="6080760" cy="3108960"/>
            </a:xfrm>
          </p:grpSpPr>
          <p:sp>
            <p:nvSpPr>
              <p:cNvPr id="5" name="Shape 8">
                <a:extLst>
                  <a:ext uri="{FF2B5EF4-FFF2-40B4-BE49-F238E27FC236}">
                    <a16:creationId xmlns:a16="http://schemas.microsoft.com/office/drawing/2014/main" id="{38BA74EC-C5C4-E8C5-08EB-C19CA95AA741}"/>
                  </a:ext>
                </a:extLst>
              </p:cNvPr>
              <p:cNvSpPr/>
              <p:nvPr/>
            </p:nvSpPr>
            <p:spPr>
              <a:xfrm>
                <a:off x="457200" y="3154680"/>
                <a:ext cx="5486400" cy="3108960"/>
              </a:xfrm>
              <a:prstGeom prst="rect">
                <a:avLst/>
              </a:prstGeom>
              <a:solidFill>
                <a:srgbClr val="1A1A2E"/>
              </a:solidFill>
              <a:ln/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6" name="Shape 9">
                <a:extLst>
                  <a:ext uri="{FF2B5EF4-FFF2-40B4-BE49-F238E27FC236}">
                    <a16:creationId xmlns:a16="http://schemas.microsoft.com/office/drawing/2014/main" id="{F53027EB-BFEA-5641-E2EE-629E7AA8E4DA}"/>
                  </a:ext>
                </a:extLst>
              </p:cNvPr>
              <p:cNvSpPr/>
              <p:nvPr/>
            </p:nvSpPr>
            <p:spPr>
              <a:xfrm>
                <a:off x="457200" y="3154680"/>
                <a:ext cx="5486400" cy="228600"/>
              </a:xfrm>
              <a:prstGeom prst="rect">
                <a:avLst/>
              </a:prstGeom>
              <a:solidFill>
                <a:srgbClr val="16213E"/>
              </a:solidFill>
              <a:ln/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7" name="Shape 10">
                <a:extLst>
                  <a:ext uri="{FF2B5EF4-FFF2-40B4-BE49-F238E27FC236}">
                    <a16:creationId xmlns:a16="http://schemas.microsoft.com/office/drawing/2014/main" id="{7737F514-0D44-9515-9D98-43F5BEF1025C}"/>
                  </a:ext>
                </a:extLst>
              </p:cNvPr>
              <p:cNvSpPr/>
              <p:nvPr/>
            </p:nvSpPr>
            <p:spPr>
              <a:xfrm>
                <a:off x="594360" y="3218688"/>
                <a:ext cx="91440" cy="91440"/>
              </a:xfrm>
              <a:prstGeom prst="ellipse">
                <a:avLst/>
              </a:prstGeom>
              <a:solidFill>
                <a:srgbClr val="FF5F56"/>
              </a:solidFill>
              <a:ln/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8" name="Shape 11">
                <a:extLst>
                  <a:ext uri="{FF2B5EF4-FFF2-40B4-BE49-F238E27FC236}">
                    <a16:creationId xmlns:a16="http://schemas.microsoft.com/office/drawing/2014/main" id="{1BD107E8-3728-CC94-A8E8-A0341284A473}"/>
                  </a:ext>
                </a:extLst>
              </p:cNvPr>
              <p:cNvSpPr/>
              <p:nvPr/>
            </p:nvSpPr>
            <p:spPr>
              <a:xfrm>
                <a:off x="731520" y="3218688"/>
                <a:ext cx="91440" cy="91440"/>
              </a:xfrm>
              <a:prstGeom prst="ellipse">
                <a:avLst/>
              </a:prstGeom>
              <a:solidFill>
                <a:srgbClr val="FFBD2E"/>
              </a:solidFill>
              <a:ln/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9" name="Shape 12">
                <a:extLst>
                  <a:ext uri="{FF2B5EF4-FFF2-40B4-BE49-F238E27FC236}">
                    <a16:creationId xmlns:a16="http://schemas.microsoft.com/office/drawing/2014/main" id="{FED94B3C-A0DD-B844-1A3A-050F1B4DE803}"/>
                  </a:ext>
                </a:extLst>
              </p:cNvPr>
              <p:cNvSpPr/>
              <p:nvPr/>
            </p:nvSpPr>
            <p:spPr>
              <a:xfrm>
                <a:off x="868680" y="3218688"/>
                <a:ext cx="91440" cy="91440"/>
              </a:xfrm>
              <a:prstGeom prst="ellipse">
                <a:avLst/>
              </a:prstGeom>
              <a:solidFill>
                <a:srgbClr val="27C93F"/>
              </a:solidFill>
              <a:ln/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0" name="Text 13">
                <a:extLst>
                  <a:ext uri="{FF2B5EF4-FFF2-40B4-BE49-F238E27FC236}">
                    <a16:creationId xmlns:a16="http://schemas.microsoft.com/office/drawing/2014/main" id="{C1456E3F-3F5A-6B7F-7DAD-6066F3234C98}"/>
                  </a:ext>
                </a:extLst>
              </p:cNvPr>
              <p:cNvSpPr/>
              <p:nvPr/>
            </p:nvSpPr>
            <p:spPr>
              <a:xfrm>
                <a:off x="640080" y="3474720"/>
                <a:ext cx="5212080" cy="27432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>
                  <a:buNone/>
                </a:pPr>
                <a:r>
                  <a:rPr lang="en-US" sz="2050" b="1" dirty="0">
                    <a:solidFill>
                      <a:srgbClr val="27C93F"/>
                    </a:solidFill>
                    <a:latin typeface="Consolas" pitchFamily="34" charset="0"/>
                    <a:ea typeface="Consolas" pitchFamily="34" charset="-122"/>
                    <a:cs typeface="Consolas" pitchFamily="34" charset="-120"/>
                  </a:rPr>
                  <a:t>$ top -bn1 | head -10
</a:t>
                </a:r>
                <a:r>
                  <a:rPr lang="en-US" sz="2050" dirty="0">
                    <a:solidFill>
                      <a:srgbClr val="CADCFC"/>
                    </a:solidFill>
                    <a:latin typeface="Consolas" pitchFamily="34" charset="0"/>
                    <a:ea typeface="Consolas" pitchFamily="34" charset="-122"/>
                    <a:cs typeface="Consolas" pitchFamily="34" charset="-120"/>
                  </a:rPr>
                  <a:t>top - 14:32:01 up 2:14, 1 user
Tasks: 124 total, 1 running
%Cpu: 23.4 us, 5.2 sy, 71.4 id
MiB Mem: 8192 total, 1126 free
         3276 used, 3790 buff
</a:t>
                </a:r>
                <a:r>
                  <a:rPr lang="en-US" sz="2050" dirty="0">
                    <a:solidFill>
                      <a:srgbClr val="000000"/>
                    </a:solidFill>
                    <a:latin typeface="Consolas" pitchFamily="34" charset="0"/>
                    <a:ea typeface="Consolas" pitchFamily="34" charset="-122"/>
                    <a:cs typeface="Consolas" pitchFamily="34" charset="-120"/>
                  </a:rPr>
                  <a:t>
</a:t>
                </a:r>
                <a:r>
                  <a:rPr lang="en-US" sz="2050" b="1" dirty="0">
                    <a:solidFill>
                      <a:srgbClr val="F39C12"/>
                    </a:solidFill>
                    <a:latin typeface="Consolas" pitchFamily="34" charset="0"/>
                    <a:ea typeface="Consolas" pitchFamily="34" charset="-122"/>
                    <a:cs typeface="Consolas" pitchFamily="34" charset="-120"/>
                  </a:rPr>
                  <a:t>  PID USER  %CPU %MEM COMMAND
</a:t>
                </a:r>
                <a:r>
                  <a:rPr lang="en-US" sz="2050" dirty="0">
                    <a:solidFill>
                      <a:srgbClr val="CADCFC"/>
                    </a:solidFill>
                    <a:latin typeface="Consolas" pitchFamily="34" charset="0"/>
                    <a:ea typeface="Consolas" pitchFamily="34" charset="-122"/>
                    <a:cs typeface="Consolas" pitchFamily="34" charset="-120"/>
                  </a:rPr>
                  <a:t> 1234 user  12.3  1.8 python3
 1456 user   8.7  3.2 node
 1789 user   5.4  0.9 nginx
</a:t>
                </a:r>
                <a:r>
                  <a:rPr lang="en-US" sz="2050" b="1" dirty="0">
                    <a:solidFill>
                      <a:srgbClr val="27C93F"/>
                    </a:solidFill>
                    <a:latin typeface="Consolas" pitchFamily="34" charset="0"/>
                    <a:ea typeface="Consolas" pitchFamily="34" charset="-122"/>
                    <a:cs typeface="Consolas" pitchFamily="34" charset="-120"/>
                  </a:rPr>
                  <a:t>_</a:t>
                </a:r>
                <a:endParaRPr lang="en-US" sz="2050" dirty="0"/>
              </a:p>
            </p:txBody>
          </p:sp>
          <p:pic>
            <p:nvPicPr>
              <p:cNvPr id="11" name="Image 0" descr="preencoded.png">
                <a:extLst>
                  <a:ext uri="{FF2B5EF4-FFF2-40B4-BE49-F238E27FC236}">
                    <a16:creationId xmlns:a16="http://schemas.microsoft.com/office/drawing/2014/main" id="{AAA3E707-65E0-ACE2-17D6-8EEA8177A81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080760" y="4434840"/>
                <a:ext cx="457200" cy="457200"/>
              </a:xfrm>
              <a:prstGeom prst="rect">
                <a:avLst/>
              </a:prstGeom>
            </p:spPr>
          </p:pic>
        </p:grpSp>
        <p:sp>
          <p:nvSpPr>
            <p:cNvPr id="12" name="TextBox 9">
              <a:extLst>
                <a:ext uri="{FF2B5EF4-FFF2-40B4-BE49-F238E27FC236}">
                  <a16:creationId xmlns:a16="http://schemas.microsoft.com/office/drawing/2014/main" id="{45D2B565-9040-3533-E962-596BA0BF6D2E}"/>
                </a:ext>
              </a:extLst>
            </p:cNvPr>
            <p:cNvSpPr txBox="1"/>
            <p:nvPr/>
          </p:nvSpPr>
          <p:spPr>
            <a:xfrm>
              <a:off x="9950486" y="3574199"/>
              <a:ext cx="5109063" cy="580223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4899"/>
                </a:lnSpc>
              </a:pPr>
              <a:r>
                <a:rPr lang="en-US" altLang="ko-KR" sz="3499" dirty="0">
                  <a:solidFill>
                    <a:srgbClr val="9B4819"/>
                  </a:solidFill>
                  <a:latin typeface="옛간판"/>
                  <a:ea typeface="옛간판"/>
                  <a:cs typeface="옛간판"/>
                  <a:sym typeface="옛간판"/>
                </a:rPr>
                <a:t>WEB</a:t>
              </a:r>
              <a:endParaRPr lang="en-US" sz="3499" dirty="0">
                <a:solidFill>
                  <a:srgbClr val="9B4819"/>
                </a:solidFill>
                <a:latin typeface="옛간판"/>
                <a:ea typeface="옛간판"/>
                <a:cs typeface="옛간판"/>
                <a:sym typeface="옛간판"/>
              </a:endParaRPr>
            </a:p>
          </p:txBody>
        </p:sp>
      </p:grpSp>
      <p:pic>
        <p:nvPicPr>
          <p:cNvPr id="25" name="그림 24">
            <a:extLst>
              <a:ext uri="{FF2B5EF4-FFF2-40B4-BE49-F238E27FC236}">
                <a16:creationId xmlns:a16="http://schemas.microsoft.com/office/drawing/2014/main" id="{A3F24DE3-8B88-998D-7CE4-CCCF6C5A8DE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3726" y="4200445"/>
            <a:ext cx="5898121" cy="5332631"/>
          </a:xfrm>
          <a:prstGeom prst="rect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EE2F10B5-1D40-9874-362B-9C3623647CB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530"/>
          <a:stretch>
            <a:fillRect/>
          </a:stretch>
        </p:blipFill>
        <p:spPr>
          <a:xfrm>
            <a:off x="11975126" y="3556219"/>
            <a:ext cx="5616018" cy="4966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70227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E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11DD02A-B8EB-E21D-2555-6CA74C0953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2">
            <a:extLst>
              <a:ext uri="{FF2B5EF4-FFF2-40B4-BE49-F238E27FC236}">
                <a16:creationId xmlns:a16="http://schemas.microsoft.com/office/drawing/2014/main" id="{DF042535-4A31-14B6-B677-E1B48D3E0402}"/>
              </a:ext>
            </a:extLst>
          </p:cNvPr>
          <p:cNvGrpSpPr/>
          <p:nvPr/>
        </p:nvGrpSpPr>
        <p:grpSpPr>
          <a:xfrm>
            <a:off x="331640" y="334505"/>
            <a:ext cx="17705529" cy="9706532"/>
            <a:chOff x="0" y="0"/>
            <a:chExt cx="115923466" cy="63551609"/>
          </a:xfrm>
        </p:grpSpPr>
        <p:sp>
          <p:nvSpPr>
            <p:cNvPr id="15" name="Freeform 3">
              <a:extLst>
                <a:ext uri="{FF2B5EF4-FFF2-40B4-BE49-F238E27FC236}">
                  <a16:creationId xmlns:a16="http://schemas.microsoft.com/office/drawing/2014/main" id="{2E98D198-4404-6B62-5291-557717733B68}"/>
                </a:ext>
              </a:extLst>
            </p:cNvPr>
            <p:cNvSpPr/>
            <p:nvPr/>
          </p:nvSpPr>
          <p:spPr>
            <a:xfrm>
              <a:off x="72390" y="72390"/>
              <a:ext cx="115778684" cy="63406830"/>
            </a:xfrm>
            <a:custGeom>
              <a:avLst/>
              <a:gdLst/>
              <a:ahLst/>
              <a:cxnLst/>
              <a:rect l="l" t="t" r="r" b="b"/>
              <a:pathLst>
                <a:path w="115778684" h="63406830">
                  <a:moveTo>
                    <a:pt x="0" y="0"/>
                  </a:moveTo>
                  <a:lnTo>
                    <a:pt x="115778684" y="0"/>
                  </a:lnTo>
                  <a:lnTo>
                    <a:pt x="115778684" y="63406830"/>
                  </a:lnTo>
                  <a:lnTo>
                    <a:pt x="0" y="634068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6" name="Freeform 4">
              <a:extLst>
                <a:ext uri="{FF2B5EF4-FFF2-40B4-BE49-F238E27FC236}">
                  <a16:creationId xmlns:a16="http://schemas.microsoft.com/office/drawing/2014/main" id="{D3B072D3-9E1D-9556-A620-DACC8D287C70}"/>
                </a:ext>
              </a:extLst>
            </p:cNvPr>
            <p:cNvSpPr/>
            <p:nvPr/>
          </p:nvSpPr>
          <p:spPr>
            <a:xfrm>
              <a:off x="0" y="0"/>
              <a:ext cx="115923467" cy="63551606"/>
            </a:xfrm>
            <a:custGeom>
              <a:avLst/>
              <a:gdLst/>
              <a:ahLst/>
              <a:cxnLst/>
              <a:rect l="l" t="t" r="r" b="b"/>
              <a:pathLst>
                <a:path w="115923467" h="63551606">
                  <a:moveTo>
                    <a:pt x="115778682" y="63406827"/>
                  </a:moveTo>
                  <a:lnTo>
                    <a:pt x="115923467" y="63406827"/>
                  </a:lnTo>
                  <a:lnTo>
                    <a:pt x="115923467" y="63551606"/>
                  </a:lnTo>
                  <a:lnTo>
                    <a:pt x="115778682" y="63551606"/>
                  </a:lnTo>
                  <a:lnTo>
                    <a:pt x="115778682" y="63406827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63406827"/>
                  </a:lnTo>
                  <a:lnTo>
                    <a:pt x="0" y="63406827"/>
                  </a:lnTo>
                  <a:lnTo>
                    <a:pt x="0" y="144780"/>
                  </a:lnTo>
                  <a:close/>
                  <a:moveTo>
                    <a:pt x="0" y="63406827"/>
                  </a:moveTo>
                  <a:lnTo>
                    <a:pt x="144780" y="63406827"/>
                  </a:lnTo>
                  <a:lnTo>
                    <a:pt x="144780" y="63551606"/>
                  </a:lnTo>
                  <a:lnTo>
                    <a:pt x="0" y="63551606"/>
                  </a:lnTo>
                  <a:lnTo>
                    <a:pt x="0" y="63406827"/>
                  </a:lnTo>
                  <a:close/>
                  <a:moveTo>
                    <a:pt x="115778682" y="144780"/>
                  </a:moveTo>
                  <a:lnTo>
                    <a:pt x="115923467" y="144780"/>
                  </a:lnTo>
                  <a:lnTo>
                    <a:pt x="115923467" y="63406827"/>
                  </a:lnTo>
                  <a:lnTo>
                    <a:pt x="115778682" y="63406827"/>
                  </a:lnTo>
                  <a:lnTo>
                    <a:pt x="115778682" y="144780"/>
                  </a:lnTo>
                  <a:close/>
                  <a:moveTo>
                    <a:pt x="144780" y="63406827"/>
                  </a:moveTo>
                  <a:lnTo>
                    <a:pt x="115778682" y="63406827"/>
                  </a:lnTo>
                  <a:lnTo>
                    <a:pt x="115778682" y="63551606"/>
                  </a:lnTo>
                  <a:lnTo>
                    <a:pt x="144780" y="63551606"/>
                  </a:lnTo>
                  <a:lnTo>
                    <a:pt x="144780" y="63406827"/>
                  </a:lnTo>
                  <a:close/>
                  <a:moveTo>
                    <a:pt x="115778682" y="0"/>
                  </a:moveTo>
                  <a:lnTo>
                    <a:pt x="115923467" y="0"/>
                  </a:lnTo>
                  <a:lnTo>
                    <a:pt x="115923467" y="144780"/>
                  </a:lnTo>
                  <a:lnTo>
                    <a:pt x="115778682" y="144780"/>
                  </a:lnTo>
                  <a:lnTo>
                    <a:pt x="115778682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115778682" y="0"/>
                  </a:lnTo>
                  <a:lnTo>
                    <a:pt x="115778682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17" name="AutoShape 5">
            <a:extLst>
              <a:ext uri="{FF2B5EF4-FFF2-40B4-BE49-F238E27FC236}">
                <a16:creationId xmlns:a16="http://schemas.microsoft.com/office/drawing/2014/main" id="{21B3A334-FD0C-9835-C6E1-F3EDC5A9536B}"/>
              </a:ext>
            </a:extLst>
          </p:cNvPr>
          <p:cNvSpPr/>
          <p:nvPr/>
        </p:nvSpPr>
        <p:spPr>
          <a:xfrm flipV="1">
            <a:off x="331640" y="1028700"/>
            <a:ext cx="17705529" cy="23813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Freeform 6">
            <a:extLst>
              <a:ext uri="{FF2B5EF4-FFF2-40B4-BE49-F238E27FC236}">
                <a16:creationId xmlns:a16="http://schemas.microsoft.com/office/drawing/2014/main" id="{E83BDD97-4835-92A8-0DC1-3D2DDD7BC67D}"/>
              </a:ext>
            </a:extLst>
          </p:cNvPr>
          <p:cNvSpPr/>
          <p:nvPr/>
        </p:nvSpPr>
        <p:spPr>
          <a:xfrm>
            <a:off x="834537" y="638681"/>
            <a:ext cx="605228" cy="122146"/>
          </a:xfrm>
          <a:custGeom>
            <a:avLst/>
            <a:gdLst/>
            <a:ahLst/>
            <a:cxnLst/>
            <a:rect l="l" t="t" r="r" b="b"/>
            <a:pathLst>
              <a:path w="605228" h="122146">
                <a:moveTo>
                  <a:pt x="0" y="0"/>
                </a:moveTo>
                <a:lnTo>
                  <a:pt x="605228" y="0"/>
                </a:lnTo>
                <a:lnTo>
                  <a:pt x="605228" y="122146"/>
                </a:lnTo>
                <a:lnTo>
                  <a:pt x="0" y="12214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2" name="TextBox 6">
            <a:extLst>
              <a:ext uri="{FF2B5EF4-FFF2-40B4-BE49-F238E27FC236}">
                <a16:creationId xmlns:a16="http://schemas.microsoft.com/office/drawing/2014/main" id="{D016D69E-2C61-E0B9-14DF-0C18B8FC7C39}"/>
              </a:ext>
            </a:extLst>
          </p:cNvPr>
          <p:cNvSpPr txBox="1"/>
          <p:nvPr/>
        </p:nvSpPr>
        <p:spPr>
          <a:xfrm>
            <a:off x="834537" y="1569335"/>
            <a:ext cx="11056570" cy="8976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038"/>
              </a:lnSpc>
            </a:pPr>
            <a:r>
              <a:rPr lang="ko-KR" altLang="en-US" sz="7038" dirty="0">
                <a:solidFill>
                  <a:srgbClr val="282A29"/>
                </a:solidFill>
                <a:latin typeface="옛간판"/>
                <a:ea typeface="옛간판"/>
                <a:cs typeface="옛간판"/>
                <a:sym typeface="옛간판"/>
              </a:rPr>
              <a:t>터미널 제공의 딜레마</a:t>
            </a:r>
            <a:endParaRPr lang="en-US" sz="7038" dirty="0">
              <a:solidFill>
                <a:srgbClr val="282A29"/>
              </a:solidFill>
              <a:latin typeface="옛간판"/>
              <a:ea typeface="옛간판"/>
              <a:cs typeface="옛간판"/>
              <a:sym typeface="옛간판"/>
            </a:endParaRPr>
          </a:p>
        </p:txBody>
      </p:sp>
      <p:sp>
        <p:nvSpPr>
          <p:cNvPr id="3" name="Freeform 14">
            <a:extLst>
              <a:ext uri="{FF2B5EF4-FFF2-40B4-BE49-F238E27FC236}">
                <a16:creationId xmlns:a16="http://schemas.microsoft.com/office/drawing/2014/main" id="{67358043-1972-9650-D54C-EE34CCE3E7D3}"/>
              </a:ext>
            </a:extLst>
          </p:cNvPr>
          <p:cNvSpPr/>
          <p:nvPr/>
        </p:nvSpPr>
        <p:spPr>
          <a:xfrm>
            <a:off x="6602287" y="5187770"/>
            <a:ext cx="5083425" cy="3807947"/>
          </a:xfrm>
          <a:custGeom>
            <a:avLst/>
            <a:gdLst/>
            <a:ahLst/>
            <a:cxnLst/>
            <a:rect l="l" t="t" r="r" b="b"/>
            <a:pathLst>
              <a:path w="5083425" h="3807947">
                <a:moveTo>
                  <a:pt x="0" y="0"/>
                </a:moveTo>
                <a:lnTo>
                  <a:pt x="5083425" y="0"/>
                </a:lnTo>
                <a:lnTo>
                  <a:pt x="5083425" y="3807948"/>
                </a:lnTo>
                <a:lnTo>
                  <a:pt x="0" y="380794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78D18351-13AB-A207-951B-1702C8464E90}"/>
              </a:ext>
            </a:extLst>
          </p:cNvPr>
          <p:cNvGrpSpPr/>
          <p:nvPr/>
        </p:nvGrpSpPr>
        <p:grpSpPr>
          <a:xfrm>
            <a:off x="1944709" y="3460029"/>
            <a:ext cx="4657578" cy="4579071"/>
            <a:chOff x="1944709" y="3460029"/>
            <a:chExt cx="4663440" cy="4579071"/>
          </a:xfrm>
        </p:grpSpPr>
        <p:sp>
          <p:nvSpPr>
            <p:cNvPr id="4" name="Text 11">
              <a:extLst>
                <a:ext uri="{FF2B5EF4-FFF2-40B4-BE49-F238E27FC236}">
                  <a16:creationId xmlns:a16="http://schemas.microsoft.com/office/drawing/2014/main" id="{5314FD85-5DC3-3A56-4997-0B779A488BC9}"/>
                </a:ext>
              </a:extLst>
            </p:cNvPr>
            <p:cNvSpPr/>
            <p:nvPr/>
          </p:nvSpPr>
          <p:spPr>
            <a:xfrm>
              <a:off x="1944709" y="5661660"/>
              <a:ext cx="4663440" cy="23774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342900" indent="-342900">
                <a:spcAft>
                  <a:spcPts val="1400"/>
                </a:spcAft>
                <a:buSzPct val="100000"/>
                <a:buChar char="•"/>
              </a:pPr>
              <a:r>
                <a:rPr lang="en-US" sz="2500" b="1" dirty="0">
                  <a:solidFill>
                    <a:srgbClr val="1A1A2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실제 명령어 입력 환경</a:t>
              </a:r>
              <a:endParaRPr lang="en-US" sz="2500" dirty="0"/>
            </a:p>
            <a:p>
              <a:pPr marL="342900" indent="-342900">
                <a:spcAft>
                  <a:spcPts val="1400"/>
                </a:spcAft>
                <a:buSzPct val="100000"/>
                <a:buChar char="•"/>
              </a:pPr>
              <a:r>
                <a:rPr lang="en-US" sz="2500" b="1" dirty="0">
                  <a:solidFill>
                    <a:srgbClr val="1A1A2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즉각적인 피드백 확인</a:t>
              </a:r>
              <a:endParaRPr lang="en-US" sz="2500" dirty="0"/>
            </a:p>
            <a:p>
              <a:pPr marL="342900" indent="-342900">
                <a:spcAft>
                  <a:spcPts val="1400"/>
                </a:spcAft>
                <a:buSzPct val="100000"/>
                <a:buChar char="•"/>
              </a:pPr>
              <a:r>
                <a:rPr lang="en-US" sz="2500" b="1" dirty="0">
                  <a:solidFill>
                    <a:srgbClr val="1A1A2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실수해도 안전한 학습 환경</a:t>
              </a:r>
              <a:endParaRPr lang="en-US" sz="2500" dirty="0"/>
            </a:p>
            <a:p>
              <a:pPr marL="342900" indent="-342900">
                <a:spcAft>
                  <a:spcPts val="1400"/>
                </a:spcAft>
                <a:buSzPct val="100000"/>
                <a:buChar char="•"/>
              </a:pPr>
              <a:r>
                <a:rPr lang="en-US" sz="2500" b="1" dirty="0">
                  <a:solidFill>
                    <a:srgbClr val="1A1A2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다양한 명령어 자유 실험</a:t>
              </a:r>
              <a:endParaRPr lang="en-US" sz="2500" dirty="0"/>
            </a:p>
          </p:txBody>
        </p:sp>
        <p:pic>
          <p:nvPicPr>
            <p:cNvPr id="5" name="Image 1" descr="preencoded.png">
              <a:extLst>
                <a:ext uri="{FF2B5EF4-FFF2-40B4-BE49-F238E27FC236}">
                  <a16:creationId xmlns:a16="http://schemas.microsoft.com/office/drawing/2014/main" id="{BAE84E7E-6951-18D3-E44D-A60B9002CB8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colorTemperature colorTemp="15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819400" y="3460029"/>
              <a:ext cx="1722120" cy="172212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0653938F-10B5-5926-DCB8-15B70A6F2A14}"/>
              </a:ext>
            </a:extLst>
          </p:cNvPr>
          <p:cNvGrpSpPr/>
          <p:nvPr/>
        </p:nvGrpSpPr>
        <p:grpSpPr>
          <a:xfrm>
            <a:off x="12893040" y="3551286"/>
            <a:ext cx="4480560" cy="4564014"/>
            <a:chOff x="12816840" y="3471085"/>
            <a:chExt cx="4480560" cy="4564014"/>
          </a:xfrm>
        </p:grpSpPr>
        <p:pic>
          <p:nvPicPr>
            <p:cNvPr id="6" name="Image 2" descr="preencoded.png">
              <a:extLst>
                <a:ext uri="{FF2B5EF4-FFF2-40B4-BE49-F238E27FC236}">
                  <a16:creationId xmlns:a16="http://schemas.microsoft.com/office/drawing/2014/main" id="{6499015E-F151-30AF-210A-A04F0BD405F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BEBA8EAE-BF5A-486C-A8C5-ECC9F3942E4B}">
                  <a14:imgProps xmlns:a14="http://schemas.microsoft.com/office/drawing/2010/main">
                    <a14:imgLayer r:embed="rId8">
                      <a14:imgEffect>
                        <a14:colorTemperature colorTemp="15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3517880" y="3471085"/>
              <a:ext cx="1722120" cy="1722120"/>
            </a:xfrm>
            <a:prstGeom prst="rect">
              <a:avLst/>
            </a:prstGeom>
          </p:spPr>
        </p:pic>
        <p:sp>
          <p:nvSpPr>
            <p:cNvPr id="7" name="Text 17">
              <a:extLst>
                <a:ext uri="{FF2B5EF4-FFF2-40B4-BE49-F238E27FC236}">
                  <a16:creationId xmlns:a16="http://schemas.microsoft.com/office/drawing/2014/main" id="{72997CE0-6CB8-CAC8-549C-795A4804F201}"/>
                </a:ext>
              </a:extLst>
            </p:cNvPr>
            <p:cNvSpPr/>
            <p:nvPr/>
          </p:nvSpPr>
          <p:spPr>
            <a:xfrm>
              <a:off x="12816840" y="5657659"/>
              <a:ext cx="4480560" cy="23774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342900" indent="-342900">
                <a:spcAft>
                  <a:spcPts val="1400"/>
                </a:spcAft>
                <a:buSzPct val="100000"/>
                <a:buChar char="•"/>
              </a:pPr>
              <a:r>
                <a:rPr lang="en-US" sz="2500" b="1" dirty="0">
                  <a:solidFill>
                    <a:srgbClr val="1A1A2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서버 파일 시스템 보호</a:t>
              </a:r>
              <a:endParaRPr lang="en-US" sz="2500" dirty="0"/>
            </a:p>
            <a:p>
              <a:pPr marL="342900" indent="-342900">
                <a:spcAft>
                  <a:spcPts val="1400"/>
                </a:spcAft>
                <a:buSzPct val="100000"/>
                <a:buChar char="•"/>
              </a:pPr>
              <a:r>
                <a:rPr lang="en-US" sz="2500" b="1" dirty="0">
                  <a:solidFill>
                    <a:srgbClr val="1A1A2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사용자 간 환경 격리</a:t>
              </a:r>
              <a:endParaRPr lang="en-US" sz="2500" dirty="0"/>
            </a:p>
            <a:p>
              <a:pPr marL="342900" indent="-342900">
                <a:spcAft>
                  <a:spcPts val="1400"/>
                </a:spcAft>
                <a:buSzPct val="100000"/>
                <a:buChar char="•"/>
              </a:pPr>
              <a:r>
                <a:rPr lang="en-US" sz="2500" b="1" dirty="0">
                  <a:solidFill>
                    <a:srgbClr val="1A1A2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자원 남용 · 자원 고갈 방지</a:t>
              </a:r>
              <a:endParaRPr lang="en-US" sz="2500" dirty="0"/>
            </a:p>
            <a:p>
              <a:pPr marL="342900" indent="-342900">
                <a:spcAft>
                  <a:spcPts val="1400"/>
                </a:spcAft>
                <a:buSzPct val="100000"/>
                <a:buChar char="•"/>
              </a:pPr>
              <a:r>
                <a:rPr lang="en-US" sz="2500" b="1" dirty="0">
                  <a:solidFill>
                    <a:srgbClr val="1A1A2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권한 상승(root) 공격 차단</a:t>
              </a:r>
              <a:endParaRPr lang="en-US" sz="2500" dirty="0"/>
            </a:p>
          </p:txBody>
        </p:sp>
      </p:grpSp>
    </p:spTree>
    <p:extLst>
      <p:ext uri="{BB962C8B-B14F-4D97-AF65-F5344CB8AC3E}">
        <p14:creationId xmlns:p14="http://schemas.microsoft.com/office/powerpoint/2010/main" val="29607025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E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08AADBF-E008-F919-29B9-A2734CC1BE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2">
            <a:extLst>
              <a:ext uri="{FF2B5EF4-FFF2-40B4-BE49-F238E27FC236}">
                <a16:creationId xmlns:a16="http://schemas.microsoft.com/office/drawing/2014/main" id="{835300BC-371B-5686-952B-4904CAB128C7}"/>
              </a:ext>
            </a:extLst>
          </p:cNvPr>
          <p:cNvGrpSpPr/>
          <p:nvPr/>
        </p:nvGrpSpPr>
        <p:grpSpPr>
          <a:xfrm>
            <a:off x="331640" y="334505"/>
            <a:ext cx="17705529" cy="9706532"/>
            <a:chOff x="0" y="0"/>
            <a:chExt cx="115923466" cy="63551609"/>
          </a:xfrm>
        </p:grpSpPr>
        <p:sp>
          <p:nvSpPr>
            <p:cNvPr id="15" name="Freeform 3">
              <a:extLst>
                <a:ext uri="{FF2B5EF4-FFF2-40B4-BE49-F238E27FC236}">
                  <a16:creationId xmlns:a16="http://schemas.microsoft.com/office/drawing/2014/main" id="{80EC1948-1351-B5B0-C078-EAC2425D436F}"/>
                </a:ext>
              </a:extLst>
            </p:cNvPr>
            <p:cNvSpPr/>
            <p:nvPr/>
          </p:nvSpPr>
          <p:spPr>
            <a:xfrm>
              <a:off x="72390" y="72390"/>
              <a:ext cx="115778684" cy="63406830"/>
            </a:xfrm>
            <a:custGeom>
              <a:avLst/>
              <a:gdLst/>
              <a:ahLst/>
              <a:cxnLst/>
              <a:rect l="l" t="t" r="r" b="b"/>
              <a:pathLst>
                <a:path w="115778684" h="63406830">
                  <a:moveTo>
                    <a:pt x="0" y="0"/>
                  </a:moveTo>
                  <a:lnTo>
                    <a:pt x="115778684" y="0"/>
                  </a:lnTo>
                  <a:lnTo>
                    <a:pt x="115778684" y="63406830"/>
                  </a:lnTo>
                  <a:lnTo>
                    <a:pt x="0" y="634068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6" name="Freeform 4">
              <a:extLst>
                <a:ext uri="{FF2B5EF4-FFF2-40B4-BE49-F238E27FC236}">
                  <a16:creationId xmlns:a16="http://schemas.microsoft.com/office/drawing/2014/main" id="{AAAACB91-EEC8-E591-0648-FE66FF92DEBD}"/>
                </a:ext>
              </a:extLst>
            </p:cNvPr>
            <p:cNvSpPr/>
            <p:nvPr/>
          </p:nvSpPr>
          <p:spPr>
            <a:xfrm>
              <a:off x="0" y="0"/>
              <a:ext cx="115923467" cy="63551606"/>
            </a:xfrm>
            <a:custGeom>
              <a:avLst/>
              <a:gdLst/>
              <a:ahLst/>
              <a:cxnLst/>
              <a:rect l="l" t="t" r="r" b="b"/>
              <a:pathLst>
                <a:path w="115923467" h="63551606">
                  <a:moveTo>
                    <a:pt x="115778682" y="63406827"/>
                  </a:moveTo>
                  <a:lnTo>
                    <a:pt x="115923467" y="63406827"/>
                  </a:lnTo>
                  <a:lnTo>
                    <a:pt x="115923467" y="63551606"/>
                  </a:lnTo>
                  <a:lnTo>
                    <a:pt x="115778682" y="63551606"/>
                  </a:lnTo>
                  <a:lnTo>
                    <a:pt x="115778682" y="63406827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63406827"/>
                  </a:lnTo>
                  <a:lnTo>
                    <a:pt x="0" y="63406827"/>
                  </a:lnTo>
                  <a:lnTo>
                    <a:pt x="0" y="144780"/>
                  </a:lnTo>
                  <a:close/>
                  <a:moveTo>
                    <a:pt x="0" y="63406827"/>
                  </a:moveTo>
                  <a:lnTo>
                    <a:pt x="144780" y="63406827"/>
                  </a:lnTo>
                  <a:lnTo>
                    <a:pt x="144780" y="63551606"/>
                  </a:lnTo>
                  <a:lnTo>
                    <a:pt x="0" y="63551606"/>
                  </a:lnTo>
                  <a:lnTo>
                    <a:pt x="0" y="63406827"/>
                  </a:lnTo>
                  <a:close/>
                  <a:moveTo>
                    <a:pt x="115778682" y="144780"/>
                  </a:moveTo>
                  <a:lnTo>
                    <a:pt x="115923467" y="144780"/>
                  </a:lnTo>
                  <a:lnTo>
                    <a:pt x="115923467" y="63406827"/>
                  </a:lnTo>
                  <a:lnTo>
                    <a:pt x="115778682" y="63406827"/>
                  </a:lnTo>
                  <a:lnTo>
                    <a:pt x="115778682" y="144780"/>
                  </a:lnTo>
                  <a:close/>
                  <a:moveTo>
                    <a:pt x="144780" y="63406827"/>
                  </a:moveTo>
                  <a:lnTo>
                    <a:pt x="115778682" y="63406827"/>
                  </a:lnTo>
                  <a:lnTo>
                    <a:pt x="115778682" y="63551606"/>
                  </a:lnTo>
                  <a:lnTo>
                    <a:pt x="144780" y="63551606"/>
                  </a:lnTo>
                  <a:lnTo>
                    <a:pt x="144780" y="63406827"/>
                  </a:lnTo>
                  <a:close/>
                  <a:moveTo>
                    <a:pt x="115778682" y="0"/>
                  </a:moveTo>
                  <a:lnTo>
                    <a:pt x="115923467" y="0"/>
                  </a:lnTo>
                  <a:lnTo>
                    <a:pt x="115923467" y="144780"/>
                  </a:lnTo>
                  <a:lnTo>
                    <a:pt x="115778682" y="144780"/>
                  </a:lnTo>
                  <a:lnTo>
                    <a:pt x="115778682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115778682" y="0"/>
                  </a:lnTo>
                  <a:lnTo>
                    <a:pt x="115778682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17" name="AutoShape 5">
            <a:extLst>
              <a:ext uri="{FF2B5EF4-FFF2-40B4-BE49-F238E27FC236}">
                <a16:creationId xmlns:a16="http://schemas.microsoft.com/office/drawing/2014/main" id="{41742C9F-CAD7-DEEA-B922-34DCFFDA246C}"/>
              </a:ext>
            </a:extLst>
          </p:cNvPr>
          <p:cNvSpPr/>
          <p:nvPr/>
        </p:nvSpPr>
        <p:spPr>
          <a:xfrm flipV="1">
            <a:off x="331640" y="1028700"/>
            <a:ext cx="17705529" cy="23813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Freeform 6">
            <a:extLst>
              <a:ext uri="{FF2B5EF4-FFF2-40B4-BE49-F238E27FC236}">
                <a16:creationId xmlns:a16="http://schemas.microsoft.com/office/drawing/2014/main" id="{EC1ED822-A596-5CFA-093C-470D10619B13}"/>
              </a:ext>
            </a:extLst>
          </p:cNvPr>
          <p:cNvSpPr/>
          <p:nvPr/>
        </p:nvSpPr>
        <p:spPr>
          <a:xfrm>
            <a:off x="834537" y="638681"/>
            <a:ext cx="605228" cy="122146"/>
          </a:xfrm>
          <a:custGeom>
            <a:avLst/>
            <a:gdLst/>
            <a:ahLst/>
            <a:cxnLst/>
            <a:rect l="l" t="t" r="r" b="b"/>
            <a:pathLst>
              <a:path w="605228" h="122146">
                <a:moveTo>
                  <a:pt x="0" y="0"/>
                </a:moveTo>
                <a:lnTo>
                  <a:pt x="605228" y="0"/>
                </a:lnTo>
                <a:lnTo>
                  <a:pt x="605228" y="122146"/>
                </a:lnTo>
                <a:lnTo>
                  <a:pt x="0" y="12214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2" name="TextBox 6">
            <a:extLst>
              <a:ext uri="{FF2B5EF4-FFF2-40B4-BE49-F238E27FC236}">
                <a16:creationId xmlns:a16="http://schemas.microsoft.com/office/drawing/2014/main" id="{B1E3E394-9A70-06BA-68BF-513A8B0CC4E9}"/>
              </a:ext>
            </a:extLst>
          </p:cNvPr>
          <p:cNvSpPr txBox="1"/>
          <p:nvPr/>
        </p:nvSpPr>
        <p:spPr>
          <a:xfrm>
            <a:off x="834537" y="1569335"/>
            <a:ext cx="11056570" cy="8976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038"/>
              </a:lnSpc>
            </a:pPr>
            <a:r>
              <a:rPr lang="ko-KR" altLang="en-US" sz="7038" dirty="0">
                <a:solidFill>
                  <a:srgbClr val="282A29"/>
                </a:solidFill>
                <a:latin typeface="옛간판"/>
                <a:ea typeface="옛간판"/>
                <a:cs typeface="옛간판"/>
                <a:sym typeface="옛간판"/>
              </a:rPr>
              <a:t>터미널 격리 방식 검토</a:t>
            </a:r>
            <a:endParaRPr lang="en-US" sz="7038" dirty="0">
              <a:solidFill>
                <a:srgbClr val="282A29"/>
              </a:solidFill>
              <a:latin typeface="옛간판"/>
              <a:ea typeface="옛간판"/>
              <a:cs typeface="옛간판"/>
              <a:sym typeface="옛간판"/>
            </a:endParaRPr>
          </a:p>
        </p:txBody>
      </p:sp>
      <p:graphicFrame>
        <p:nvGraphicFramePr>
          <p:cNvPr id="3" name="Table 0">
            <a:extLst>
              <a:ext uri="{FF2B5EF4-FFF2-40B4-BE49-F238E27FC236}">
                <a16:creationId xmlns:a16="http://schemas.microsoft.com/office/drawing/2014/main" id="{DB919749-8C28-AF16-0A75-F1C7A90305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9253"/>
              </p:ext>
            </p:extLst>
          </p:nvPr>
        </p:nvGraphicFramePr>
        <p:xfrm>
          <a:off x="1981200" y="3363333"/>
          <a:ext cx="15087600" cy="5354334"/>
        </p:xfrm>
        <a:graphic>
          <a:graphicData uri="http://schemas.openxmlformats.org/drawingml/2006/table">
            <a:tbl>
              <a:tblPr/>
              <a:tblGrid>
                <a:gridCol w="31892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252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799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932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9238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평가 축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Bash 직접 노출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가상머신 (VM)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Docker </a:t>
                      </a:r>
                      <a:r>
                        <a:rPr lang="en-US" sz="2100" b="1" dirty="0" err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DooD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9238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서버 격리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100" b="1" dirty="0" err="1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호스트</a:t>
                      </a:r>
                      <a:r>
                        <a:rPr lang="en-US" sz="21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파일 접근 가능</a:t>
                      </a:r>
                      <a:endParaRPr lang="en-US" sz="21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100" b="1" dirty="0" err="1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완전</a:t>
                      </a:r>
                      <a:r>
                        <a:rPr lang="en-US" sz="21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격리</a:t>
                      </a:r>
                      <a:endParaRPr lang="en-US" sz="21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100" b="1" dirty="0" err="1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네임스페이스</a:t>
                      </a:r>
                      <a:r>
                        <a:rPr lang="en-US" sz="21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격리</a:t>
                      </a:r>
                      <a:endParaRPr lang="en-US" sz="21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9238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시작 시간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즉시</a:t>
                      </a:r>
                      <a:endParaRPr lang="en-US" sz="21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1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수십 초 ~ 수 분</a:t>
                      </a:r>
                      <a:endParaRPr lang="en-US" sz="21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1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~ 2초</a:t>
                      </a:r>
                      <a:endParaRPr lang="en-US" sz="21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9238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자원 소비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낮음</a:t>
                      </a:r>
                      <a:endParaRPr lang="en-US" sz="21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1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매우 높음 (GB 단위)</a:t>
                      </a:r>
                      <a:endParaRPr lang="en-US" sz="21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1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낮음 (256MB 제한)</a:t>
                      </a:r>
                      <a:endParaRPr lang="en-US" sz="21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9238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다중 사용자 확장성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1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위험</a:t>
                      </a:r>
                      <a:endParaRPr lang="en-US" sz="21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1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자원 한계로 제한적</a:t>
                      </a:r>
                      <a:endParaRPr lang="en-US" sz="21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1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컨테이너 단위 확장</a:t>
                      </a:r>
                      <a:endParaRPr lang="en-US" sz="21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9238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사용자별 환경 분리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1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불가</a:t>
                      </a:r>
                      <a:endParaRPr lang="en-US" sz="21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가능 (비용 큼)</a:t>
                      </a:r>
                      <a:endParaRPr lang="en-US" sz="21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1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가능 (저비용)</a:t>
                      </a:r>
                      <a:endParaRPr lang="en-US" sz="21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133716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E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9E64E98-9D2A-9433-4725-92016DB8A2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2">
            <a:extLst>
              <a:ext uri="{FF2B5EF4-FFF2-40B4-BE49-F238E27FC236}">
                <a16:creationId xmlns:a16="http://schemas.microsoft.com/office/drawing/2014/main" id="{F747AF9E-B8DB-C961-66D3-BD6EEE576A6F}"/>
              </a:ext>
            </a:extLst>
          </p:cNvPr>
          <p:cNvGrpSpPr/>
          <p:nvPr/>
        </p:nvGrpSpPr>
        <p:grpSpPr>
          <a:xfrm>
            <a:off x="291235" y="290234"/>
            <a:ext cx="17705529" cy="9706532"/>
            <a:chOff x="0" y="0"/>
            <a:chExt cx="115923466" cy="63551609"/>
          </a:xfrm>
        </p:grpSpPr>
        <p:sp>
          <p:nvSpPr>
            <p:cNvPr id="15" name="Freeform 3">
              <a:extLst>
                <a:ext uri="{FF2B5EF4-FFF2-40B4-BE49-F238E27FC236}">
                  <a16:creationId xmlns:a16="http://schemas.microsoft.com/office/drawing/2014/main" id="{E4B77471-1659-87FF-F6FE-F5F51A67D567}"/>
                </a:ext>
              </a:extLst>
            </p:cNvPr>
            <p:cNvSpPr/>
            <p:nvPr/>
          </p:nvSpPr>
          <p:spPr>
            <a:xfrm>
              <a:off x="72390" y="72390"/>
              <a:ext cx="115778684" cy="63406830"/>
            </a:xfrm>
            <a:custGeom>
              <a:avLst/>
              <a:gdLst/>
              <a:ahLst/>
              <a:cxnLst/>
              <a:rect l="l" t="t" r="r" b="b"/>
              <a:pathLst>
                <a:path w="115778684" h="63406830">
                  <a:moveTo>
                    <a:pt x="0" y="0"/>
                  </a:moveTo>
                  <a:lnTo>
                    <a:pt x="115778684" y="0"/>
                  </a:lnTo>
                  <a:lnTo>
                    <a:pt x="115778684" y="63406830"/>
                  </a:lnTo>
                  <a:lnTo>
                    <a:pt x="0" y="634068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6" name="Freeform 4">
              <a:extLst>
                <a:ext uri="{FF2B5EF4-FFF2-40B4-BE49-F238E27FC236}">
                  <a16:creationId xmlns:a16="http://schemas.microsoft.com/office/drawing/2014/main" id="{563FE4B8-A410-27A4-384E-706F81EDB3B3}"/>
                </a:ext>
              </a:extLst>
            </p:cNvPr>
            <p:cNvSpPr/>
            <p:nvPr/>
          </p:nvSpPr>
          <p:spPr>
            <a:xfrm>
              <a:off x="0" y="0"/>
              <a:ext cx="115923467" cy="63551606"/>
            </a:xfrm>
            <a:custGeom>
              <a:avLst/>
              <a:gdLst/>
              <a:ahLst/>
              <a:cxnLst/>
              <a:rect l="l" t="t" r="r" b="b"/>
              <a:pathLst>
                <a:path w="115923467" h="63551606">
                  <a:moveTo>
                    <a:pt x="115778682" y="63406827"/>
                  </a:moveTo>
                  <a:lnTo>
                    <a:pt x="115923467" y="63406827"/>
                  </a:lnTo>
                  <a:lnTo>
                    <a:pt x="115923467" y="63551606"/>
                  </a:lnTo>
                  <a:lnTo>
                    <a:pt x="115778682" y="63551606"/>
                  </a:lnTo>
                  <a:lnTo>
                    <a:pt x="115778682" y="63406827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63406827"/>
                  </a:lnTo>
                  <a:lnTo>
                    <a:pt x="0" y="63406827"/>
                  </a:lnTo>
                  <a:lnTo>
                    <a:pt x="0" y="144780"/>
                  </a:lnTo>
                  <a:close/>
                  <a:moveTo>
                    <a:pt x="0" y="63406827"/>
                  </a:moveTo>
                  <a:lnTo>
                    <a:pt x="144780" y="63406827"/>
                  </a:lnTo>
                  <a:lnTo>
                    <a:pt x="144780" y="63551606"/>
                  </a:lnTo>
                  <a:lnTo>
                    <a:pt x="0" y="63551606"/>
                  </a:lnTo>
                  <a:lnTo>
                    <a:pt x="0" y="63406827"/>
                  </a:lnTo>
                  <a:close/>
                  <a:moveTo>
                    <a:pt x="115778682" y="144780"/>
                  </a:moveTo>
                  <a:lnTo>
                    <a:pt x="115923467" y="144780"/>
                  </a:lnTo>
                  <a:lnTo>
                    <a:pt x="115923467" y="63406827"/>
                  </a:lnTo>
                  <a:lnTo>
                    <a:pt x="115778682" y="63406827"/>
                  </a:lnTo>
                  <a:lnTo>
                    <a:pt x="115778682" y="144780"/>
                  </a:lnTo>
                  <a:close/>
                  <a:moveTo>
                    <a:pt x="144780" y="63406827"/>
                  </a:moveTo>
                  <a:lnTo>
                    <a:pt x="115778682" y="63406827"/>
                  </a:lnTo>
                  <a:lnTo>
                    <a:pt x="115778682" y="63551606"/>
                  </a:lnTo>
                  <a:lnTo>
                    <a:pt x="144780" y="63551606"/>
                  </a:lnTo>
                  <a:lnTo>
                    <a:pt x="144780" y="63406827"/>
                  </a:lnTo>
                  <a:close/>
                  <a:moveTo>
                    <a:pt x="115778682" y="0"/>
                  </a:moveTo>
                  <a:lnTo>
                    <a:pt x="115923467" y="0"/>
                  </a:lnTo>
                  <a:lnTo>
                    <a:pt x="115923467" y="144780"/>
                  </a:lnTo>
                  <a:lnTo>
                    <a:pt x="115778682" y="144780"/>
                  </a:lnTo>
                  <a:lnTo>
                    <a:pt x="115778682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115778682" y="0"/>
                  </a:lnTo>
                  <a:lnTo>
                    <a:pt x="115778682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17" name="AutoShape 5">
            <a:extLst>
              <a:ext uri="{FF2B5EF4-FFF2-40B4-BE49-F238E27FC236}">
                <a16:creationId xmlns:a16="http://schemas.microsoft.com/office/drawing/2014/main" id="{505B04A1-C20C-58CF-8F47-670C8E6F8BC5}"/>
              </a:ext>
            </a:extLst>
          </p:cNvPr>
          <p:cNvSpPr/>
          <p:nvPr/>
        </p:nvSpPr>
        <p:spPr>
          <a:xfrm flipV="1">
            <a:off x="331640" y="1028700"/>
            <a:ext cx="17705529" cy="23813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Freeform 6">
            <a:extLst>
              <a:ext uri="{FF2B5EF4-FFF2-40B4-BE49-F238E27FC236}">
                <a16:creationId xmlns:a16="http://schemas.microsoft.com/office/drawing/2014/main" id="{57ED773B-2C5F-44FC-FA77-29626480AF6E}"/>
              </a:ext>
            </a:extLst>
          </p:cNvPr>
          <p:cNvSpPr/>
          <p:nvPr/>
        </p:nvSpPr>
        <p:spPr>
          <a:xfrm>
            <a:off x="834537" y="638681"/>
            <a:ext cx="605228" cy="122146"/>
          </a:xfrm>
          <a:custGeom>
            <a:avLst/>
            <a:gdLst/>
            <a:ahLst/>
            <a:cxnLst/>
            <a:rect l="l" t="t" r="r" b="b"/>
            <a:pathLst>
              <a:path w="605228" h="122146">
                <a:moveTo>
                  <a:pt x="0" y="0"/>
                </a:moveTo>
                <a:lnTo>
                  <a:pt x="605228" y="0"/>
                </a:lnTo>
                <a:lnTo>
                  <a:pt x="605228" y="122146"/>
                </a:lnTo>
                <a:lnTo>
                  <a:pt x="0" y="12214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2" name="TextBox 6">
            <a:extLst>
              <a:ext uri="{FF2B5EF4-FFF2-40B4-BE49-F238E27FC236}">
                <a16:creationId xmlns:a16="http://schemas.microsoft.com/office/drawing/2014/main" id="{946B33BB-48C0-4612-5008-1AE2E2A95B10}"/>
              </a:ext>
            </a:extLst>
          </p:cNvPr>
          <p:cNvSpPr txBox="1"/>
          <p:nvPr/>
        </p:nvSpPr>
        <p:spPr>
          <a:xfrm>
            <a:off x="834537" y="1569335"/>
            <a:ext cx="11056570" cy="8976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038"/>
              </a:lnSpc>
            </a:pPr>
            <a:r>
              <a:rPr lang="en-US" sz="7038" dirty="0" err="1">
                <a:solidFill>
                  <a:srgbClr val="282A29"/>
                </a:solidFill>
                <a:latin typeface="옛간판"/>
                <a:ea typeface="옛간판"/>
                <a:cs typeface="옛간판"/>
                <a:sym typeface="옛간판"/>
              </a:rPr>
              <a:t>DooD</a:t>
            </a:r>
            <a:r>
              <a:rPr lang="en-US" sz="7038" dirty="0">
                <a:solidFill>
                  <a:srgbClr val="282A29"/>
                </a:solidFill>
                <a:latin typeface="옛간판"/>
                <a:ea typeface="옛간판"/>
                <a:cs typeface="옛간판"/>
                <a:sym typeface="옛간판"/>
              </a:rPr>
              <a:t> </a:t>
            </a:r>
            <a:r>
              <a:rPr lang="ko-KR" altLang="en-US" sz="7038" dirty="0">
                <a:solidFill>
                  <a:srgbClr val="282A29"/>
                </a:solidFill>
                <a:latin typeface="옛간판"/>
                <a:ea typeface="옛간판"/>
                <a:cs typeface="옛간판"/>
                <a:sym typeface="옛간판"/>
              </a:rPr>
              <a:t>보안 설계</a:t>
            </a:r>
            <a:endParaRPr lang="en-US" sz="7038" dirty="0">
              <a:solidFill>
                <a:srgbClr val="282A29"/>
              </a:solidFill>
              <a:latin typeface="옛간판"/>
              <a:ea typeface="옛간판"/>
              <a:cs typeface="옛간판"/>
              <a:sym typeface="옛간판"/>
            </a:endParaRPr>
          </a:p>
        </p:txBody>
      </p: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19F9876B-134E-47D8-C489-42126022BD6D}"/>
              </a:ext>
            </a:extLst>
          </p:cNvPr>
          <p:cNvGrpSpPr/>
          <p:nvPr/>
        </p:nvGrpSpPr>
        <p:grpSpPr>
          <a:xfrm>
            <a:off x="1895855" y="4914900"/>
            <a:ext cx="6629400" cy="1454470"/>
            <a:chOff x="1143000" y="3079430"/>
            <a:chExt cx="5303520" cy="822960"/>
          </a:xfrm>
        </p:grpSpPr>
        <p:grpSp>
          <p:nvGrpSpPr>
            <p:cNvPr id="21" name="그룹 20">
              <a:extLst>
                <a:ext uri="{FF2B5EF4-FFF2-40B4-BE49-F238E27FC236}">
                  <a16:creationId xmlns:a16="http://schemas.microsoft.com/office/drawing/2014/main" id="{978AED25-2CE9-37EA-9E76-6CDA4B20EB5A}"/>
                </a:ext>
              </a:extLst>
            </p:cNvPr>
            <p:cNvGrpSpPr/>
            <p:nvPr/>
          </p:nvGrpSpPr>
          <p:grpSpPr>
            <a:xfrm>
              <a:off x="1143000" y="3079430"/>
              <a:ext cx="5303520" cy="548640"/>
              <a:chOff x="457200" y="1828800"/>
              <a:chExt cx="5303520" cy="548640"/>
            </a:xfrm>
          </p:grpSpPr>
          <p:sp>
            <p:nvSpPr>
              <p:cNvPr id="22" name="Shape 4">
                <a:extLst>
                  <a:ext uri="{FF2B5EF4-FFF2-40B4-BE49-F238E27FC236}">
                    <a16:creationId xmlns:a16="http://schemas.microsoft.com/office/drawing/2014/main" id="{93217808-2188-8E84-48E1-5EA6F3B65E18}"/>
                  </a:ext>
                </a:extLst>
              </p:cNvPr>
              <p:cNvSpPr/>
              <p:nvPr/>
            </p:nvSpPr>
            <p:spPr>
              <a:xfrm>
                <a:off x="457200" y="1828800"/>
                <a:ext cx="5303520" cy="548640"/>
              </a:xfrm>
              <a:prstGeom prst="rect">
                <a:avLst/>
              </a:prstGeom>
              <a:solidFill>
                <a:srgbClr val="E8F0FE"/>
              </a:solidFill>
              <a:ln w="12700">
                <a:solidFill>
                  <a:srgbClr val="D5DBE5"/>
                </a:solidFill>
                <a:prstDash val="solid"/>
              </a:ln>
            </p:spPr>
            <p:txBody>
              <a:bodyPr/>
              <a:lstStyle/>
              <a:p>
                <a:endParaRPr lang="ko-KR" altLang="en-US" sz="2200"/>
              </a:p>
            </p:txBody>
          </p:sp>
          <p:sp>
            <p:nvSpPr>
              <p:cNvPr id="23" name="Text 5">
                <a:extLst>
                  <a:ext uri="{FF2B5EF4-FFF2-40B4-BE49-F238E27FC236}">
                    <a16:creationId xmlns:a16="http://schemas.microsoft.com/office/drawing/2014/main" id="{8AD6DFDC-4C80-C2AE-6F11-5288A40C1022}"/>
                  </a:ext>
                </a:extLst>
              </p:cNvPr>
              <p:cNvSpPr/>
              <p:nvPr/>
            </p:nvSpPr>
            <p:spPr>
              <a:xfrm>
                <a:off x="457200" y="1828800"/>
                <a:ext cx="5303520" cy="54864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/>
                <a:r>
                  <a:rPr lang="en-US" altLang="ko-KR" sz="2200" b="1" dirty="0" err="1">
                    <a:solidFill>
                      <a:srgbClr val="1E2761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백엔드</a:t>
                </a:r>
                <a:r>
                  <a:rPr lang="en-US" altLang="ko-KR" sz="2200" b="1" dirty="0">
                    <a:solidFill>
                      <a:srgbClr val="1E2761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</a:t>
                </a:r>
                <a:r>
                  <a:rPr lang="en-US" altLang="ko-KR" sz="2200" b="1" dirty="0" err="1">
                    <a:solidFill>
                      <a:srgbClr val="1E2761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FastAPI</a:t>
                </a:r>
                <a:r>
                  <a:rPr lang="en-US" altLang="ko-KR" sz="2200" b="1" dirty="0">
                    <a:solidFill>
                      <a:srgbClr val="1E2761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— Docker </a:t>
                </a:r>
                <a:r>
                  <a:rPr lang="en-US" altLang="ko-KR" sz="2200" b="1" dirty="0" err="1">
                    <a:solidFill>
                      <a:srgbClr val="1E2761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소켓</a:t>
                </a:r>
                <a:r>
                  <a:rPr lang="en-US" altLang="ko-KR" sz="2200" b="1" dirty="0">
                    <a:solidFill>
                      <a:srgbClr val="1E2761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</a:t>
                </a:r>
                <a:r>
                  <a:rPr lang="en-US" altLang="ko-KR" sz="2200" b="1" dirty="0" err="1">
                    <a:solidFill>
                      <a:srgbClr val="1E2761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마운트</a:t>
                </a:r>
                <a:endParaRPr lang="en-US" altLang="ko-KR" sz="2200" dirty="0"/>
              </a:p>
            </p:txBody>
          </p:sp>
        </p:grpSp>
        <p:sp>
          <p:nvSpPr>
            <p:cNvPr id="24" name="Text 6">
              <a:extLst>
                <a:ext uri="{FF2B5EF4-FFF2-40B4-BE49-F238E27FC236}">
                  <a16:creationId xmlns:a16="http://schemas.microsoft.com/office/drawing/2014/main" id="{51492E89-C354-D883-77D5-710BD6330195}"/>
                </a:ext>
              </a:extLst>
            </p:cNvPr>
            <p:cNvSpPr/>
            <p:nvPr/>
          </p:nvSpPr>
          <p:spPr>
            <a:xfrm>
              <a:off x="1143000" y="3628070"/>
              <a:ext cx="53035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F39C12"/>
                  </a:solidFill>
                </a:rPr>
                <a:t>↓</a:t>
              </a:r>
              <a:endParaRPr lang="en-US" sz="2200" dirty="0"/>
            </a:p>
          </p:txBody>
        </p:sp>
      </p:grp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EFEDDFA0-722C-8D6C-D7CD-F45DACB97658}"/>
              </a:ext>
            </a:extLst>
          </p:cNvPr>
          <p:cNvGrpSpPr/>
          <p:nvPr/>
        </p:nvGrpSpPr>
        <p:grpSpPr>
          <a:xfrm>
            <a:off x="1878282" y="6338381"/>
            <a:ext cx="6629401" cy="1512855"/>
            <a:chOff x="1142999" y="3046395"/>
            <a:chExt cx="5303521" cy="855995"/>
          </a:xfrm>
        </p:grpSpPr>
        <p:grpSp>
          <p:nvGrpSpPr>
            <p:cNvPr id="27" name="그룹 26">
              <a:extLst>
                <a:ext uri="{FF2B5EF4-FFF2-40B4-BE49-F238E27FC236}">
                  <a16:creationId xmlns:a16="http://schemas.microsoft.com/office/drawing/2014/main" id="{D276A641-AAF2-4A2A-09FC-F0A271F971E5}"/>
                </a:ext>
              </a:extLst>
            </p:cNvPr>
            <p:cNvGrpSpPr/>
            <p:nvPr/>
          </p:nvGrpSpPr>
          <p:grpSpPr>
            <a:xfrm>
              <a:off x="1142999" y="3046395"/>
              <a:ext cx="5303521" cy="581675"/>
              <a:chOff x="457199" y="1795765"/>
              <a:chExt cx="5303521" cy="581675"/>
            </a:xfrm>
          </p:grpSpPr>
          <p:sp>
            <p:nvSpPr>
              <p:cNvPr id="29" name="Shape 4">
                <a:extLst>
                  <a:ext uri="{FF2B5EF4-FFF2-40B4-BE49-F238E27FC236}">
                    <a16:creationId xmlns:a16="http://schemas.microsoft.com/office/drawing/2014/main" id="{F7DE23CC-2050-6871-13A3-82976C19B8E2}"/>
                  </a:ext>
                </a:extLst>
              </p:cNvPr>
              <p:cNvSpPr/>
              <p:nvPr/>
            </p:nvSpPr>
            <p:spPr>
              <a:xfrm>
                <a:off x="457199" y="1795765"/>
                <a:ext cx="5303520" cy="548640"/>
              </a:xfrm>
              <a:prstGeom prst="rect">
                <a:avLst/>
              </a:prstGeom>
              <a:solidFill>
                <a:srgbClr val="E8F0FE"/>
              </a:solidFill>
              <a:ln w="12700">
                <a:solidFill>
                  <a:srgbClr val="D5DBE5"/>
                </a:solidFill>
                <a:prstDash val="solid"/>
              </a:ln>
            </p:spPr>
            <p:txBody>
              <a:bodyPr/>
              <a:lstStyle/>
              <a:p>
                <a:endParaRPr lang="ko-KR" altLang="en-US" sz="2200" dirty="0"/>
              </a:p>
            </p:txBody>
          </p:sp>
          <p:sp>
            <p:nvSpPr>
              <p:cNvPr id="30" name="Text 5">
                <a:extLst>
                  <a:ext uri="{FF2B5EF4-FFF2-40B4-BE49-F238E27FC236}">
                    <a16:creationId xmlns:a16="http://schemas.microsoft.com/office/drawing/2014/main" id="{FB3F7923-F036-0256-3F1A-F2EB5E4D0DAE}"/>
                  </a:ext>
                </a:extLst>
              </p:cNvPr>
              <p:cNvSpPr/>
              <p:nvPr/>
            </p:nvSpPr>
            <p:spPr>
              <a:xfrm>
                <a:off x="457200" y="1828800"/>
                <a:ext cx="5303520" cy="54864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/>
                <a:r>
                  <a:rPr lang="ko-KR" altLang="en-US" sz="2200" b="1" dirty="0">
                    <a:solidFill>
                      <a:srgbClr val="1E2761"/>
                    </a:solidFill>
                    <a:latin typeface="Calibri" pitchFamily="34" charset="0"/>
                    <a:cs typeface="Calibri" pitchFamily="34" charset="-120"/>
                  </a:rPr>
                  <a:t>호스트 </a:t>
                </a:r>
                <a:r>
                  <a:rPr lang="en-US" altLang="ko-KR" sz="2200" b="1" dirty="0">
                    <a:solidFill>
                      <a:srgbClr val="1E2761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Docker </a:t>
                </a:r>
                <a:r>
                  <a:rPr lang="ko-KR" altLang="en-US" sz="2200" b="1" dirty="0">
                    <a:solidFill>
                      <a:srgbClr val="1E2761"/>
                    </a:solidFill>
                    <a:latin typeface="Calibri" pitchFamily="34" charset="0"/>
                    <a:cs typeface="Calibri" pitchFamily="34" charset="-120"/>
                  </a:rPr>
                  <a:t>엔진이 컨테이너 생성</a:t>
                </a:r>
                <a:endParaRPr lang="en-US" altLang="ko-KR" sz="2200" b="1" dirty="0">
                  <a:solidFill>
                    <a:srgbClr val="1E276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endParaRPr>
              </a:p>
            </p:txBody>
          </p:sp>
        </p:grpSp>
        <p:sp>
          <p:nvSpPr>
            <p:cNvPr id="28" name="Text 6">
              <a:extLst>
                <a:ext uri="{FF2B5EF4-FFF2-40B4-BE49-F238E27FC236}">
                  <a16:creationId xmlns:a16="http://schemas.microsoft.com/office/drawing/2014/main" id="{467B2E40-D522-0B7D-C451-D2ECA2E70B4B}"/>
                </a:ext>
              </a:extLst>
            </p:cNvPr>
            <p:cNvSpPr/>
            <p:nvPr/>
          </p:nvSpPr>
          <p:spPr>
            <a:xfrm>
              <a:off x="1143000" y="3628070"/>
              <a:ext cx="53035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F39C12"/>
                  </a:solidFill>
                </a:rPr>
                <a:t>↓</a:t>
              </a:r>
              <a:endParaRPr lang="en-US" sz="2200" dirty="0"/>
            </a:p>
          </p:txBody>
        </p:sp>
      </p:grp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C34B8020-70BA-101E-894B-086378B3CF94}"/>
              </a:ext>
            </a:extLst>
          </p:cNvPr>
          <p:cNvGrpSpPr/>
          <p:nvPr/>
        </p:nvGrpSpPr>
        <p:grpSpPr>
          <a:xfrm>
            <a:off x="1913427" y="7877956"/>
            <a:ext cx="6611828" cy="997042"/>
            <a:chOff x="1143000" y="6628178"/>
            <a:chExt cx="5303520" cy="457200"/>
          </a:xfrm>
        </p:grpSpPr>
        <p:sp>
          <p:nvSpPr>
            <p:cNvPr id="32" name="Shape 11">
              <a:extLst>
                <a:ext uri="{FF2B5EF4-FFF2-40B4-BE49-F238E27FC236}">
                  <a16:creationId xmlns:a16="http://schemas.microsoft.com/office/drawing/2014/main" id="{266591EA-52FF-42A3-2FF8-80349147A0F6}"/>
                </a:ext>
              </a:extLst>
            </p:cNvPr>
            <p:cNvSpPr/>
            <p:nvPr/>
          </p:nvSpPr>
          <p:spPr>
            <a:xfrm>
              <a:off x="1143000" y="6628178"/>
              <a:ext cx="5303520" cy="457200"/>
            </a:xfrm>
            <a:prstGeom prst="rect">
              <a:avLst/>
            </a:prstGeom>
            <a:solidFill>
              <a:srgbClr val="131A47"/>
            </a:solidFill>
            <a:ln/>
          </p:spPr>
          <p:txBody>
            <a:bodyPr/>
            <a:lstStyle/>
            <a:p>
              <a:endParaRPr lang="ko-KR" altLang="en-US" dirty="0"/>
            </a:p>
          </p:txBody>
        </p:sp>
        <p:pic>
          <p:nvPicPr>
            <p:cNvPr id="33" name="Image 0" descr="preencoded.png">
              <a:extLst>
                <a:ext uri="{FF2B5EF4-FFF2-40B4-BE49-F238E27FC236}">
                  <a16:creationId xmlns:a16="http://schemas.microsoft.com/office/drawing/2014/main" id="{EE2B9A01-D0BF-061D-08A1-39479DFDC24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592128" y="6709136"/>
              <a:ext cx="521087" cy="274320"/>
            </a:xfrm>
            <a:prstGeom prst="rect">
              <a:avLst/>
            </a:prstGeom>
          </p:spPr>
        </p:pic>
        <p:sp>
          <p:nvSpPr>
            <p:cNvPr id="34" name="Text 12">
              <a:extLst>
                <a:ext uri="{FF2B5EF4-FFF2-40B4-BE49-F238E27FC236}">
                  <a16:creationId xmlns:a16="http://schemas.microsoft.com/office/drawing/2014/main" id="{64E51249-9A18-AD71-B111-557471BD911E}"/>
                </a:ext>
              </a:extLst>
            </p:cNvPr>
            <p:cNvSpPr/>
            <p:nvPr/>
          </p:nvSpPr>
          <p:spPr>
            <a:xfrm>
              <a:off x="2229101" y="6628178"/>
              <a:ext cx="3972931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100" b="1" dirty="0">
                  <a:solidFill>
                    <a:srgbClr val="FFFFF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Docker Container — </a:t>
              </a:r>
              <a:r>
                <a:rPr lang="en-US" sz="2100" b="1" dirty="0" err="1">
                  <a:solidFill>
                    <a:srgbClr val="FFFFF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webterm:latest</a:t>
              </a:r>
              <a:endParaRPr lang="en-US" sz="2100" dirty="0"/>
            </a:p>
          </p:txBody>
        </p:sp>
      </p:grpSp>
      <p:grpSp>
        <p:nvGrpSpPr>
          <p:cNvPr id="73" name="그룹 72">
            <a:extLst>
              <a:ext uri="{FF2B5EF4-FFF2-40B4-BE49-F238E27FC236}">
                <a16:creationId xmlns:a16="http://schemas.microsoft.com/office/drawing/2014/main" id="{96DE1621-3FE1-3D78-66CA-3CEE75966A75}"/>
              </a:ext>
            </a:extLst>
          </p:cNvPr>
          <p:cNvGrpSpPr/>
          <p:nvPr/>
        </p:nvGrpSpPr>
        <p:grpSpPr>
          <a:xfrm>
            <a:off x="9753602" y="3795141"/>
            <a:ext cx="7432308" cy="5404415"/>
            <a:chOff x="6263640" y="2468880"/>
            <a:chExt cx="5440680" cy="3749040"/>
          </a:xfrm>
        </p:grpSpPr>
        <p:pic>
          <p:nvPicPr>
            <p:cNvPr id="55" name="Image 1" descr="preencoded.png">
              <a:extLst>
                <a:ext uri="{FF2B5EF4-FFF2-40B4-BE49-F238E27FC236}">
                  <a16:creationId xmlns:a16="http://schemas.microsoft.com/office/drawing/2014/main" id="{905D2EFC-25DF-34C9-7F4C-17CC52DA18B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263640" y="2578608"/>
              <a:ext cx="320040" cy="320040"/>
            </a:xfrm>
            <a:prstGeom prst="rect">
              <a:avLst/>
            </a:prstGeom>
          </p:spPr>
        </p:pic>
        <p:sp>
          <p:nvSpPr>
            <p:cNvPr id="56" name="Text 29">
              <a:extLst>
                <a:ext uri="{FF2B5EF4-FFF2-40B4-BE49-F238E27FC236}">
                  <a16:creationId xmlns:a16="http://schemas.microsoft.com/office/drawing/2014/main" id="{C7F831CB-05AE-7873-7743-7ABC6AFC9CF7}"/>
                </a:ext>
              </a:extLst>
            </p:cNvPr>
            <p:cNvSpPr/>
            <p:nvPr/>
          </p:nvSpPr>
          <p:spPr>
            <a:xfrm>
              <a:off x="6675120" y="2468880"/>
              <a:ext cx="182880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000" b="1" dirty="0">
                  <a:solidFill>
                    <a:srgbClr val="1E2761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비root 사용자</a:t>
              </a:r>
              <a:endParaRPr lang="en-US" sz="2000" dirty="0"/>
            </a:p>
          </p:txBody>
        </p:sp>
        <p:sp>
          <p:nvSpPr>
            <p:cNvPr id="57" name="Text 30">
              <a:extLst>
                <a:ext uri="{FF2B5EF4-FFF2-40B4-BE49-F238E27FC236}">
                  <a16:creationId xmlns:a16="http://schemas.microsoft.com/office/drawing/2014/main" id="{4DBC9D3D-F0DA-1E50-235B-ED35609B5C0C}"/>
                </a:ext>
              </a:extLst>
            </p:cNvPr>
            <p:cNvSpPr/>
            <p:nvPr/>
          </p:nvSpPr>
          <p:spPr>
            <a:xfrm>
              <a:off x="8412480" y="2468880"/>
              <a:ext cx="329184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000" dirty="0">
                  <a:solidFill>
                    <a:srgbClr val="1A1A2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컨테이너 내 권한 상승 공격 차단</a:t>
              </a:r>
              <a:endParaRPr lang="en-US" sz="2000" dirty="0"/>
            </a:p>
          </p:txBody>
        </p:sp>
        <p:pic>
          <p:nvPicPr>
            <p:cNvPr id="58" name="Image 2" descr="preencoded.png">
              <a:extLst>
                <a:ext uri="{FF2B5EF4-FFF2-40B4-BE49-F238E27FC236}">
                  <a16:creationId xmlns:a16="http://schemas.microsoft.com/office/drawing/2014/main" id="{99E1AA18-0453-D869-F585-95DA33B9D66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263640" y="3218688"/>
              <a:ext cx="320040" cy="320040"/>
            </a:xfrm>
            <a:prstGeom prst="rect">
              <a:avLst/>
            </a:prstGeom>
          </p:spPr>
        </p:pic>
        <p:sp>
          <p:nvSpPr>
            <p:cNvPr id="59" name="Text 33">
              <a:extLst>
                <a:ext uri="{FF2B5EF4-FFF2-40B4-BE49-F238E27FC236}">
                  <a16:creationId xmlns:a16="http://schemas.microsoft.com/office/drawing/2014/main" id="{72BDE536-170F-23F2-1368-4D230A4E18DD}"/>
                </a:ext>
              </a:extLst>
            </p:cNvPr>
            <p:cNvSpPr/>
            <p:nvPr/>
          </p:nvSpPr>
          <p:spPr>
            <a:xfrm>
              <a:off x="6675120" y="3108960"/>
              <a:ext cx="182880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000" b="1" dirty="0">
                  <a:solidFill>
                    <a:srgbClr val="1E2761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메모리 256MB</a:t>
              </a:r>
              <a:endParaRPr lang="en-US" sz="2000" dirty="0"/>
            </a:p>
          </p:txBody>
        </p:sp>
        <p:sp>
          <p:nvSpPr>
            <p:cNvPr id="60" name="Text 34">
              <a:extLst>
                <a:ext uri="{FF2B5EF4-FFF2-40B4-BE49-F238E27FC236}">
                  <a16:creationId xmlns:a16="http://schemas.microsoft.com/office/drawing/2014/main" id="{EC5F2E25-093E-C6D3-584B-0CFBB7B0C379}"/>
                </a:ext>
              </a:extLst>
            </p:cNvPr>
            <p:cNvSpPr/>
            <p:nvPr/>
          </p:nvSpPr>
          <p:spPr>
            <a:xfrm>
              <a:off x="8412480" y="3108960"/>
              <a:ext cx="329184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000" dirty="0">
                  <a:solidFill>
                    <a:srgbClr val="1A1A2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자원 고갈(DoS) 공격 차단</a:t>
              </a:r>
              <a:endParaRPr lang="en-US" sz="2000" dirty="0"/>
            </a:p>
          </p:txBody>
        </p:sp>
        <p:pic>
          <p:nvPicPr>
            <p:cNvPr id="61" name="Image 3" descr="preencoded.png">
              <a:extLst>
                <a:ext uri="{FF2B5EF4-FFF2-40B4-BE49-F238E27FC236}">
                  <a16:creationId xmlns:a16="http://schemas.microsoft.com/office/drawing/2014/main" id="{05D5C317-7AAD-DF00-5653-CAD9BFCC40C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263640" y="3858768"/>
              <a:ext cx="320040" cy="320040"/>
            </a:xfrm>
            <a:prstGeom prst="rect">
              <a:avLst/>
            </a:prstGeom>
          </p:spPr>
        </p:pic>
        <p:sp>
          <p:nvSpPr>
            <p:cNvPr id="62" name="Text 37">
              <a:extLst>
                <a:ext uri="{FF2B5EF4-FFF2-40B4-BE49-F238E27FC236}">
                  <a16:creationId xmlns:a16="http://schemas.microsoft.com/office/drawing/2014/main" id="{E0ADF7D7-D705-92BE-3E20-38A0A67E807D}"/>
                </a:ext>
              </a:extLst>
            </p:cNvPr>
            <p:cNvSpPr/>
            <p:nvPr/>
          </p:nvSpPr>
          <p:spPr>
            <a:xfrm>
              <a:off x="6675120" y="3749040"/>
              <a:ext cx="182880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000" b="1" dirty="0">
                  <a:solidFill>
                    <a:srgbClr val="1E2761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CPU 0.5 코어</a:t>
              </a:r>
              <a:endParaRPr lang="en-US" sz="2000" dirty="0"/>
            </a:p>
          </p:txBody>
        </p:sp>
        <p:sp>
          <p:nvSpPr>
            <p:cNvPr id="63" name="Text 38">
              <a:extLst>
                <a:ext uri="{FF2B5EF4-FFF2-40B4-BE49-F238E27FC236}">
                  <a16:creationId xmlns:a16="http://schemas.microsoft.com/office/drawing/2014/main" id="{5E1EBBCC-36ED-7B2E-FE1C-E33F6569098C}"/>
                </a:ext>
              </a:extLst>
            </p:cNvPr>
            <p:cNvSpPr/>
            <p:nvPr/>
          </p:nvSpPr>
          <p:spPr>
            <a:xfrm>
              <a:off x="8412480" y="3749040"/>
              <a:ext cx="329184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000" dirty="0">
                  <a:solidFill>
                    <a:srgbClr val="1A1A2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CPU 점유 공격 차단</a:t>
              </a:r>
              <a:endParaRPr lang="en-US" sz="2000" dirty="0"/>
            </a:p>
          </p:txBody>
        </p:sp>
        <p:pic>
          <p:nvPicPr>
            <p:cNvPr id="64" name="Image 4" descr="preencoded.png">
              <a:extLst>
                <a:ext uri="{FF2B5EF4-FFF2-40B4-BE49-F238E27FC236}">
                  <a16:creationId xmlns:a16="http://schemas.microsoft.com/office/drawing/2014/main" id="{A622C103-15FC-57CA-5B8D-26123CB302C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6263640" y="4498848"/>
              <a:ext cx="320040" cy="320040"/>
            </a:xfrm>
            <a:prstGeom prst="rect">
              <a:avLst/>
            </a:prstGeom>
          </p:spPr>
        </p:pic>
        <p:sp>
          <p:nvSpPr>
            <p:cNvPr id="65" name="Text 41">
              <a:extLst>
                <a:ext uri="{FF2B5EF4-FFF2-40B4-BE49-F238E27FC236}">
                  <a16:creationId xmlns:a16="http://schemas.microsoft.com/office/drawing/2014/main" id="{CC0E8150-E62B-ECC2-FCB7-DB28C3C1A5FD}"/>
                </a:ext>
              </a:extLst>
            </p:cNvPr>
            <p:cNvSpPr/>
            <p:nvPr/>
          </p:nvSpPr>
          <p:spPr>
            <a:xfrm>
              <a:off x="6675120" y="4389120"/>
              <a:ext cx="182880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000" b="1" dirty="0">
                  <a:solidFill>
                    <a:srgbClr val="1E2761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PID 100개 제한</a:t>
              </a:r>
              <a:endParaRPr lang="en-US" sz="2000" dirty="0"/>
            </a:p>
          </p:txBody>
        </p:sp>
        <p:sp>
          <p:nvSpPr>
            <p:cNvPr id="66" name="Text 42">
              <a:extLst>
                <a:ext uri="{FF2B5EF4-FFF2-40B4-BE49-F238E27FC236}">
                  <a16:creationId xmlns:a16="http://schemas.microsoft.com/office/drawing/2014/main" id="{FD2B0881-0F5A-C417-0D40-9DABFD88D7FE}"/>
                </a:ext>
              </a:extLst>
            </p:cNvPr>
            <p:cNvSpPr/>
            <p:nvPr/>
          </p:nvSpPr>
          <p:spPr>
            <a:xfrm>
              <a:off x="8412480" y="4389120"/>
              <a:ext cx="329184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000" dirty="0">
                  <a:solidFill>
                    <a:srgbClr val="1A1A2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fork bomb 차단</a:t>
              </a:r>
              <a:endParaRPr lang="en-US" sz="2000" dirty="0"/>
            </a:p>
          </p:txBody>
        </p:sp>
        <p:pic>
          <p:nvPicPr>
            <p:cNvPr id="67" name="Image 5" descr="preencoded.png">
              <a:extLst>
                <a:ext uri="{FF2B5EF4-FFF2-40B4-BE49-F238E27FC236}">
                  <a16:creationId xmlns:a16="http://schemas.microsoft.com/office/drawing/2014/main" id="{8CDFA794-B741-75A5-761C-91181FF5C3C8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6263640" y="5138928"/>
              <a:ext cx="320040" cy="320040"/>
            </a:xfrm>
            <a:prstGeom prst="rect">
              <a:avLst/>
            </a:prstGeom>
          </p:spPr>
        </p:pic>
        <p:sp>
          <p:nvSpPr>
            <p:cNvPr id="68" name="Text 45">
              <a:extLst>
                <a:ext uri="{FF2B5EF4-FFF2-40B4-BE49-F238E27FC236}">
                  <a16:creationId xmlns:a16="http://schemas.microsoft.com/office/drawing/2014/main" id="{34479006-75A8-62D8-63A4-E5685944137B}"/>
                </a:ext>
              </a:extLst>
            </p:cNvPr>
            <p:cNvSpPr/>
            <p:nvPr/>
          </p:nvSpPr>
          <p:spPr>
            <a:xfrm>
              <a:off x="6675120" y="5029200"/>
              <a:ext cx="182880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000" b="1" dirty="0">
                  <a:solidFill>
                    <a:srgbClr val="1E2761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sudo 차단</a:t>
              </a:r>
              <a:endParaRPr lang="en-US" sz="2000" dirty="0"/>
            </a:p>
          </p:txBody>
        </p:sp>
        <p:sp>
          <p:nvSpPr>
            <p:cNvPr id="69" name="Text 46">
              <a:extLst>
                <a:ext uri="{FF2B5EF4-FFF2-40B4-BE49-F238E27FC236}">
                  <a16:creationId xmlns:a16="http://schemas.microsoft.com/office/drawing/2014/main" id="{D846FDB9-F0EB-B837-B723-74447063508F}"/>
                </a:ext>
              </a:extLst>
            </p:cNvPr>
            <p:cNvSpPr/>
            <p:nvPr/>
          </p:nvSpPr>
          <p:spPr>
            <a:xfrm>
              <a:off x="8412480" y="5029200"/>
              <a:ext cx="329184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000" dirty="0" err="1">
                  <a:solidFill>
                    <a:srgbClr val="1A1A2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시스템</a:t>
              </a:r>
              <a:r>
                <a:rPr lang="en-US" sz="2000" dirty="0">
                  <a:solidFill>
                    <a:srgbClr val="1A1A2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변경 위협 차단 (단, 학습 손실)</a:t>
              </a:r>
              <a:endParaRPr lang="en-US" sz="2000" dirty="0"/>
            </a:p>
          </p:txBody>
        </p:sp>
        <p:pic>
          <p:nvPicPr>
            <p:cNvPr id="70" name="Image 6" descr="preencoded.png">
              <a:extLst>
                <a:ext uri="{FF2B5EF4-FFF2-40B4-BE49-F238E27FC236}">
                  <a16:creationId xmlns:a16="http://schemas.microsoft.com/office/drawing/2014/main" id="{8A5E872D-56D4-C4D3-E770-CE84131814C1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6263640" y="5779008"/>
              <a:ext cx="320040" cy="320040"/>
            </a:xfrm>
            <a:prstGeom prst="rect">
              <a:avLst/>
            </a:prstGeom>
          </p:spPr>
        </p:pic>
        <p:sp>
          <p:nvSpPr>
            <p:cNvPr id="71" name="Text 49">
              <a:extLst>
                <a:ext uri="{FF2B5EF4-FFF2-40B4-BE49-F238E27FC236}">
                  <a16:creationId xmlns:a16="http://schemas.microsoft.com/office/drawing/2014/main" id="{062EF412-6C95-7692-EDF5-2D1760CFA221}"/>
                </a:ext>
              </a:extLst>
            </p:cNvPr>
            <p:cNvSpPr/>
            <p:nvPr/>
          </p:nvSpPr>
          <p:spPr>
            <a:xfrm>
              <a:off x="6675120" y="5669280"/>
              <a:ext cx="182880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000" b="1" dirty="0">
                  <a:solidFill>
                    <a:srgbClr val="1E2761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--rm 자동 삭제</a:t>
              </a:r>
              <a:endParaRPr lang="en-US" sz="2000" dirty="0"/>
            </a:p>
          </p:txBody>
        </p:sp>
        <p:sp>
          <p:nvSpPr>
            <p:cNvPr id="72" name="Text 50">
              <a:extLst>
                <a:ext uri="{FF2B5EF4-FFF2-40B4-BE49-F238E27FC236}">
                  <a16:creationId xmlns:a16="http://schemas.microsoft.com/office/drawing/2014/main" id="{44E4AC15-AC06-9327-74AE-2B4FB6DE0ECA}"/>
                </a:ext>
              </a:extLst>
            </p:cNvPr>
            <p:cNvSpPr/>
            <p:nvPr/>
          </p:nvSpPr>
          <p:spPr>
            <a:xfrm>
              <a:off x="8412480" y="5669280"/>
              <a:ext cx="329184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000" dirty="0" err="1">
                  <a:solidFill>
                    <a:srgbClr val="1A1A2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영구</a:t>
              </a:r>
              <a:r>
                <a:rPr lang="en-US" sz="2000" dirty="0">
                  <a:solidFill>
                    <a:srgbClr val="1A1A2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변형 · 정보 잔존 차단</a:t>
              </a:r>
              <a:endParaRPr lang="en-US" sz="2000" dirty="0"/>
            </a:p>
          </p:txBody>
        </p:sp>
      </p:grpSp>
      <p:sp>
        <p:nvSpPr>
          <p:cNvPr id="74" name="Text 25">
            <a:extLst>
              <a:ext uri="{FF2B5EF4-FFF2-40B4-BE49-F238E27FC236}">
                <a16:creationId xmlns:a16="http://schemas.microsoft.com/office/drawing/2014/main" id="{07852735-60AA-4A9D-01C6-54CB8D818469}"/>
              </a:ext>
            </a:extLst>
          </p:cNvPr>
          <p:cNvSpPr/>
          <p:nvPr/>
        </p:nvSpPr>
        <p:spPr>
          <a:xfrm>
            <a:off x="9753600" y="300990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각 통제가 차단하는 위협</a:t>
            </a:r>
            <a:endParaRPr lang="en-US" sz="2400" dirty="0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D124E850-B25A-56D3-6709-B447849569D7}"/>
              </a:ext>
            </a:extLst>
          </p:cNvPr>
          <p:cNvGrpSpPr/>
          <p:nvPr/>
        </p:nvGrpSpPr>
        <p:grpSpPr>
          <a:xfrm>
            <a:off x="1905000" y="3467100"/>
            <a:ext cx="6629400" cy="1454470"/>
            <a:chOff x="1143000" y="3079430"/>
            <a:chExt cx="5303520" cy="822960"/>
          </a:xfrm>
        </p:grpSpPr>
        <p:grpSp>
          <p:nvGrpSpPr>
            <p:cNvPr id="4" name="그룹 3">
              <a:extLst>
                <a:ext uri="{FF2B5EF4-FFF2-40B4-BE49-F238E27FC236}">
                  <a16:creationId xmlns:a16="http://schemas.microsoft.com/office/drawing/2014/main" id="{C1B2F1A5-B1AB-435A-A4CF-7B5D0AA00943}"/>
                </a:ext>
              </a:extLst>
            </p:cNvPr>
            <p:cNvGrpSpPr/>
            <p:nvPr/>
          </p:nvGrpSpPr>
          <p:grpSpPr>
            <a:xfrm>
              <a:off x="1143000" y="3079430"/>
              <a:ext cx="5303520" cy="548640"/>
              <a:chOff x="457200" y="1828800"/>
              <a:chExt cx="5303520" cy="548640"/>
            </a:xfrm>
          </p:grpSpPr>
          <p:sp>
            <p:nvSpPr>
              <p:cNvPr id="6" name="Shape 4">
                <a:extLst>
                  <a:ext uri="{FF2B5EF4-FFF2-40B4-BE49-F238E27FC236}">
                    <a16:creationId xmlns:a16="http://schemas.microsoft.com/office/drawing/2014/main" id="{E9532A37-A250-73DA-0B6A-165033135E4A}"/>
                  </a:ext>
                </a:extLst>
              </p:cNvPr>
              <p:cNvSpPr/>
              <p:nvPr/>
            </p:nvSpPr>
            <p:spPr>
              <a:xfrm>
                <a:off x="457200" y="1828800"/>
                <a:ext cx="5303520" cy="548640"/>
              </a:xfrm>
              <a:prstGeom prst="rect">
                <a:avLst/>
              </a:prstGeom>
              <a:solidFill>
                <a:srgbClr val="E8F0FE"/>
              </a:solidFill>
              <a:ln w="12700">
                <a:solidFill>
                  <a:srgbClr val="D5DBE5"/>
                </a:solidFill>
                <a:prstDash val="solid"/>
              </a:ln>
            </p:spPr>
            <p:txBody>
              <a:bodyPr/>
              <a:lstStyle/>
              <a:p>
                <a:endParaRPr lang="ko-KR" altLang="en-US" sz="2200"/>
              </a:p>
            </p:txBody>
          </p:sp>
          <p:sp>
            <p:nvSpPr>
              <p:cNvPr id="7" name="Text 5">
                <a:extLst>
                  <a:ext uri="{FF2B5EF4-FFF2-40B4-BE49-F238E27FC236}">
                    <a16:creationId xmlns:a16="http://schemas.microsoft.com/office/drawing/2014/main" id="{FF3E97ED-A434-1834-95F1-92E2AEC585F2}"/>
                  </a:ext>
                </a:extLst>
              </p:cNvPr>
              <p:cNvSpPr/>
              <p:nvPr/>
            </p:nvSpPr>
            <p:spPr>
              <a:xfrm>
                <a:off x="457200" y="1828800"/>
                <a:ext cx="5303520" cy="54864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2200" b="1" dirty="0">
                    <a:solidFill>
                      <a:srgbClr val="1E2761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사용자 브라우저 — WebSocket + JWT 인증</a:t>
                </a:r>
                <a:endParaRPr lang="en-US" sz="2200" dirty="0"/>
              </a:p>
            </p:txBody>
          </p:sp>
        </p:grpSp>
        <p:sp>
          <p:nvSpPr>
            <p:cNvPr id="5" name="Text 6">
              <a:extLst>
                <a:ext uri="{FF2B5EF4-FFF2-40B4-BE49-F238E27FC236}">
                  <a16:creationId xmlns:a16="http://schemas.microsoft.com/office/drawing/2014/main" id="{B898838F-E257-4393-E96E-FA8756FA3654}"/>
                </a:ext>
              </a:extLst>
            </p:cNvPr>
            <p:cNvSpPr/>
            <p:nvPr/>
          </p:nvSpPr>
          <p:spPr>
            <a:xfrm>
              <a:off x="1143000" y="3628070"/>
              <a:ext cx="53035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F39C12"/>
                  </a:solidFill>
                </a:rPr>
                <a:t>↓</a:t>
              </a:r>
              <a:endParaRPr lang="en-US" sz="2200" dirty="0"/>
            </a:p>
          </p:txBody>
        </p:sp>
      </p:grpSp>
    </p:spTree>
    <p:extLst>
      <p:ext uri="{BB962C8B-B14F-4D97-AF65-F5344CB8AC3E}">
        <p14:creationId xmlns:p14="http://schemas.microsoft.com/office/powerpoint/2010/main" val="22291862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E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7C95AD8-6C43-A8C5-A7AB-09B3519927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2">
            <a:extLst>
              <a:ext uri="{FF2B5EF4-FFF2-40B4-BE49-F238E27FC236}">
                <a16:creationId xmlns:a16="http://schemas.microsoft.com/office/drawing/2014/main" id="{F4B9A08A-B9CC-4F3A-3323-A774CF24D3C2}"/>
              </a:ext>
            </a:extLst>
          </p:cNvPr>
          <p:cNvGrpSpPr/>
          <p:nvPr/>
        </p:nvGrpSpPr>
        <p:grpSpPr>
          <a:xfrm>
            <a:off x="331640" y="334505"/>
            <a:ext cx="17705529" cy="9706532"/>
            <a:chOff x="0" y="0"/>
            <a:chExt cx="115923466" cy="63551609"/>
          </a:xfrm>
        </p:grpSpPr>
        <p:sp>
          <p:nvSpPr>
            <p:cNvPr id="15" name="Freeform 3">
              <a:extLst>
                <a:ext uri="{FF2B5EF4-FFF2-40B4-BE49-F238E27FC236}">
                  <a16:creationId xmlns:a16="http://schemas.microsoft.com/office/drawing/2014/main" id="{AA011BF7-BB4C-49FD-38C6-78312F14E10B}"/>
                </a:ext>
              </a:extLst>
            </p:cNvPr>
            <p:cNvSpPr/>
            <p:nvPr/>
          </p:nvSpPr>
          <p:spPr>
            <a:xfrm>
              <a:off x="72390" y="72390"/>
              <a:ext cx="115778684" cy="63406830"/>
            </a:xfrm>
            <a:custGeom>
              <a:avLst/>
              <a:gdLst/>
              <a:ahLst/>
              <a:cxnLst/>
              <a:rect l="l" t="t" r="r" b="b"/>
              <a:pathLst>
                <a:path w="115778684" h="63406830">
                  <a:moveTo>
                    <a:pt x="0" y="0"/>
                  </a:moveTo>
                  <a:lnTo>
                    <a:pt x="115778684" y="0"/>
                  </a:lnTo>
                  <a:lnTo>
                    <a:pt x="115778684" y="63406830"/>
                  </a:lnTo>
                  <a:lnTo>
                    <a:pt x="0" y="634068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6" name="Freeform 4">
              <a:extLst>
                <a:ext uri="{FF2B5EF4-FFF2-40B4-BE49-F238E27FC236}">
                  <a16:creationId xmlns:a16="http://schemas.microsoft.com/office/drawing/2014/main" id="{04E68354-5D29-AF1D-A4B9-D08CC3E491FA}"/>
                </a:ext>
              </a:extLst>
            </p:cNvPr>
            <p:cNvSpPr/>
            <p:nvPr/>
          </p:nvSpPr>
          <p:spPr>
            <a:xfrm>
              <a:off x="0" y="0"/>
              <a:ext cx="115923467" cy="63551606"/>
            </a:xfrm>
            <a:custGeom>
              <a:avLst/>
              <a:gdLst/>
              <a:ahLst/>
              <a:cxnLst/>
              <a:rect l="l" t="t" r="r" b="b"/>
              <a:pathLst>
                <a:path w="115923467" h="63551606">
                  <a:moveTo>
                    <a:pt x="115778682" y="63406827"/>
                  </a:moveTo>
                  <a:lnTo>
                    <a:pt x="115923467" y="63406827"/>
                  </a:lnTo>
                  <a:lnTo>
                    <a:pt x="115923467" y="63551606"/>
                  </a:lnTo>
                  <a:lnTo>
                    <a:pt x="115778682" y="63551606"/>
                  </a:lnTo>
                  <a:lnTo>
                    <a:pt x="115778682" y="63406827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63406827"/>
                  </a:lnTo>
                  <a:lnTo>
                    <a:pt x="0" y="63406827"/>
                  </a:lnTo>
                  <a:lnTo>
                    <a:pt x="0" y="144780"/>
                  </a:lnTo>
                  <a:close/>
                  <a:moveTo>
                    <a:pt x="0" y="63406827"/>
                  </a:moveTo>
                  <a:lnTo>
                    <a:pt x="144780" y="63406827"/>
                  </a:lnTo>
                  <a:lnTo>
                    <a:pt x="144780" y="63551606"/>
                  </a:lnTo>
                  <a:lnTo>
                    <a:pt x="0" y="63551606"/>
                  </a:lnTo>
                  <a:lnTo>
                    <a:pt x="0" y="63406827"/>
                  </a:lnTo>
                  <a:close/>
                  <a:moveTo>
                    <a:pt x="115778682" y="144780"/>
                  </a:moveTo>
                  <a:lnTo>
                    <a:pt x="115923467" y="144780"/>
                  </a:lnTo>
                  <a:lnTo>
                    <a:pt x="115923467" y="63406827"/>
                  </a:lnTo>
                  <a:lnTo>
                    <a:pt x="115778682" y="63406827"/>
                  </a:lnTo>
                  <a:lnTo>
                    <a:pt x="115778682" y="144780"/>
                  </a:lnTo>
                  <a:close/>
                  <a:moveTo>
                    <a:pt x="144780" y="63406827"/>
                  </a:moveTo>
                  <a:lnTo>
                    <a:pt x="115778682" y="63406827"/>
                  </a:lnTo>
                  <a:lnTo>
                    <a:pt x="115778682" y="63551606"/>
                  </a:lnTo>
                  <a:lnTo>
                    <a:pt x="144780" y="63551606"/>
                  </a:lnTo>
                  <a:lnTo>
                    <a:pt x="144780" y="63406827"/>
                  </a:lnTo>
                  <a:close/>
                  <a:moveTo>
                    <a:pt x="115778682" y="0"/>
                  </a:moveTo>
                  <a:lnTo>
                    <a:pt x="115923467" y="0"/>
                  </a:lnTo>
                  <a:lnTo>
                    <a:pt x="115923467" y="144780"/>
                  </a:lnTo>
                  <a:lnTo>
                    <a:pt x="115778682" y="144780"/>
                  </a:lnTo>
                  <a:lnTo>
                    <a:pt x="115778682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115778682" y="0"/>
                  </a:lnTo>
                  <a:lnTo>
                    <a:pt x="115778682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17" name="AutoShape 5">
            <a:extLst>
              <a:ext uri="{FF2B5EF4-FFF2-40B4-BE49-F238E27FC236}">
                <a16:creationId xmlns:a16="http://schemas.microsoft.com/office/drawing/2014/main" id="{3EAEF11A-C72F-5C5A-75B2-1BC5E302DA06}"/>
              </a:ext>
            </a:extLst>
          </p:cNvPr>
          <p:cNvSpPr/>
          <p:nvPr/>
        </p:nvSpPr>
        <p:spPr>
          <a:xfrm flipV="1">
            <a:off x="331640" y="1028700"/>
            <a:ext cx="17705529" cy="23813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Freeform 6">
            <a:extLst>
              <a:ext uri="{FF2B5EF4-FFF2-40B4-BE49-F238E27FC236}">
                <a16:creationId xmlns:a16="http://schemas.microsoft.com/office/drawing/2014/main" id="{29C2EDF4-12BA-C322-4B08-D9B02ABE8C29}"/>
              </a:ext>
            </a:extLst>
          </p:cNvPr>
          <p:cNvSpPr/>
          <p:nvPr/>
        </p:nvSpPr>
        <p:spPr>
          <a:xfrm>
            <a:off x="834537" y="638681"/>
            <a:ext cx="605228" cy="122146"/>
          </a:xfrm>
          <a:custGeom>
            <a:avLst/>
            <a:gdLst/>
            <a:ahLst/>
            <a:cxnLst/>
            <a:rect l="l" t="t" r="r" b="b"/>
            <a:pathLst>
              <a:path w="605228" h="122146">
                <a:moveTo>
                  <a:pt x="0" y="0"/>
                </a:moveTo>
                <a:lnTo>
                  <a:pt x="605228" y="0"/>
                </a:lnTo>
                <a:lnTo>
                  <a:pt x="605228" y="122146"/>
                </a:lnTo>
                <a:lnTo>
                  <a:pt x="0" y="12214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2" name="TextBox 6">
            <a:extLst>
              <a:ext uri="{FF2B5EF4-FFF2-40B4-BE49-F238E27FC236}">
                <a16:creationId xmlns:a16="http://schemas.microsoft.com/office/drawing/2014/main" id="{03A07FC7-8FDA-D68A-DA85-0BF7EDF01759}"/>
              </a:ext>
            </a:extLst>
          </p:cNvPr>
          <p:cNvSpPr txBox="1"/>
          <p:nvPr/>
        </p:nvSpPr>
        <p:spPr>
          <a:xfrm>
            <a:off x="834537" y="1569335"/>
            <a:ext cx="11056570" cy="8976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038"/>
              </a:lnSpc>
            </a:pPr>
            <a:r>
              <a:rPr lang="ko-KR" altLang="en-US" sz="7038" dirty="0">
                <a:solidFill>
                  <a:srgbClr val="282A29"/>
                </a:solidFill>
                <a:latin typeface="옛간판"/>
                <a:ea typeface="옛간판"/>
                <a:cs typeface="옛간판"/>
                <a:sym typeface="옛간판"/>
              </a:rPr>
              <a:t>보안 제약</a:t>
            </a:r>
            <a:endParaRPr lang="en-US" sz="7038" dirty="0">
              <a:solidFill>
                <a:srgbClr val="282A29"/>
              </a:solidFill>
              <a:latin typeface="옛간판"/>
              <a:ea typeface="옛간판"/>
              <a:cs typeface="옛간판"/>
              <a:sym typeface="옛간판"/>
            </a:endParaRPr>
          </a:p>
        </p:txBody>
      </p:sp>
      <p:sp>
        <p:nvSpPr>
          <p:cNvPr id="3" name="TextBox 9">
            <a:extLst>
              <a:ext uri="{FF2B5EF4-FFF2-40B4-BE49-F238E27FC236}">
                <a16:creationId xmlns:a16="http://schemas.microsoft.com/office/drawing/2014/main" id="{8205C0CF-4AA6-FE67-A530-CFE51C34A9C1}"/>
              </a:ext>
            </a:extLst>
          </p:cNvPr>
          <p:cNvSpPr txBox="1"/>
          <p:nvPr/>
        </p:nvSpPr>
        <p:spPr>
          <a:xfrm>
            <a:off x="834537" y="2680626"/>
            <a:ext cx="5109063" cy="5802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899"/>
              </a:lnSpc>
            </a:pPr>
            <a:r>
              <a:rPr lang="ko-KR" altLang="en-US" sz="3499" dirty="0">
                <a:solidFill>
                  <a:srgbClr val="9B4819"/>
                </a:solidFill>
                <a:latin typeface="옛간판"/>
                <a:ea typeface="옛간판"/>
                <a:cs typeface="옛간판"/>
                <a:sym typeface="옛간판"/>
              </a:rPr>
              <a:t>→</a:t>
            </a:r>
            <a:r>
              <a:rPr lang="en-US" sz="3499" dirty="0">
                <a:solidFill>
                  <a:srgbClr val="9B4819"/>
                </a:solidFill>
                <a:latin typeface="옛간판"/>
                <a:ea typeface="옛간판"/>
                <a:cs typeface="옛간판"/>
                <a:sym typeface="옛간판"/>
              </a:rPr>
              <a:t> GUI </a:t>
            </a:r>
            <a:r>
              <a:rPr lang="ko-KR" altLang="en-US" sz="3499" dirty="0">
                <a:solidFill>
                  <a:srgbClr val="9B4819"/>
                </a:solidFill>
                <a:latin typeface="옛간판"/>
                <a:ea typeface="옛간판"/>
                <a:cs typeface="옛간판"/>
                <a:sym typeface="옛간판"/>
              </a:rPr>
              <a:t>시각화로 보완</a:t>
            </a:r>
            <a:endParaRPr lang="en-US" sz="3499" dirty="0">
              <a:solidFill>
                <a:srgbClr val="9B4819"/>
              </a:solidFill>
              <a:latin typeface="옛간판"/>
              <a:ea typeface="옛간판"/>
              <a:cs typeface="옛간판"/>
              <a:sym typeface="옛간판"/>
            </a:endParaRPr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89645258-BC82-FCA4-E2EA-4F6A0C6BBCB0}"/>
              </a:ext>
            </a:extLst>
          </p:cNvPr>
          <p:cNvSpPr/>
          <p:nvPr/>
        </p:nvSpPr>
        <p:spPr>
          <a:xfrm>
            <a:off x="609600" y="3603053"/>
            <a:ext cx="6893643" cy="9822549"/>
          </a:xfrm>
          <a:custGeom>
            <a:avLst/>
            <a:gdLst/>
            <a:ahLst/>
            <a:cxnLst/>
            <a:rect l="l" t="t" r="r" b="b"/>
            <a:pathLst>
              <a:path w="6893643" h="9822549">
                <a:moveTo>
                  <a:pt x="0" y="0"/>
                </a:moveTo>
                <a:lnTo>
                  <a:pt x="6893643" y="0"/>
                </a:lnTo>
                <a:lnTo>
                  <a:pt x="6893643" y="9822549"/>
                </a:lnTo>
                <a:lnTo>
                  <a:pt x="0" y="982254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28098D45-9E99-308F-E66C-C922C4B1B32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0147" y="2722437"/>
            <a:ext cx="9795344" cy="540000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0FB5C842-440B-9B80-CF16-C826A138D9D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2400" y="2781300"/>
            <a:ext cx="9914867" cy="5333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77384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E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ED99E88-5435-9628-BC11-897F60C2BE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2">
            <a:extLst>
              <a:ext uri="{FF2B5EF4-FFF2-40B4-BE49-F238E27FC236}">
                <a16:creationId xmlns:a16="http://schemas.microsoft.com/office/drawing/2014/main" id="{BBCB1A87-3877-CDAB-1C0F-D88E444107DB}"/>
              </a:ext>
            </a:extLst>
          </p:cNvPr>
          <p:cNvGrpSpPr/>
          <p:nvPr/>
        </p:nvGrpSpPr>
        <p:grpSpPr>
          <a:xfrm>
            <a:off x="352422" y="370386"/>
            <a:ext cx="17705529" cy="9706532"/>
            <a:chOff x="0" y="0"/>
            <a:chExt cx="115923466" cy="63551609"/>
          </a:xfrm>
        </p:grpSpPr>
        <p:sp>
          <p:nvSpPr>
            <p:cNvPr id="15" name="Freeform 3">
              <a:extLst>
                <a:ext uri="{FF2B5EF4-FFF2-40B4-BE49-F238E27FC236}">
                  <a16:creationId xmlns:a16="http://schemas.microsoft.com/office/drawing/2014/main" id="{1C97296A-7BFD-2C91-4438-A10EC2C5756D}"/>
                </a:ext>
              </a:extLst>
            </p:cNvPr>
            <p:cNvSpPr/>
            <p:nvPr/>
          </p:nvSpPr>
          <p:spPr>
            <a:xfrm>
              <a:off x="72390" y="72390"/>
              <a:ext cx="115778684" cy="63406830"/>
            </a:xfrm>
            <a:custGeom>
              <a:avLst/>
              <a:gdLst/>
              <a:ahLst/>
              <a:cxnLst/>
              <a:rect l="l" t="t" r="r" b="b"/>
              <a:pathLst>
                <a:path w="115778684" h="63406830">
                  <a:moveTo>
                    <a:pt x="0" y="0"/>
                  </a:moveTo>
                  <a:lnTo>
                    <a:pt x="115778684" y="0"/>
                  </a:lnTo>
                  <a:lnTo>
                    <a:pt x="115778684" y="63406830"/>
                  </a:lnTo>
                  <a:lnTo>
                    <a:pt x="0" y="634068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6" name="Freeform 4">
              <a:extLst>
                <a:ext uri="{FF2B5EF4-FFF2-40B4-BE49-F238E27FC236}">
                  <a16:creationId xmlns:a16="http://schemas.microsoft.com/office/drawing/2014/main" id="{B4E29DA9-0636-C722-D851-3BFFF40C121F}"/>
                </a:ext>
              </a:extLst>
            </p:cNvPr>
            <p:cNvSpPr/>
            <p:nvPr/>
          </p:nvSpPr>
          <p:spPr>
            <a:xfrm>
              <a:off x="0" y="0"/>
              <a:ext cx="115923467" cy="63551606"/>
            </a:xfrm>
            <a:custGeom>
              <a:avLst/>
              <a:gdLst/>
              <a:ahLst/>
              <a:cxnLst/>
              <a:rect l="l" t="t" r="r" b="b"/>
              <a:pathLst>
                <a:path w="115923467" h="63551606">
                  <a:moveTo>
                    <a:pt x="115778682" y="63406827"/>
                  </a:moveTo>
                  <a:lnTo>
                    <a:pt x="115923467" y="63406827"/>
                  </a:lnTo>
                  <a:lnTo>
                    <a:pt x="115923467" y="63551606"/>
                  </a:lnTo>
                  <a:lnTo>
                    <a:pt x="115778682" y="63551606"/>
                  </a:lnTo>
                  <a:lnTo>
                    <a:pt x="115778682" y="63406827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63406827"/>
                  </a:lnTo>
                  <a:lnTo>
                    <a:pt x="0" y="63406827"/>
                  </a:lnTo>
                  <a:lnTo>
                    <a:pt x="0" y="144780"/>
                  </a:lnTo>
                  <a:close/>
                  <a:moveTo>
                    <a:pt x="0" y="63406827"/>
                  </a:moveTo>
                  <a:lnTo>
                    <a:pt x="144780" y="63406827"/>
                  </a:lnTo>
                  <a:lnTo>
                    <a:pt x="144780" y="63551606"/>
                  </a:lnTo>
                  <a:lnTo>
                    <a:pt x="0" y="63551606"/>
                  </a:lnTo>
                  <a:lnTo>
                    <a:pt x="0" y="63406827"/>
                  </a:lnTo>
                  <a:close/>
                  <a:moveTo>
                    <a:pt x="115778682" y="144780"/>
                  </a:moveTo>
                  <a:lnTo>
                    <a:pt x="115923467" y="144780"/>
                  </a:lnTo>
                  <a:lnTo>
                    <a:pt x="115923467" y="63406827"/>
                  </a:lnTo>
                  <a:lnTo>
                    <a:pt x="115778682" y="63406827"/>
                  </a:lnTo>
                  <a:lnTo>
                    <a:pt x="115778682" y="144780"/>
                  </a:lnTo>
                  <a:close/>
                  <a:moveTo>
                    <a:pt x="144780" y="63406827"/>
                  </a:moveTo>
                  <a:lnTo>
                    <a:pt x="115778682" y="63406827"/>
                  </a:lnTo>
                  <a:lnTo>
                    <a:pt x="115778682" y="63551606"/>
                  </a:lnTo>
                  <a:lnTo>
                    <a:pt x="144780" y="63551606"/>
                  </a:lnTo>
                  <a:lnTo>
                    <a:pt x="144780" y="63406827"/>
                  </a:lnTo>
                  <a:close/>
                  <a:moveTo>
                    <a:pt x="115778682" y="0"/>
                  </a:moveTo>
                  <a:lnTo>
                    <a:pt x="115923467" y="0"/>
                  </a:lnTo>
                  <a:lnTo>
                    <a:pt x="115923467" y="144780"/>
                  </a:lnTo>
                  <a:lnTo>
                    <a:pt x="115778682" y="144780"/>
                  </a:lnTo>
                  <a:lnTo>
                    <a:pt x="115778682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115778682" y="0"/>
                  </a:lnTo>
                  <a:lnTo>
                    <a:pt x="115778682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17" name="AutoShape 5">
            <a:extLst>
              <a:ext uri="{FF2B5EF4-FFF2-40B4-BE49-F238E27FC236}">
                <a16:creationId xmlns:a16="http://schemas.microsoft.com/office/drawing/2014/main" id="{5CDB6647-1D5E-6DAA-B5E0-CF350F76C3D4}"/>
              </a:ext>
            </a:extLst>
          </p:cNvPr>
          <p:cNvSpPr/>
          <p:nvPr/>
        </p:nvSpPr>
        <p:spPr>
          <a:xfrm flipV="1">
            <a:off x="331640" y="1028700"/>
            <a:ext cx="17705529" cy="23813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Freeform 6">
            <a:extLst>
              <a:ext uri="{FF2B5EF4-FFF2-40B4-BE49-F238E27FC236}">
                <a16:creationId xmlns:a16="http://schemas.microsoft.com/office/drawing/2014/main" id="{54D53A4B-C166-5CCC-EA0F-F0364D9BC380}"/>
              </a:ext>
            </a:extLst>
          </p:cNvPr>
          <p:cNvSpPr/>
          <p:nvPr/>
        </p:nvSpPr>
        <p:spPr>
          <a:xfrm>
            <a:off x="834537" y="638681"/>
            <a:ext cx="605228" cy="122146"/>
          </a:xfrm>
          <a:custGeom>
            <a:avLst/>
            <a:gdLst/>
            <a:ahLst/>
            <a:cxnLst/>
            <a:rect l="l" t="t" r="r" b="b"/>
            <a:pathLst>
              <a:path w="605228" h="122146">
                <a:moveTo>
                  <a:pt x="0" y="0"/>
                </a:moveTo>
                <a:lnTo>
                  <a:pt x="605228" y="0"/>
                </a:lnTo>
                <a:lnTo>
                  <a:pt x="605228" y="122146"/>
                </a:lnTo>
                <a:lnTo>
                  <a:pt x="0" y="12214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47" name="TextBox 6">
            <a:extLst>
              <a:ext uri="{FF2B5EF4-FFF2-40B4-BE49-F238E27FC236}">
                <a16:creationId xmlns:a16="http://schemas.microsoft.com/office/drawing/2014/main" id="{3323966B-E5A1-3490-3577-373BBDE45EEC}"/>
              </a:ext>
            </a:extLst>
          </p:cNvPr>
          <p:cNvSpPr txBox="1"/>
          <p:nvPr/>
        </p:nvSpPr>
        <p:spPr>
          <a:xfrm>
            <a:off x="834537" y="1569335"/>
            <a:ext cx="11056570" cy="8976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038"/>
              </a:lnSpc>
            </a:pPr>
            <a:r>
              <a:rPr lang="ko-KR" altLang="en-US" sz="7038" dirty="0">
                <a:solidFill>
                  <a:srgbClr val="282A29"/>
                </a:solidFill>
                <a:latin typeface="옛간판"/>
                <a:ea typeface="옛간판"/>
                <a:cs typeface="옛간판"/>
                <a:sym typeface="옛간판"/>
              </a:rPr>
              <a:t>구현 결과</a:t>
            </a:r>
            <a:endParaRPr lang="en-US" sz="7038" dirty="0">
              <a:solidFill>
                <a:srgbClr val="282A29"/>
              </a:solidFill>
              <a:latin typeface="옛간판"/>
              <a:ea typeface="옛간판"/>
              <a:cs typeface="옛간판"/>
              <a:sym typeface="옛간판"/>
            </a:endParaRPr>
          </a:p>
        </p:txBody>
      </p:sp>
      <p:grpSp>
        <p:nvGrpSpPr>
          <p:cNvPr id="53" name="그룹 52">
            <a:extLst>
              <a:ext uri="{FF2B5EF4-FFF2-40B4-BE49-F238E27FC236}">
                <a16:creationId xmlns:a16="http://schemas.microsoft.com/office/drawing/2014/main" id="{EE7DAB7A-467A-446D-E208-C73B701BE793}"/>
              </a:ext>
            </a:extLst>
          </p:cNvPr>
          <p:cNvGrpSpPr/>
          <p:nvPr/>
        </p:nvGrpSpPr>
        <p:grpSpPr>
          <a:xfrm>
            <a:off x="5021936" y="3227125"/>
            <a:ext cx="7626910" cy="2206210"/>
            <a:chOff x="1069104" y="4227097"/>
            <a:chExt cx="5264710" cy="1087140"/>
          </a:xfrm>
        </p:grpSpPr>
        <p:grpSp>
          <p:nvGrpSpPr>
            <p:cNvPr id="44" name="Group 8">
              <a:extLst>
                <a:ext uri="{FF2B5EF4-FFF2-40B4-BE49-F238E27FC236}">
                  <a16:creationId xmlns:a16="http://schemas.microsoft.com/office/drawing/2014/main" id="{06C9A2FC-D648-ACE3-65E9-9114CA19FACD}"/>
                </a:ext>
              </a:extLst>
            </p:cNvPr>
            <p:cNvGrpSpPr/>
            <p:nvPr/>
          </p:nvGrpSpPr>
          <p:grpSpPr>
            <a:xfrm>
              <a:off x="1259604" y="4381500"/>
              <a:ext cx="5074210" cy="932737"/>
              <a:chOff x="0" y="0"/>
              <a:chExt cx="32612624" cy="5994823"/>
            </a:xfrm>
          </p:grpSpPr>
          <p:sp>
            <p:nvSpPr>
              <p:cNvPr id="45" name="Freeform 9">
                <a:extLst>
                  <a:ext uri="{FF2B5EF4-FFF2-40B4-BE49-F238E27FC236}">
                    <a16:creationId xmlns:a16="http://schemas.microsoft.com/office/drawing/2014/main" id="{DBD267F1-5AF5-0AD8-8202-697C53B425D6}"/>
                  </a:ext>
                </a:extLst>
              </p:cNvPr>
              <p:cNvSpPr/>
              <p:nvPr/>
            </p:nvSpPr>
            <p:spPr>
              <a:xfrm>
                <a:off x="72390" y="72390"/>
                <a:ext cx="32467844" cy="5850043"/>
              </a:xfrm>
              <a:custGeom>
                <a:avLst/>
                <a:gdLst/>
                <a:ahLst/>
                <a:cxnLst/>
                <a:rect l="l" t="t" r="r" b="b"/>
                <a:pathLst>
                  <a:path w="32467844" h="5850043">
                    <a:moveTo>
                      <a:pt x="0" y="0"/>
                    </a:moveTo>
                    <a:lnTo>
                      <a:pt x="32467844" y="0"/>
                    </a:lnTo>
                    <a:lnTo>
                      <a:pt x="32467844" y="5850043"/>
                    </a:lnTo>
                    <a:lnTo>
                      <a:pt x="0" y="585004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B4819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46" name="Freeform 10">
                <a:extLst>
                  <a:ext uri="{FF2B5EF4-FFF2-40B4-BE49-F238E27FC236}">
                    <a16:creationId xmlns:a16="http://schemas.microsoft.com/office/drawing/2014/main" id="{68BD694C-104B-A86D-D8D4-071262116D72}"/>
                  </a:ext>
                </a:extLst>
              </p:cNvPr>
              <p:cNvSpPr/>
              <p:nvPr/>
            </p:nvSpPr>
            <p:spPr>
              <a:xfrm>
                <a:off x="0" y="0"/>
                <a:ext cx="32612623" cy="5994823"/>
              </a:xfrm>
              <a:custGeom>
                <a:avLst/>
                <a:gdLst/>
                <a:ahLst/>
                <a:cxnLst/>
                <a:rect l="l" t="t" r="r" b="b"/>
                <a:pathLst>
                  <a:path w="32612623" h="5994823">
                    <a:moveTo>
                      <a:pt x="32467845" y="5850043"/>
                    </a:moveTo>
                    <a:lnTo>
                      <a:pt x="32612623" y="5850043"/>
                    </a:lnTo>
                    <a:lnTo>
                      <a:pt x="32612623" y="5994823"/>
                    </a:lnTo>
                    <a:lnTo>
                      <a:pt x="32467845" y="5994823"/>
                    </a:lnTo>
                    <a:lnTo>
                      <a:pt x="32467845" y="5850043"/>
                    </a:lnTo>
                    <a:close/>
                    <a:moveTo>
                      <a:pt x="0" y="144780"/>
                    </a:moveTo>
                    <a:lnTo>
                      <a:pt x="144780" y="144780"/>
                    </a:lnTo>
                    <a:lnTo>
                      <a:pt x="144780" y="5850043"/>
                    </a:lnTo>
                    <a:lnTo>
                      <a:pt x="0" y="5850043"/>
                    </a:lnTo>
                    <a:lnTo>
                      <a:pt x="0" y="144780"/>
                    </a:lnTo>
                    <a:close/>
                    <a:moveTo>
                      <a:pt x="0" y="5850043"/>
                    </a:moveTo>
                    <a:lnTo>
                      <a:pt x="144780" y="5850043"/>
                    </a:lnTo>
                    <a:lnTo>
                      <a:pt x="144780" y="5994823"/>
                    </a:lnTo>
                    <a:lnTo>
                      <a:pt x="0" y="5994823"/>
                    </a:lnTo>
                    <a:lnTo>
                      <a:pt x="0" y="5850043"/>
                    </a:lnTo>
                    <a:close/>
                    <a:moveTo>
                      <a:pt x="32467845" y="144780"/>
                    </a:moveTo>
                    <a:lnTo>
                      <a:pt x="32612623" y="144780"/>
                    </a:lnTo>
                    <a:lnTo>
                      <a:pt x="32612623" y="5850043"/>
                    </a:lnTo>
                    <a:lnTo>
                      <a:pt x="32467845" y="5850043"/>
                    </a:lnTo>
                    <a:lnTo>
                      <a:pt x="32467845" y="144780"/>
                    </a:lnTo>
                    <a:close/>
                    <a:moveTo>
                      <a:pt x="144780" y="5850043"/>
                    </a:moveTo>
                    <a:lnTo>
                      <a:pt x="32467845" y="5850043"/>
                    </a:lnTo>
                    <a:lnTo>
                      <a:pt x="32467845" y="5994823"/>
                    </a:lnTo>
                    <a:lnTo>
                      <a:pt x="144780" y="5994823"/>
                    </a:lnTo>
                    <a:lnTo>
                      <a:pt x="144780" y="5850043"/>
                    </a:lnTo>
                    <a:close/>
                    <a:moveTo>
                      <a:pt x="32467845" y="0"/>
                    </a:moveTo>
                    <a:lnTo>
                      <a:pt x="32612623" y="0"/>
                    </a:lnTo>
                    <a:lnTo>
                      <a:pt x="32612623" y="144780"/>
                    </a:lnTo>
                    <a:lnTo>
                      <a:pt x="32467845" y="144780"/>
                    </a:lnTo>
                    <a:lnTo>
                      <a:pt x="32467845" y="0"/>
                    </a:lnTo>
                    <a:close/>
                    <a:moveTo>
                      <a:pt x="0" y="0"/>
                    </a:moveTo>
                    <a:lnTo>
                      <a:pt x="144780" y="0"/>
                    </a:lnTo>
                    <a:lnTo>
                      <a:pt x="144780" y="144780"/>
                    </a:lnTo>
                    <a:lnTo>
                      <a:pt x="0" y="144780"/>
                    </a:lnTo>
                    <a:lnTo>
                      <a:pt x="0" y="0"/>
                    </a:lnTo>
                    <a:close/>
                    <a:moveTo>
                      <a:pt x="144780" y="0"/>
                    </a:moveTo>
                    <a:lnTo>
                      <a:pt x="32467845" y="0"/>
                    </a:lnTo>
                    <a:lnTo>
                      <a:pt x="32467845" y="144780"/>
                    </a:lnTo>
                    <a:lnTo>
                      <a:pt x="144780" y="144780"/>
                    </a:lnTo>
                    <a:lnTo>
                      <a:pt x="144780" y="0"/>
                    </a:lnTo>
                    <a:close/>
                  </a:path>
                </a:pathLst>
              </a:custGeom>
              <a:solidFill>
                <a:srgbClr val="9B4819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</p:grpSp>
        <p:grpSp>
          <p:nvGrpSpPr>
            <p:cNvPr id="48" name="Group 11">
              <a:extLst>
                <a:ext uri="{FF2B5EF4-FFF2-40B4-BE49-F238E27FC236}">
                  <a16:creationId xmlns:a16="http://schemas.microsoft.com/office/drawing/2014/main" id="{D8C0E4D2-ACD3-F74A-F259-C767C518DD58}"/>
                </a:ext>
              </a:extLst>
            </p:cNvPr>
            <p:cNvGrpSpPr/>
            <p:nvPr/>
          </p:nvGrpSpPr>
          <p:grpSpPr>
            <a:xfrm>
              <a:off x="1069104" y="4227097"/>
              <a:ext cx="5074210" cy="940408"/>
              <a:chOff x="0" y="0"/>
              <a:chExt cx="32612624" cy="6044125"/>
            </a:xfrm>
          </p:grpSpPr>
          <p:sp>
            <p:nvSpPr>
              <p:cNvPr id="49" name="Freeform 12">
                <a:extLst>
                  <a:ext uri="{FF2B5EF4-FFF2-40B4-BE49-F238E27FC236}">
                    <a16:creationId xmlns:a16="http://schemas.microsoft.com/office/drawing/2014/main" id="{ED72CA53-C647-9457-E67B-98F680703449}"/>
                  </a:ext>
                </a:extLst>
              </p:cNvPr>
              <p:cNvSpPr/>
              <p:nvPr/>
            </p:nvSpPr>
            <p:spPr>
              <a:xfrm>
                <a:off x="72390" y="72390"/>
                <a:ext cx="32467844" cy="5899346"/>
              </a:xfrm>
              <a:custGeom>
                <a:avLst/>
                <a:gdLst/>
                <a:ahLst/>
                <a:cxnLst/>
                <a:rect l="l" t="t" r="r" b="b"/>
                <a:pathLst>
                  <a:path w="32467844" h="5899346">
                    <a:moveTo>
                      <a:pt x="0" y="0"/>
                    </a:moveTo>
                    <a:lnTo>
                      <a:pt x="32467844" y="0"/>
                    </a:lnTo>
                    <a:lnTo>
                      <a:pt x="32467844" y="5899346"/>
                    </a:lnTo>
                    <a:lnTo>
                      <a:pt x="0" y="589934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ko-KR" altLang="en-US" dirty="0"/>
              </a:p>
            </p:txBody>
          </p:sp>
          <p:sp>
            <p:nvSpPr>
              <p:cNvPr id="50" name="Freeform 13">
                <a:extLst>
                  <a:ext uri="{FF2B5EF4-FFF2-40B4-BE49-F238E27FC236}">
                    <a16:creationId xmlns:a16="http://schemas.microsoft.com/office/drawing/2014/main" id="{38965F20-5F32-74EF-3A38-55AFBE7EE93A}"/>
                  </a:ext>
                </a:extLst>
              </p:cNvPr>
              <p:cNvSpPr/>
              <p:nvPr/>
            </p:nvSpPr>
            <p:spPr>
              <a:xfrm>
                <a:off x="0" y="0"/>
                <a:ext cx="32612623" cy="6044126"/>
              </a:xfrm>
              <a:custGeom>
                <a:avLst/>
                <a:gdLst/>
                <a:ahLst/>
                <a:cxnLst/>
                <a:rect l="l" t="t" r="r" b="b"/>
                <a:pathLst>
                  <a:path w="32612623" h="6044126">
                    <a:moveTo>
                      <a:pt x="32467845" y="5899346"/>
                    </a:moveTo>
                    <a:lnTo>
                      <a:pt x="32612623" y="5899346"/>
                    </a:lnTo>
                    <a:lnTo>
                      <a:pt x="32612623" y="6044126"/>
                    </a:lnTo>
                    <a:lnTo>
                      <a:pt x="32467845" y="6044126"/>
                    </a:lnTo>
                    <a:lnTo>
                      <a:pt x="32467845" y="5899346"/>
                    </a:lnTo>
                    <a:close/>
                    <a:moveTo>
                      <a:pt x="0" y="144780"/>
                    </a:moveTo>
                    <a:lnTo>
                      <a:pt x="144780" y="144780"/>
                    </a:lnTo>
                    <a:lnTo>
                      <a:pt x="144780" y="5899346"/>
                    </a:lnTo>
                    <a:lnTo>
                      <a:pt x="0" y="5899346"/>
                    </a:lnTo>
                    <a:lnTo>
                      <a:pt x="0" y="144780"/>
                    </a:lnTo>
                    <a:close/>
                    <a:moveTo>
                      <a:pt x="0" y="5899346"/>
                    </a:moveTo>
                    <a:lnTo>
                      <a:pt x="144780" y="5899346"/>
                    </a:lnTo>
                    <a:lnTo>
                      <a:pt x="144780" y="6044126"/>
                    </a:lnTo>
                    <a:lnTo>
                      <a:pt x="0" y="6044126"/>
                    </a:lnTo>
                    <a:lnTo>
                      <a:pt x="0" y="5899346"/>
                    </a:lnTo>
                    <a:close/>
                    <a:moveTo>
                      <a:pt x="32467845" y="144780"/>
                    </a:moveTo>
                    <a:lnTo>
                      <a:pt x="32612623" y="144780"/>
                    </a:lnTo>
                    <a:lnTo>
                      <a:pt x="32612623" y="5899346"/>
                    </a:lnTo>
                    <a:lnTo>
                      <a:pt x="32467845" y="5899346"/>
                    </a:lnTo>
                    <a:lnTo>
                      <a:pt x="32467845" y="144780"/>
                    </a:lnTo>
                    <a:close/>
                    <a:moveTo>
                      <a:pt x="144780" y="5899346"/>
                    </a:moveTo>
                    <a:lnTo>
                      <a:pt x="32467845" y="5899346"/>
                    </a:lnTo>
                    <a:lnTo>
                      <a:pt x="32467845" y="6044126"/>
                    </a:lnTo>
                    <a:lnTo>
                      <a:pt x="144780" y="6044126"/>
                    </a:lnTo>
                    <a:lnTo>
                      <a:pt x="144780" y="5899346"/>
                    </a:lnTo>
                    <a:close/>
                    <a:moveTo>
                      <a:pt x="32467845" y="0"/>
                    </a:moveTo>
                    <a:lnTo>
                      <a:pt x="32612623" y="0"/>
                    </a:lnTo>
                    <a:lnTo>
                      <a:pt x="32612623" y="144780"/>
                    </a:lnTo>
                    <a:lnTo>
                      <a:pt x="32467845" y="144780"/>
                    </a:lnTo>
                    <a:lnTo>
                      <a:pt x="32467845" y="0"/>
                    </a:lnTo>
                    <a:close/>
                    <a:moveTo>
                      <a:pt x="0" y="0"/>
                    </a:moveTo>
                    <a:lnTo>
                      <a:pt x="144780" y="0"/>
                    </a:lnTo>
                    <a:lnTo>
                      <a:pt x="144780" y="144780"/>
                    </a:lnTo>
                    <a:lnTo>
                      <a:pt x="0" y="144780"/>
                    </a:lnTo>
                    <a:lnTo>
                      <a:pt x="0" y="0"/>
                    </a:lnTo>
                    <a:close/>
                    <a:moveTo>
                      <a:pt x="144780" y="0"/>
                    </a:moveTo>
                    <a:lnTo>
                      <a:pt x="32467845" y="0"/>
                    </a:lnTo>
                    <a:lnTo>
                      <a:pt x="32467845" y="144780"/>
                    </a:lnTo>
                    <a:lnTo>
                      <a:pt x="144780" y="144780"/>
                    </a:lnTo>
                    <a:lnTo>
                      <a:pt x="144780" y="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</p:grpSp>
        <p:sp>
          <p:nvSpPr>
            <p:cNvPr id="51" name="TextBox 14">
              <a:extLst>
                <a:ext uri="{FF2B5EF4-FFF2-40B4-BE49-F238E27FC236}">
                  <a16:creationId xmlns:a16="http://schemas.microsoft.com/office/drawing/2014/main" id="{898C6950-F15D-A4B9-C096-CBDDAE932DF2}"/>
                </a:ext>
              </a:extLst>
            </p:cNvPr>
            <p:cNvSpPr txBox="1"/>
            <p:nvPr/>
          </p:nvSpPr>
          <p:spPr>
            <a:xfrm>
              <a:off x="1340170" y="4582924"/>
              <a:ext cx="4532078" cy="2272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99"/>
                </a:lnSpc>
              </a:pPr>
              <a:r>
                <a:rPr lang="ko-KR" altLang="en-US" sz="4000" dirty="0">
                  <a:solidFill>
                    <a:srgbClr val="000000"/>
                  </a:solidFill>
                  <a:latin typeface="옛간판"/>
                  <a:ea typeface="옛간판"/>
                  <a:cs typeface="옛간판"/>
                  <a:sym typeface="옛간판"/>
                  <a:hlinkClick r:id="rId4"/>
                </a:rPr>
                <a:t>리눅스 </a:t>
              </a:r>
              <a:r>
                <a:rPr lang="en-US" altLang="ko-KR" sz="4000" dirty="0">
                  <a:solidFill>
                    <a:srgbClr val="000000"/>
                  </a:solidFill>
                  <a:latin typeface="옛간판"/>
                  <a:ea typeface="옛간판"/>
                  <a:cs typeface="옛간판"/>
                  <a:sym typeface="옛간판"/>
                  <a:hlinkClick r:id="rId4"/>
                </a:rPr>
                <a:t>GUI </a:t>
              </a:r>
              <a:r>
                <a:rPr lang="ko-KR" altLang="en-US" sz="4000" dirty="0">
                  <a:solidFill>
                    <a:srgbClr val="000000"/>
                  </a:solidFill>
                  <a:latin typeface="옛간판"/>
                  <a:ea typeface="옛간판"/>
                  <a:cs typeface="옛간판"/>
                  <a:sym typeface="옛간판"/>
                  <a:hlinkClick r:id="rId4"/>
                </a:rPr>
                <a:t>학습 사이트</a:t>
              </a:r>
              <a:r>
                <a:rPr lang="en-US" sz="4000" dirty="0">
                  <a:solidFill>
                    <a:srgbClr val="000000"/>
                  </a:solidFill>
                  <a:latin typeface="옛간판"/>
                  <a:ea typeface="옛간판"/>
                  <a:cs typeface="옛간판"/>
                  <a:sym typeface="옛간판"/>
                  <a:hlinkClick r:id="rId4"/>
                </a:rPr>
                <a:t> </a:t>
              </a:r>
              <a:endParaRPr lang="en-US" sz="4000" dirty="0">
                <a:solidFill>
                  <a:srgbClr val="000000"/>
                </a:solidFill>
                <a:latin typeface="옛간판"/>
                <a:ea typeface="옛간판"/>
                <a:cs typeface="옛간판"/>
                <a:sym typeface="옛간판"/>
              </a:endParaRPr>
            </a:p>
          </p:txBody>
        </p:sp>
      </p:grpSp>
      <p:grpSp>
        <p:nvGrpSpPr>
          <p:cNvPr id="3" name="Group 8">
            <a:extLst>
              <a:ext uri="{FF2B5EF4-FFF2-40B4-BE49-F238E27FC236}">
                <a16:creationId xmlns:a16="http://schemas.microsoft.com/office/drawing/2014/main" id="{66AB94BD-8E35-D3D7-6F78-8C813489A8AE}"/>
              </a:ext>
            </a:extLst>
          </p:cNvPr>
          <p:cNvGrpSpPr/>
          <p:nvPr/>
        </p:nvGrpSpPr>
        <p:grpSpPr>
          <a:xfrm>
            <a:off x="5257531" y="6209010"/>
            <a:ext cx="7350935" cy="1892869"/>
            <a:chOff x="0" y="0"/>
            <a:chExt cx="32612624" cy="5994823"/>
          </a:xfrm>
        </p:grpSpPr>
        <p:sp>
          <p:nvSpPr>
            <p:cNvPr id="8" name="Freeform 9">
              <a:extLst>
                <a:ext uri="{FF2B5EF4-FFF2-40B4-BE49-F238E27FC236}">
                  <a16:creationId xmlns:a16="http://schemas.microsoft.com/office/drawing/2014/main" id="{E94B2425-78BB-9833-12DB-ED612D24E8F0}"/>
                </a:ext>
              </a:extLst>
            </p:cNvPr>
            <p:cNvSpPr/>
            <p:nvPr/>
          </p:nvSpPr>
          <p:spPr>
            <a:xfrm>
              <a:off x="72390" y="72390"/>
              <a:ext cx="32467844" cy="5850043"/>
            </a:xfrm>
            <a:custGeom>
              <a:avLst/>
              <a:gdLst/>
              <a:ahLst/>
              <a:cxnLst/>
              <a:rect l="l" t="t" r="r" b="b"/>
              <a:pathLst>
                <a:path w="32467844" h="5850043">
                  <a:moveTo>
                    <a:pt x="0" y="0"/>
                  </a:moveTo>
                  <a:lnTo>
                    <a:pt x="32467844" y="0"/>
                  </a:lnTo>
                  <a:lnTo>
                    <a:pt x="32467844" y="5850043"/>
                  </a:lnTo>
                  <a:lnTo>
                    <a:pt x="0" y="585004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B4819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9" name="Freeform 10">
              <a:extLst>
                <a:ext uri="{FF2B5EF4-FFF2-40B4-BE49-F238E27FC236}">
                  <a16:creationId xmlns:a16="http://schemas.microsoft.com/office/drawing/2014/main" id="{699B585D-CBA5-013A-E782-534830C2F624}"/>
                </a:ext>
              </a:extLst>
            </p:cNvPr>
            <p:cNvSpPr/>
            <p:nvPr/>
          </p:nvSpPr>
          <p:spPr>
            <a:xfrm>
              <a:off x="0" y="0"/>
              <a:ext cx="32612623" cy="5994823"/>
            </a:xfrm>
            <a:custGeom>
              <a:avLst/>
              <a:gdLst/>
              <a:ahLst/>
              <a:cxnLst/>
              <a:rect l="l" t="t" r="r" b="b"/>
              <a:pathLst>
                <a:path w="32612623" h="5994823">
                  <a:moveTo>
                    <a:pt x="32467845" y="5850043"/>
                  </a:moveTo>
                  <a:lnTo>
                    <a:pt x="32612623" y="5850043"/>
                  </a:lnTo>
                  <a:lnTo>
                    <a:pt x="32612623" y="5994823"/>
                  </a:lnTo>
                  <a:lnTo>
                    <a:pt x="32467845" y="5994823"/>
                  </a:lnTo>
                  <a:lnTo>
                    <a:pt x="32467845" y="5850043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5850043"/>
                  </a:lnTo>
                  <a:lnTo>
                    <a:pt x="0" y="5850043"/>
                  </a:lnTo>
                  <a:lnTo>
                    <a:pt x="0" y="144780"/>
                  </a:lnTo>
                  <a:close/>
                  <a:moveTo>
                    <a:pt x="0" y="5850043"/>
                  </a:moveTo>
                  <a:lnTo>
                    <a:pt x="144780" y="5850043"/>
                  </a:lnTo>
                  <a:lnTo>
                    <a:pt x="144780" y="5994823"/>
                  </a:lnTo>
                  <a:lnTo>
                    <a:pt x="0" y="5994823"/>
                  </a:lnTo>
                  <a:lnTo>
                    <a:pt x="0" y="5850043"/>
                  </a:lnTo>
                  <a:close/>
                  <a:moveTo>
                    <a:pt x="32467845" y="144780"/>
                  </a:moveTo>
                  <a:lnTo>
                    <a:pt x="32612623" y="144780"/>
                  </a:lnTo>
                  <a:lnTo>
                    <a:pt x="32612623" y="5850043"/>
                  </a:lnTo>
                  <a:lnTo>
                    <a:pt x="32467845" y="5850043"/>
                  </a:lnTo>
                  <a:lnTo>
                    <a:pt x="32467845" y="144780"/>
                  </a:lnTo>
                  <a:close/>
                  <a:moveTo>
                    <a:pt x="144780" y="5850043"/>
                  </a:moveTo>
                  <a:lnTo>
                    <a:pt x="32467845" y="5850043"/>
                  </a:lnTo>
                  <a:lnTo>
                    <a:pt x="32467845" y="5994823"/>
                  </a:lnTo>
                  <a:lnTo>
                    <a:pt x="144780" y="5994823"/>
                  </a:lnTo>
                  <a:lnTo>
                    <a:pt x="144780" y="5850043"/>
                  </a:lnTo>
                  <a:close/>
                  <a:moveTo>
                    <a:pt x="32467845" y="0"/>
                  </a:moveTo>
                  <a:lnTo>
                    <a:pt x="32612623" y="0"/>
                  </a:lnTo>
                  <a:lnTo>
                    <a:pt x="32612623" y="144780"/>
                  </a:lnTo>
                  <a:lnTo>
                    <a:pt x="32467845" y="144780"/>
                  </a:lnTo>
                  <a:lnTo>
                    <a:pt x="32467845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32467845" y="0"/>
                  </a:lnTo>
                  <a:lnTo>
                    <a:pt x="32467845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9B4819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4" name="Group 11">
            <a:extLst>
              <a:ext uri="{FF2B5EF4-FFF2-40B4-BE49-F238E27FC236}">
                <a16:creationId xmlns:a16="http://schemas.microsoft.com/office/drawing/2014/main" id="{6CBB851D-C1D3-AC7A-B4E7-8B1376E41115}"/>
              </a:ext>
            </a:extLst>
          </p:cNvPr>
          <p:cNvGrpSpPr/>
          <p:nvPr/>
        </p:nvGrpSpPr>
        <p:grpSpPr>
          <a:xfrm>
            <a:off x="4981556" y="5895669"/>
            <a:ext cx="7350935" cy="1908436"/>
            <a:chOff x="0" y="0"/>
            <a:chExt cx="32612624" cy="6044125"/>
          </a:xfrm>
        </p:grpSpPr>
        <p:sp>
          <p:nvSpPr>
            <p:cNvPr id="6" name="Freeform 12">
              <a:extLst>
                <a:ext uri="{FF2B5EF4-FFF2-40B4-BE49-F238E27FC236}">
                  <a16:creationId xmlns:a16="http://schemas.microsoft.com/office/drawing/2014/main" id="{A3C98A3E-FC3D-622B-8AB4-B3F641008694}"/>
                </a:ext>
              </a:extLst>
            </p:cNvPr>
            <p:cNvSpPr/>
            <p:nvPr/>
          </p:nvSpPr>
          <p:spPr>
            <a:xfrm>
              <a:off x="72390" y="72390"/>
              <a:ext cx="32467844" cy="5899346"/>
            </a:xfrm>
            <a:custGeom>
              <a:avLst/>
              <a:gdLst/>
              <a:ahLst/>
              <a:cxnLst/>
              <a:rect l="l" t="t" r="r" b="b"/>
              <a:pathLst>
                <a:path w="32467844" h="5899346">
                  <a:moveTo>
                    <a:pt x="0" y="0"/>
                  </a:moveTo>
                  <a:lnTo>
                    <a:pt x="32467844" y="0"/>
                  </a:lnTo>
                  <a:lnTo>
                    <a:pt x="32467844" y="5899346"/>
                  </a:lnTo>
                  <a:lnTo>
                    <a:pt x="0" y="58993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7" name="Freeform 13">
              <a:extLst>
                <a:ext uri="{FF2B5EF4-FFF2-40B4-BE49-F238E27FC236}">
                  <a16:creationId xmlns:a16="http://schemas.microsoft.com/office/drawing/2014/main" id="{872C0E91-8767-E969-6760-449D19ACAE36}"/>
                </a:ext>
              </a:extLst>
            </p:cNvPr>
            <p:cNvSpPr/>
            <p:nvPr/>
          </p:nvSpPr>
          <p:spPr>
            <a:xfrm>
              <a:off x="0" y="0"/>
              <a:ext cx="32612623" cy="6044126"/>
            </a:xfrm>
            <a:custGeom>
              <a:avLst/>
              <a:gdLst/>
              <a:ahLst/>
              <a:cxnLst/>
              <a:rect l="l" t="t" r="r" b="b"/>
              <a:pathLst>
                <a:path w="32612623" h="6044126">
                  <a:moveTo>
                    <a:pt x="32467845" y="5899346"/>
                  </a:moveTo>
                  <a:lnTo>
                    <a:pt x="32612623" y="5899346"/>
                  </a:lnTo>
                  <a:lnTo>
                    <a:pt x="32612623" y="6044126"/>
                  </a:lnTo>
                  <a:lnTo>
                    <a:pt x="32467845" y="6044126"/>
                  </a:lnTo>
                  <a:lnTo>
                    <a:pt x="32467845" y="5899346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5899346"/>
                  </a:lnTo>
                  <a:lnTo>
                    <a:pt x="0" y="5899346"/>
                  </a:lnTo>
                  <a:lnTo>
                    <a:pt x="0" y="144780"/>
                  </a:lnTo>
                  <a:close/>
                  <a:moveTo>
                    <a:pt x="0" y="5899346"/>
                  </a:moveTo>
                  <a:lnTo>
                    <a:pt x="144780" y="5899346"/>
                  </a:lnTo>
                  <a:lnTo>
                    <a:pt x="144780" y="6044126"/>
                  </a:lnTo>
                  <a:lnTo>
                    <a:pt x="0" y="6044126"/>
                  </a:lnTo>
                  <a:lnTo>
                    <a:pt x="0" y="5899346"/>
                  </a:lnTo>
                  <a:close/>
                  <a:moveTo>
                    <a:pt x="32467845" y="144780"/>
                  </a:moveTo>
                  <a:lnTo>
                    <a:pt x="32612623" y="144780"/>
                  </a:lnTo>
                  <a:lnTo>
                    <a:pt x="32612623" y="5899346"/>
                  </a:lnTo>
                  <a:lnTo>
                    <a:pt x="32467845" y="5899346"/>
                  </a:lnTo>
                  <a:lnTo>
                    <a:pt x="32467845" y="144780"/>
                  </a:lnTo>
                  <a:close/>
                  <a:moveTo>
                    <a:pt x="144780" y="5899346"/>
                  </a:moveTo>
                  <a:lnTo>
                    <a:pt x="32467845" y="5899346"/>
                  </a:lnTo>
                  <a:lnTo>
                    <a:pt x="32467845" y="6044126"/>
                  </a:lnTo>
                  <a:lnTo>
                    <a:pt x="144780" y="6044126"/>
                  </a:lnTo>
                  <a:lnTo>
                    <a:pt x="144780" y="5899346"/>
                  </a:lnTo>
                  <a:close/>
                  <a:moveTo>
                    <a:pt x="32467845" y="0"/>
                  </a:moveTo>
                  <a:lnTo>
                    <a:pt x="32612623" y="0"/>
                  </a:lnTo>
                  <a:lnTo>
                    <a:pt x="32612623" y="144780"/>
                  </a:lnTo>
                  <a:lnTo>
                    <a:pt x="32467845" y="144780"/>
                  </a:lnTo>
                  <a:lnTo>
                    <a:pt x="32467845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32467845" y="0"/>
                  </a:lnTo>
                  <a:lnTo>
                    <a:pt x="32467845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5" name="TextBox 14">
            <a:extLst>
              <a:ext uri="{FF2B5EF4-FFF2-40B4-BE49-F238E27FC236}">
                <a16:creationId xmlns:a16="http://schemas.microsoft.com/office/drawing/2014/main" id="{A6526581-11D7-D67F-0B05-64A3DF6A6904}"/>
              </a:ext>
            </a:extLst>
          </p:cNvPr>
          <p:cNvSpPr txBox="1"/>
          <p:nvPr/>
        </p:nvSpPr>
        <p:spPr>
          <a:xfrm>
            <a:off x="5374245" y="6617774"/>
            <a:ext cx="6565557" cy="4611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4000" dirty="0">
                <a:solidFill>
                  <a:srgbClr val="000000"/>
                </a:solidFill>
                <a:latin typeface="옛간판"/>
                <a:ea typeface="옛간판"/>
                <a:cs typeface="옛간판"/>
                <a:sym typeface="옛간판"/>
                <a:hlinkClick r:id="rId4"/>
              </a:rPr>
              <a:t>GIT</a:t>
            </a:r>
            <a:r>
              <a:rPr lang="ko-KR" altLang="en-US" sz="4000" dirty="0">
                <a:solidFill>
                  <a:srgbClr val="000000"/>
                </a:solidFill>
                <a:latin typeface="옛간판"/>
                <a:ea typeface="옛간판"/>
                <a:cs typeface="옛간판"/>
                <a:sym typeface="옛간판"/>
                <a:hlinkClick r:id="rId4"/>
              </a:rPr>
              <a:t> </a:t>
            </a:r>
            <a:r>
              <a:rPr lang="en-US" altLang="ko-KR" sz="4000" dirty="0">
                <a:solidFill>
                  <a:srgbClr val="000000"/>
                </a:solidFill>
                <a:latin typeface="옛간판"/>
                <a:ea typeface="옛간판"/>
                <a:cs typeface="옛간판"/>
                <a:sym typeface="옛간판"/>
                <a:hlinkClick r:id="rId4"/>
              </a:rPr>
              <a:t>URL</a:t>
            </a:r>
            <a:r>
              <a:rPr lang="en-US" sz="4000" dirty="0">
                <a:solidFill>
                  <a:srgbClr val="000000"/>
                </a:solidFill>
                <a:latin typeface="옛간판"/>
                <a:ea typeface="옛간판"/>
                <a:cs typeface="옛간판"/>
                <a:sym typeface="옛간판"/>
                <a:hlinkClick r:id="rId4"/>
              </a:rPr>
              <a:t> </a:t>
            </a:r>
            <a:endParaRPr lang="en-US" sz="4000" dirty="0">
              <a:solidFill>
                <a:srgbClr val="000000"/>
              </a:solidFill>
              <a:latin typeface="옛간판"/>
              <a:ea typeface="옛간판"/>
              <a:cs typeface="옛간판"/>
              <a:sym typeface="옛간판"/>
            </a:endParaRPr>
          </a:p>
        </p:txBody>
      </p:sp>
    </p:spTree>
    <p:extLst>
      <p:ext uri="{BB962C8B-B14F-4D97-AF65-F5344CB8AC3E}">
        <p14:creationId xmlns:p14="http://schemas.microsoft.com/office/powerpoint/2010/main" val="39455352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37BC7A-577D-8866-B2F2-2A4DA7BEA8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94AAB397-A327-A5FD-F247-B3B6D8F0127D}"/>
              </a:ext>
            </a:extLst>
          </p:cNvPr>
          <p:cNvGrpSpPr/>
          <p:nvPr/>
        </p:nvGrpSpPr>
        <p:grpSpPr>
          <a:xfrm>
            <a:off x="331640" y="334505"/>
            <a:ext cx="17705529" cy="9706532"/>
            <a:chOff x="0" y="0"/>
            <a:chExt cx="115923466" cy="63551609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7E0D6D44-1D31-84FF-B7B1-C39B881FA068}"/>
                </a:ext>
              </a:extLst>
            </p:cNvPr>
            <p:cNvSpPr/>
            <p:nvPr/>
          </p:nvSpPr>
          <p:spPr>
            <a:xfrm>
              <a:off x="72390" y="72390"/>
              <a:ext cx="115778684" cy="63406830"/>
            </a:xfrm>
            <a:custGeom>
              <a:avLst/>
              <a:gdLst/>
              <a:ahLst/>
              <a:cxnLst/>
              <a:rect l="l" t="t" r="r" b="b"/>
              <a:pathLst>
                <a:path w="115778684" h="63406830">
                  <a:moveTo>
                    <a:pt x="0" y="0"/>
                  </a:moveTo>
                  <a:lnTo>
                    <a:pt x="115778684" y="0"/>
                  </a:lnTo>
                  <a:lnTo>
                    <a:pt x="115778684" y="63406830"/>
                  </a:lnTo>
                  <a:lnTo>
                    <a:pt x="0" y="634068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CD041A44-6534-29A6-DD93-8D33E8A06BCB}"/>
                </a:ext>
              </a:extLst>
            </p:cNvPr>
            <p:cNvSpPr/>
            <p:nvPr/>
          </p:nvSpPr>
          <p:spPr>
            <a:xfrm>
              <a:off x="0" y="0"/>
              <a:ext cx="115923467" cy="63551606"/>
            </a:xfrm>
            <a:custGeom>
              <a:avLst/>
              <a:gdLst/>
              <a:ahLst/>
              <a:cxnLst/>
              <a:rect l="l" t="t" r="r" b="b"/>
              <a:pathLst>
                <a:path w="115923467" h="63551606">
                  <a:moveTo>
                    <a:pt x="115778682" y="63406827"/>
                  </a:moveTo>
                  <a:lnTo>
                    <a:pt x="115923467" y="63406827"/>
                  </a:lnTo>
                  <a:lnTo>
                    <a:pt x="115923467" y="63551606"/>
                  </a:lnTo>
                  <a:lnTo>
                    <a:pt x="115778682" y="63551606"/>
                  </a:lnTo>
                  <a:lnTo>
                    <a:pt x="115778682" y="63406827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63406827"/>
                  </a:lnTo>
                  <a:lnTo>
                    <a:pt x="0" y="63406827"/>
                  </a:lnTo>
                  <a:lnTo>
                    <a:pt x="0" y="144780"/>
                  </a:lnTo>
                  <a:close/>
                  <a:moveTo>
                    <a:pt x="0" y="63406827"/>
                  </a:moveTo>
                  <a:lnTo>
                    <a:pt x="144780" y="63406827"/>
                  </a:lnTo>
                  <a:lnTo>
                    <a:pt x="144780" y="63551606"/>
                  </a:lnTo>
                  <a:lnTo>
                    <a:pt x="0" y="63551606"/>
                  </a:lnTo>
                  <a:lnTo>
                    <a:pt x="0" y="63406827"/>
                  </a:lnTo>
                  <a:close/>
                  <a:moveTo>
                    <a:pt x="115778682" y="144780"/>
                  </a:moveTo>
                  <a:lnTo>
                    <a:pt x="115923467" y="144780"/>
                  </a:lnTo>
                  <a:lnTo>
                    <a:pt x="115923467" y="63406827"/>
                  </a:lnTo>
                  <a:lnTo>
                    <a:pt x="115778682" y="63406827"/>
                  </a:lnTo>
                  <a:lnTo>
                    <a:pt x="115778682" y="144780"/>
                  </a:lnTo>
                  <a:close/>
                  <a:moveTo>
                    <a:pt x="144780" y="63406827"/>
                  </a:moveTo>
                  <a:lnTo>
                    <a:pt x="115778682" y="63406827"/>
                  </a:lnTo>
                  <a:lnTo>
                    <a:pt x="115778682" y="63551606"/>
                  </a:lnTo>
                  <a:lnTo>
                    <a:pt x="144780" y="63551606"/>
                  </a:lnTo>
                  <a:lnTo>
                    <a:pt x="144780" y="63406827"/>
                  </a:lnTo>
                  <a:close/>
                  <a:moveTo>
                    <a:pt x="115778682" y="0"/>
                  </a:moveTo>
                  <a:lnTo>
                    <a:pt x="115923467" y="0"/>
                  </a:lnTo>
                  <a:lnTo>
                    <a:pt x="115923467" y="144780"/>
                  </a:lnTo>
                  <a:lnTo>
                    <a:pt x="115778682" y="144780"/>
                  </a:lnTo>
                  <a:lnTo>
                    <a:pt x="115778682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115778682" y="0"/>
                  </a:lnTo>
                  <a:lnTo>
                    <a:pt x="115778682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5" name="AutoShape 5">
            <a:extLst>
              <a:ext uri="{FF2B5EF4-FFF2-40B4-BE49-F238E27FC236}">
                <a16:creationId xmlns:a16="http://schemas.microsoft.com/office/drawing/2014/main" id="{89B6D1B0-1E1B-4A96-6E69-A4DDA32B6CD1}"/>
              </a:ext>
            </a:extLst>
          </p:cNvPr>
          <p:cNvSpPr/>
          <p:nvPr/>
        </p:nvSpPr>
        <p:spPr>
          <a:xfrm flipV="1">
            <a:off x="331640" y="1028700"/>
            <a:ext cx="17705529" cy="23813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F099A5A1-275D-B53E-1529-77BEB966BBE0}"/>
              </a:ext>
            </a:extLst>
          </p:cNvPr>
          <p:cNvSpPr/>
          <p:nvPr/>
        </p:nvSpPr>
        <p:spPr>
          <a:xfrm>
            <a:off x="834537" y="638681"/>
            <a:ext cx="605228" cy="122146"/>
          </a:xfrm>
          <a:custGeom>
            <a:avLst/>
            <a:gdLst/>
            <a:ahLst/>
            <a:cxnLst/>
            <a:rect l="l" t="t" r="r" b="b"/>
            <a:pathLst>
              <a:path w="605228" h="122146">
                <a:moveTo>
                  <a:pt x="0" y="0"/>
                </a:moveTo>
                <a:lnTo>
                  <a:pt x="605228" y="0"/>
                </a:lnTo>
                <a:lnTo>
                  <a:pt x="605228" y="122146"/>
                </a:lnTo>
                <a:lnTo>
                  <a:pt x="0" y="12214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0BACAA7-147A-C72D-88D3-6554DF19CFAD}"/>
              </a:ext>
            </a:extLst>
          </p:cNvPr>
          <p:cNvSpPr txBox="1"/>
          <p:nvPr/>
        </p:nvSpPr>
        <p:spPr>
          <a:xfrm>
            <a:off x="834537" y="1569335"/>
            <a:ext cx="11056570" cy="8976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038"/>
              </a:lnSpc>
            </a:pPr>
            <a:r>
              <a:rPr lang="ko-KR" altLang="en-US" sz="7038" dirty="0">
                <a:solidFill>
                  <a:srgbClr val="282A29"/>
                </a:solidFill>
                <a:latin typeface="옛간판"/>
                <a:ea typeface="옛간판"/>
                <a:cs typeface="옛간판"/>
                <a:sym typeface="옛간판"/>
              </a:rPr>
              <a:t>향후 과제</a:t>
            </a:r>
            <a:endParaRPr lang="en-US" sz="7038" dirty="0">
              <a:solidFill>
                <a:srgbClr val="282A29"/>
              </a:solidFill>
              <a:latin typeface="옛간판"/>
              <a:ea typeface="옛간판"/>
              <a:cs typeface="옛간판"/>
              <a:sym typeface="옛간판"/>
            </a:endParaRPr>
          </a:p>
        </p:txBody>
      </p:sp>
      <p:pic>
        <p:nvPicPr>
          <p:cNvPr id="8" name="Image 0" descr="preencoded.png">
            <a:extLst>
              <a:ext uri="{FF2B5EF4-FFF2-40B4-BE49-F238E27FC236}">
                <a16:creationId xmlns:a16="http://schemas.microsoft.com/office/drawing/2014/main" id="{E35C1E19-5B1B-D949-EB87-64E036B8DE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7400" y="4439010"/>
            <a:ext cx="2263140" cy="2263140"/>
          </a:xfrm>
          <a:prstGeom prst="rect">
            <a:avLst/>
          </a:prstGeom>
        </p:spPr>
      </p:pic>
      <p:pic>
        <p:nvPicPr>
          <p:cNvPr id="9" name="Image 1" descr="preencoded.png">
            <a:extLst>
              <a:ext uri="{FF2B5EF4-FFF2-40B4-BE49-F238E27FC236}">
                <a16:creationId xmlns:a16="http://schemas.microsoft.com/office/drawing/2014/main" id="{6AFE3EB6-F4DC-F819-C7F6-AB37AD69CF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77883" y="4422681"/>
            <a:ext cx="2263140" cy="2263140"/>
          </a:xfrm>
          <a:prstGeom prst="rect">
            <a:avLst/>
          </a:prstGeom>
        </p:spPr>
      </p:pic>
      <p:pic>
        <p:nvPicPr>
          <p:cNvPr id="10" name="Image 2" descr="preencoded.png">
            <a:extLst>
              <a:ext uri="{FF2B5EF4-FFF2-40B4-BE49-F238E27FC236}">
                <a16:creationId xmlns:a16="http://schemas.microsoft.com/office/drawing/2014/main" id="{1455B545-24BB-F6B0-B8C5-9965955619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716000" y="4422681"/>
            <a:ext cx="2263140" cy="2263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3628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그룹 9">
            <a:extLst>
              <a:ext uri="{FF2B5EF4-FFF2-40B4-BE49-F238E27FC236}">
                <a16:creationId xmlns:a16="http://schemas.microsoft.com/office/drawing/2014/main" id="{9089012F-C60E-8EF2-718B-0EC911900DB2}"/>
              </a:ext>
            </a:extLst>
          </p:cNvPr>
          <p:cNvGrpSpPr/>
          <p:nvPr/>
        </p:nvGrpSpPr>
        <p:grpSpPr>
          <a:xfrm>
            <a:off x="1028700" y="1028700"/>
            <a:ext cx="16421100" cy="8420100"/>
            <a:chOff x="1028700" y="1028700"/>
            <a:chExt cx="16421100" cy="8420100"/>
          </a:xfrm>
        </p:grpSpPr>
        <p:grpSp>
          <p:nvGrpSpPr>
            <p:cNvPr id="2" name="Group 2"/>
            <p:cNvGrpSpPr/>
            <p:nvPr/>
          </p:nvGrpSpPr>
          <p:grpSpPr>
            <a:xfrm>
              <a:off x="1219200" y="1219200"/>
              <a:ext cx="16230600" cy="8229600"/>
              <a:chOff x="0" y="0"/>
              <a:chExt cx="104316230" cy="52892737"/>
            </a:xfrm>
          </p:grpSpPr>
          <p:sp>
            <p:nvSpPr>
              <p:cNvPr id="3" name="Freeform 3"/>
              <p:cNvSpPr/>
              <p:nvPr/>
            </p:nvSpPr>
            <p:spPr>
              <a:xfrm>
                <a:off x="72390" y="72390"/>
                <a:ext cx="104171455" cy="52747958"/>
              </a:xfrm>
              <a:custGeom>
                <a:avLst/>
                <a:gdLst/>
                <a:ahLst/>
                <a:cxnLst/>
                <a:rect l="l" t="t" r="r" b="b"/>
                <a:pathLst>
                  <a:path w="104171455" h="52747958">
                    <a:moveTo>
                      <a:pt x="0" y="0"/>
                    </a:moveTo>
                    <a:lnTo>
                      <a:pt x="104171455" y="0"/>
                    </a:lnTo>
                    <a:lnTo>
                      <a:pt x="104171455" y="52747958"/>
                    </a:lnTo>
                    <a:lnTo>
                      <a:pt x="0" y="5274795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4" name="Freeform 4"/>
              <p:cNvSpPr/>
              <p:nvPr/>
            </p:nvSpPr>
            <p:spPr>
              <a:xfrm>
                <a:off x="0" y="0"/>
                <a:ext cx="104316225" cy="52892734"/>
              </a:xfrm>
              <a:custGeom>
                <a:avLst/>
                <a:gdLst/>
                <a:ahLst/>
                <a:cxnLst/>
                <a:rect l="l" t="t" r="r" b="b"/>
                <a:pathLst>
                  <a:path w="104316225" h="52892734">
                    <a:moveTo>
                      <a:pt x="104171452" y="52747956"/>
                    </a:moveTo>
                    <a:lnTo>
                      <a:pt x="104316225" y="52747956"/>
                    </a:lnTo>
                    <a:lnTo>
                      <a:pt x="104316225" y="52892734"/>
                    </a:lnTo>
                    <a:lnTo>
                      <a:pt x="104171452" y="52892734"/>
                    </a:lnTo>
                    <a:lnTo>
                      <a:pt x="104171452" y="52747956"/>
                    </a:lnTo>
                    <a:close/>
                    <a:moveTo>
                      <a:pt x="0" y="144780"/>
                    </a:moveTo>
                    <a:lnTo>
                      <a:pt x="144780" y="144780"/>
                    </a:lnTo>
                    <a:lnTo>
                      <a:pt x="144780" y="52747956"/>
                    </a:lnTo>
                    <a:lnTo>
                      <a:pt x="0" y="52747956"/>
                    </a:lnTo>
                    <a:lnTo>
                      <a:pt x="0" y="144780"/>
                    </a:lnTo>
                    <a:close/>
                    <a:moveTo>
                      <a:pt x="0" y="52747956"/>
                    </a:moveTo>
                    <a:lnTo>
                      <a:pt x="144780" y="52747956"/>
                    </a:lnTo>
                    <a:lnTo>
                      <a:pt x="144780" y="52892734"/>
                    </a:lnTo>
                    <a:lnTo>
                      <a:pt x="0" y="52892734"/>
                    </a:lnTo>
                    <a:lnTo>
                      <a:pt x="0" y="52747956"/>
                    </a:lnTo>
                    <a:close/>
                    <a:moveTo>
                      <a:pt x="104171452" y="144780"/>
                    </a:moveTo>
                    <a:lnTo>
                      <a:pt x="104316225" y="144780"/>
                    </a:lnTo>
                    <a:lnTo>
                      <a:pt x="104316225" y="52747956"/>
                    </a:lnTo>
                    <a:lnTo>
                      <a:pt x="104171452" y="52747956"/>
                    </a:lnTo>
                    <a:lnTo>
                      <a:pt x="104171452" y="144780"/>
                    </a:lnTo>
                    <a:close/>
                    <a:moveTo>
                      <a:pt x="144780" y="52747956"/>
                    </a:moveTo>
                    <a:lnTo>
                      <a:pt x="104171452" y="52747956"/>
                    </a:lnTo>
                    <a:lnTo>
                      <a:pt x="104171452" y="52892734"/>
                    </a:lnTo>
                    <a:lnTo>
                      <a:pt x="144780" y="52892734"/>
                    </a:lnTo>
                    <a:lnTo>
                      <a:pt x="144780" y="52747956"/>
                    </a:lnTo>
                    <a:close/>
                    <a:moveTo>
                      <a:pt x="104171452" y="0"/>
                    </a:moveTo>
                    <a:lnTo>
                      <a:pt x="104316225" y="0"/>
                    </a:lnTo>
                    <a:lnTo>
                      <a:pt x="104316225" y="144780"/>
                    </a:lnTo>
                    <a:lnTo>
                      <a:pt x="104171452" y="144780"/>
                    </a:lnTo>
                    <a:lnTo>
                      <a:pt x="104171452" y="0"/>
                    </a:lnTo>
                    <a:close/>
                    <a:moveTo>
                      <a:pt x="0" y="0"/>
                    </a:moveTo>
                    <a:lnTo>
                      <a:pt x="144780" y="0"/>
                    </a:lnTo>
                    <a:lnTo>
                      <a:pt x="144780" y="144780"/>
                    </a:lnTo>
                    <a:lnTo>
                      <a:pt x="0" y="144780"/>
                    </a:lnTo>
                    <a:lnTo>
                      <a:pt x="0" y="0"/>
                    </a:lnTo>
                    <a:close/>
                    <a:moveTo>
                      <a:pt x="144780" y="0"/>
                    </a:moveTo>
                    <a:lnTo>
                      <a:pt x="104171452" y="0"/>
                    </a:lnTo>
                    <a:lnTo>
                      <a:pt x="104171452" y="144780"/>
                    </a:lnTo>
                    <a:lnTo>
                      <a:pt x="144780" y="144780"/>
                    </a:lnTo>
                    <a:lnTo>
                      <a:pt x="144780" y="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</p:grpSp>
        <p:grpSp>
          <p:nvGrpSpPr>
            <p:cNvPr id="5" name="Group 5"/>
            <p:cNvGrpSpPr/>
            <p:nvPr/>
          </p:nvGrpSpPr>
          <p:grpSpPr>
            <a:xfrm>
              <a:off x="1028700" y="1028700"/>
              <a:ext cx="16230600" cy="8229600"/>
              <a:chOff x="0" y="0"/>
              <a:chExt cx="104316230" cy="52892737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72390" y="72390"/>
                <a:ext cx="104171455" cy="52747958"/>
              </a:xfrm>
              <a:custGeom>
                <a:avLst/>
                <a:gdLst/>
                <a:ahLst/>
                <a:cxnLst/>
                <a:rect l="l" t="t" r="r" b="b"/>
                <a:pathLst>
                  <a:path w="104171455" h="52747958">
                    <a:moveTo>
                      <a:pt x="0" y="0"/>
                    </a:moveTo>
                    <a:lnTo>
                      <a:pt x="104171455" y="0"/>
                    </a:lnTo>
                    <a:lnTo>
                      <a:pt x="104171455" y="52747958"/>
                    </a:lnTo>
                    <a:lnTo>
                      <a:pt x="0" y="5274795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7" name="Freeform 7"/>
              <p:cNvSpPr/>
              <p:nvPr/>
            </p:nvSpPr>
            <p:spPr>
              <a:xfrm>
                <a:off x="0" y="0"/>
                <a:ext cx="104316225" cy="52892734"/>
              </a:xfrm>
              <a:custGeom>
                <a:avLst/>
                <a:gdLst/>
                <a:ahLst/>
                <a:cxnLst/>
                <a:rect l="l" t="t" r="r" b="b"/>
                <a:pathLst>
                  <a:path w="104316225" h="52892734">
                    <a:moveTo>
                      <a:pt x="104171452" y="52747956"/>
                    </a:moveTo>
                    <a:lnTo>
                      <a:pt x="104316225" y="52747956"/>
                    </a:lnTo>
                    <a:lnTo>
                      <a:pt x="104316225" y="52892734"/>
                    </a:lnTo>
                    <a:lnTo>
                      <a:pt x="104171452" y="52892734"/>
                    </a:lnTo>
                    <a:lnTo>
                      <a:pt x="104171452" y="52747956"/>
                    </a:lnTo>
                    <a:close/>
                    <a:moveTo>
                      <a:pt x="0" y="144780"/>
                    </a:moveTo>
                    <a:lnTo>
                      <a:pt x="144780" y="144780"/>
                    </a:lnTo>
                    <a:lnTo>
                      <a:pt x="144780" y="52747956"/>
                    </a:lnTo>
                    <a:lnTo>
                      <a:pt x="0" y="52747956"/>
                    </a:lnTo>
                    <a:lnTo>
                      <a:pt x="0" y="144780"/>
                    </a:lnTo>
                    <a:close/>
                    <a:moveTo>
                      <a:pt x="0" y="52747956"/>
                    </a:moveTo>
                    <a:lnTo>
                      <a:pt x="144780" y="52747956"/>
                    </a:lnTo>
                    <a:lnTo>
                      <a:pt x="144780" y="52892734"/>
                    </a:lnTo>
                    <a:lnTo>
                      <a:pt x="0" y="52892734"/>
                    </a:lnTo>
                    <a:lnTo>
                      <a:pt x="0" y="52747956"/>
                    </a:lnTo>
                    <a:close/>
                    <a:moveTo>
                      <a:pt x="104171452" y="144780"/>
                    </a:moveTo>
                    <a:lnTo>
                      <a:pt x="104316225" y="144780"/>
                    </a:lnTo>
                    <a:lnTo>
                      <a:pt x="104316225" y="52747956"/>
                    </a:lnTo>
                    <a:lnTo>
                      <a:pt x="104171452" y="52747956"/>
                    </a:lnTo>
                    <a:lnTo>
                      <a:pt x="104171452" y="144780"/>
                    </a:lnTo>
                    <a:close/>
                    <a:moveTo>
                      <a:pt x="144780" y="52747956"/>
                    </a:moveTo>
                    <a:lnTo>
                      <a:pt x="104171452" y="52747956"/>
                    </a:lnTo>
                    <a:lnTo>
                      <a:pt x="104171452" y="52892734"/>
                    </a:lnTo>
                    <a:lnTo>
                      <a:pt x="144780" y="52892734"/>
                    </a:lnTo>
                    <a:lnTo>
                      <a:pt x="144780" y="52747956"/>
                    </a:lnTo>
                    <a:close/>
                    <a:moveTo>
                      <a:pt x="104171452" y="0"/>
                    </a:moveTo>
                    <a:lnTo>
                      <a:pt x="104316225" y="0"/>
                    </a:lnTo>
                    <a:lnTo>
                      <a:pt x="104316225" y="144780"/>
                    </a:lnTo>
                    <a:lnTo>
                      <a:pt x="104171452" y="144780"/>
                    </a:lnTo>
                    <a:lnTo>
                      <a:pt x="104171452" y="0"/>
                    </a:lnTo>
                    <a:close/>
                    <a:moveTo>
                      <a:pt x="0" y="0"/>
                    </a:moveTo>
                    <a:lnTo>
                      <a:pt x="144780" y="0"/>
                    </a:lnTo>
                    <a:lnTo>
                      <a:pt x="144780" y="144780"/>
                    </a:lnTo>
                    <a:lnTo>
                      <a:pt x="0" y="144780"/>
                    </a:lnTo>
                    <a:lnTo>
                      <a:pt x="0" y="0"/>
                    </a:lnTo>
                    <a:close/>
                    <a:moveTo>
                      <a:pt x="144780" y="0"/>
                    </a:moveTo>
                    <a:lnTo>
                      <a:pt x="104171452" y="0"/>
                    </a:lnTo>
                    <a:lnTo>
                      <a:pt x="104171452" y="144780"/>
                    </a:lnTo>
                    <a:lnTo>
                      <a:pt x="144780" y="144780"/>
                    </a:lnTo>
                    <a:lnTo>
                      <a:pt x="144780" y="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</p:grpSp>
      </p:grpSp>
      <p:sp>
        <p:nvSpPr>
          <p:cNvPr id="8" name="TextBox 8"/>
          <p:cNvSpPr txBox="1"/>
          <p:nvPr/>
        </p:nvSpPr>
        <p:spPr>
          <a:xfrm>
            <a:off x="1947977" y="4081390"/>
            <a:ext cx="14392046" cy="1434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0715"/>
              </a:lnSpc>
            </a:pPr>
            <a:r>
              <a:rPr lang="en-US" sz="10715" dirty="0">
                <a:solidFill>
                  <a:srgbClr val="282A29"/>
                </a:solidFill>
                <a:latin typeface="옛간판"/>
                <a:ea typeface="옛간판"/>
                <a:cs typeface="옛간판"/>
                <a:sym typeface="옛간판"/>
              </a:rPr>
              <a:t>thank you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248165" y="5760014"/>
            <a:ext cx="5791671" cy="490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563"/>
              </a:lnSpc>
            </a:pPr>
            <a:r>
              <a:rPr lang="en-US" sz="3563" dirty="0" err="1">
                <a:solidFill>
                  <a:srgbClr val="9B4819"/>
                </a:solidFill>
                <a:latin typeface="옛간판"/>
                <a:ea typeface="옛간판"/>
                <a:cs typeface="옛간판"/>
                <a:sym typeface="옛간판"/>
              </a:rPr>
              <a:t>궁금하신</a:t>
            </a:r>
            <a:r>
              <a:rPr lang="en-US" sz="3563" dirty="0">
                <a:solidFill>
                  <a:srgbClr val="9B4819"/>
                </a:solidFill>
                <a:latin typeface="옛간판"/>
                <a:ea typeface="옛간판"/>
                <a:cs typeface="옛간판"/>
                <a:sym typeface="옛간판"/>
              </a:rPr>
              <a:t> </a:t>
            </a:r>
            <a:r>
              <a:rPr lang="en-US" sz="3563" dirty="0" err="1">
                <a:solidFill>
                  <a:srgbClr val="9B4819"/>
                </a:solidFill>
                <a:latin typeface="옛간판"/>
                <a:ea typeface="옛간판"/>
                <a:cs typeface="옛간판"/>
                <a:sym typeface="옛간판"/>
              </a:rPr>
              <a:t>점을</a:t>
            </a:r>
            <a:r>
              <a:rPr lang="en-US" sz="3563" dirty="0">
                <a:solidFill>
                  <a:srgbClr val="9B4819"/>
                </a:solidFill>
                <a:latin typeface="옛간판"/>
                <a:ea typeface="옛간판"/>
                <a:cs typeface="옛간판"/>
                <a:sym typeface="옛간판"/>
              </a:rPr>
              <a:t> </a:t>
            </a:r>
            <a:r>
              <a:rPr lang="en-US" sz="3563" dirty="0" err="1">
                <a:solidFill>
                  <a:srgbClr val="9B4819"/>
                </a:solidFill>
                <a:latin typeface="옛간판"/>
                <a:ea typeface="옛간판"/>
                <a:cs typeface="옛간판"/>
                <a:sym typeface="옛간판"/>
              </a:rPr>
              <a:t>물어보세요</a:t>
            </a:r>
            <a:endParaRPr lang="en-US" sz="3563" dirty="0">
              <a:solidFill>
                <a:srgbClr val="9B4819"/>
              </a:solidFill>
              <a:latin typeface="옛간판"/>
              <a:ea typeface="옛간판"/>
              <a:cs typeface="옛간판"/>
              <a:sym typeface="옛간판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1026</TotalTime>
  <Words>734</Words>
  <Application>Microsoft Office PowerPoint</Application>
  <PresentationFormat>사용자 지정</PresentationFormat>
  <Paragraphs>220</Paragraphs>
  <Slides>15</Slides>
  <Notes>13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23" baseType="lpstr">
      <vt:lpstr>Calibri</vt:lpstr>
      <vt:lpstr>Consolas</vt:lpstr>
      <vt:lpstr>Georgia</vt:lpstr>
      <vt:lpstr>옛간판 Bold</vt:lpstr>
      <vt:lpstr>맑은 고딕</vt:lpstr>
      <vt:lpstr>Arial</vt:lpstr>
      <vt:lpstr>옛간판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베이지색과 흰색 깔끔한 신입사원 오리엔테이션 발표 프레젠테이션</dc:title>
  <cp:lastModifiedBy>김민제</cp:lastModifiedBy>
  <cp:revision>24</cp:revision>
  <cp:lastPrinted>2026-05-28T07:30:30Z</cp:lastPrinted>
  <dcterms:created xsi:type="dcterms:W3CDTF">2006-08-16T00:00:00Z</dcterms:created>
  <dcterms:modified xsi:type="dcterms:W3CDTF">2026-06-15T06:34:33Z</dcterms:modified>
  <dc:identifier>DAHKc3a2ZFI</dc:identifier>
</cp:coreProperties>
</file>